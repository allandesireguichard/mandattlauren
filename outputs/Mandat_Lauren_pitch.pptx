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7.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9.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2.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3.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Rendement annuel en euros, seuil de l'énoncé : 4 %</a:t>
            </a:r>
          </a:p>
        </c:rich>
      </c:tx>
      <c:layout/>
      <c:overlay val="0"/>
    </c:title>
    <c:autoTitleDeleted val="0"/>
    <c:plotArea>
      <c:layout/>
      <c:barChart>
        <c:barDir val="bar"/>
        <c:grouping val="stacked"/>
        <c:varyColors val="0"/>
        <c:ser>
          <c:idx val="0"/>
          <c:order val="0"/>
          <c:tx>
            <c:strRef>
              <c:f>Sheet1!$B$1</c:f>
              <c:strCache>
                <c:ptCount val="1"/>
                <c:pt idx="0">
                  <c:v>Sous le seuil</c:v>
                </c:pt>
              </c:strCache>
            </c:strRef>
          </c:tx>
          <c:spPr>
            <a:solidFill>
              <a:srgbClr val="9CA3AF"/>
            </a:solidFill>
            <a:effectLst/>
          </c:spPr>
          <c:invertIfNegative val="0"/>
          <c:dLbls>
            <c:numFmt formatCode="0.0&quot; %&quot;;-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Monétaire</c:v>
                  </c:pt>
                  <c:pt idx="1">
                    <c:v>États euro 1-3 ans</c:v>
                  </c:pt>
                  <c:pt idx="2">
                    <c:v>Trésor US 10 ans, couvert</c:v>
                  </c:pt>
                  <c:pt idx="3">
                    <c:v>États euro, ensemble</c:v>
                  </c:pt>
                  <c:pt idx="4">
                    <c:v>Crédit US bien noté, couvert</c:v>
                  </c:pt>
                  <c:pt idx="5">
                    <c:v>Crédit euro bien noté</c:v>
                  </c:pt>
                  <c:pt idx="6">
                    <c:v>Dette émergente, couverte</c:v>
                  </c:pt>
                  <c:pt idx="7">
                    <c:v>Indexées (à 4 % d'inflation)</c:v>
                  </c:pt>
                  <c:pt idx="8">
                    <c:v>Haut rendement US, couvert*</c:v>
                  </c:pt>
                  <c:pt idx="9">
                    <c:v>Haut rendement euro*</c:v>
                  </c:pt>
                </c:lvl>
              </c:multiLvlStrCache>
            </c:multiLvlStrRef>
          </c:cat>
          <c:val>
            <c:numRef>
              <c:f>Sheet1!$B$2:$B$11</c:f>
              <c:numCache>
                <c:formatCode>General</c:formatCode>
                <c:ptCount val="10"/>
                <c:pt idx="0">
                  <c:v>2.44</c:v>
                </c:pt>
                <c:pt idx="1">
                  <c:v>3.2145</c:v>
                </c:pt>
                <c:pt idx="2">
                  <c:v>3.31</c:v>
                </c:pt>
                <c:pt idx="3">
                  <c:v>3.77</c:v>
                </c:pt>
                <c:pt idx="4">
                  <c:v>0</c:v>
                </c:pt>
                <c:pt idx="5">
                  <c:v>0</c:v>
                </c:pt>
                <c:pt idx="6">
                  <c:v>0</c:v>
                </c:pt>
                <c:pt idx="7">
                  <c:v>0</c:v>
                </c:pt>
                <c:pt idx="8">
                  <c:v>0</c:v>
                </c:pt>
                <c:pt idx="9">
                  <c:v>0</c:v>
                </c:pt>
              </c:numCache>
            </c:numRef>
          </c:val>
        </c:ser>
        <c:ser>
          <c:idx val="1"/>
          <c:order val="1"/>
          <c:tx>
            <c:strRef>
              <c:f>Sheet1!$C$1</c:f>
              <c:strCache>
                <c:ptCount val="1"/>
                <c:pt idx="0">
                  <c:v>Au-dessus</c:v>
                </c:pt>
              </c:strCache>
            </c:strRef>
          </c:tx>
          <c:spPr>
            <a:solidFill>
              <a:srgbClr val="1BAF7A"/>
            </a:solidFill>
            <a:effectLst/>
          </c:spPr>
          <c:invertIfNegative val="0"/>
          <c:dLbls>
            <c:numFmt formatCode="0.0&quot; %&quot;;-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Monétaire</c:v>
                  </c:pt>
                  <c:pt idx="1">
                    <c:v>États euro 1-3 ans</c:v>
                  </c:pt>
                  <c:pt idx="2">
                    <c:v>Trésor US 10 ans, couvert</c:v>
                  </c:pt>
                  <c:pt idx="3">
                    <c:v>États euro, ensemble</c:v>
                  </c:pt>
                  <c:pt idx="4">
                    <c:v>Crédit US bien noté, couvert</c:v>
                  </c:pt>
                  <c:pt idx="5">
                    <c:v>Crédit euro bien noté</c:v>
                  </c:pt>
                  <c:pt idx="6">
                    <c:v>Dette émergente, couverte</c:v>
                  </c:pt>
                  <c:pt idx="7">
                    <c:v>Indexées (à 4 % d'inflation)</c:v>
                  </c:pt>
                  <c:pt idx="8">
                    <c:v>Haut rendement US, couvert*</c:v>
                  </c:pt>
                  <c:pt idx="9">
                    <c:v>Haut rendement euro*</c:v>
                  </c:pt>
                </c:lvl>
              </c:multiLvlStrCache>
            </c:multiLvlStrRef>
          </c:cat>
          <c:val>
            <c:numRef>
              <c:f>Sheet1!$C$2:$C$11</c:f>
              <c:numCache>
                <c:formatCode>General</c:formatCode>
                <c:ptCount val="10"/>
                <c:pt idx="0">
                  <c:v>0</c:v>
                </c:pt>
                <c:pt idx="1">
                  <c:v>0</c:v>
                </c:pt>
                <c:pt idx="2">
                  <c:v>0</c:v>
                </c:pt>
                <c:pt idx="3">
                  <c:v>0</c:v>
                </c:pt>
                <c:pt idx="4">
                  <c:v>4.040000000000001</c:v>
                </c:pt>
                <c:pt idx="5">
                  <c:v>4.15</c:v>
                </c:pt>
                <c:pt idx="6">
                  <c:v>4.4</c:v>
                </c:pt>
                <c:pt idx="7">
                  <c:v>5.43</c:v>
                </c:pt>
                <c:pt idx="8">
                  <c:v>5.83</c:v>
                </c:pt>
                <c:pt idx="9">
                  <c:v>6.05</c:v>
                </c:pt>
              </c:numCache>
            </c:numRef>
          </c:val>
        </c:ser>
        <c:dLbls>
          <c:numFmt formatCode="0.0&quot; %&quot;;-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7"/>
        </c:scaling>
        <c:delete val="0"/>
        <c:axPos val="b"/>
        <c:majorGridlines>
          <c:spPr>
            <a:ln w="6350" cap="flat">
              <a:solidFill>
                <a:srgbClr val="E3E6EA"/>
              </a:solidFill>
              <a:prstDash val="solid"/>
              <a:round/>
            </a:ln>
          </c:spPr>
        </c:majorGridlines>
        <c:numFmt formatCode="0&quot; %&quot;"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Primes de crédit, en points au-dessus de l'État</a:t>
            </a:r>
          </a:p>
        </c:rich>
      </c:tx>
      <c:layout/>
      <c:overlay val="0"/>
    </c:title>
    <c:autoTitleDeleted val="0"/>
    <c:plotArea>
      <c:layout/>
      <c:lineChart>
        <c:varyColors val="0"/>
        <c:ser>
          <c:idx val="0"/>
          <c:order val="0"/>
          <c:tx>
            <c:strRef>
              <c:f>Sheet1!$B$1</c:f>
              <c:strCache>
                <c:ptCount val="1"/>
                <c:pt idx="0">
                  <c:v>Entreprises notées Baa (US)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Sheet1!$A$2:$A$164</c:f>
              <c:multiLvlStrCache>
                <c:ptCount val="163"/>
                <c:lvl>
                  <c:pt idx="0">
                    <c:v>1986</c:v>
                  </c:pt>
                  <c:pt idx="1">
                    <c:v>1986</c:v>
                  </c:pt>
                  <c:pt idx="2">
                    <c:v>1986</c:v>
                  </c:pt>
                  <c:pt idx="3">
                    <c:v>1986</c:v>
                  </c:pt>
                  <c:pt idx="4">
                    <c:v>1987</c:v>
                  </c:pt>
                  <c:pt idx="5">
                    <c:v>1987</c:v>
                  </c:pt>
                  <c:pt idx="6">
                    <c:v>1987</c:v>
                  </c:pt>
                  <c:pt idx="7">
                    <c:v>1987</c:v>
                  </c:pt>
                  <c:pt idx="8">
                    <c:v>1988</c:v>
                  </c:pt>
                  <c:pt idx="9">
                    <c:v>1988</c:v>
                  </c:pt>
                  <c:pt idx="10">
                    <c:v>1988</c:v>
                  </c:pt>
                  <c:pt idx="11">
                    <c:v>1988</c:v>
                  </c:pt>
                  <c:pt idx="12">
                    <c:v>1989</c:v>
                  </c:pt>
                  <c:pt idx="13">
                    <c:v>1989</c:v>
                  </c:pt>
                  <c:pt idx="14">
                    <c:v>1989</c:v>
                  </c:pt>
                  <c:pt idx="15">
                    <c:v>1989</c:v>
                  </c:pt>
                  <c:pt idx="16">
                    <c:v>1990</c:v>
                  </c:pt>
                  <c:pt idx="17">
                    <c:v>1990</c:v>
                  </c:pt>
                  <c:pt idx="18">
                    <c:v>1990</c:v>
                  </c:pt>
                  <c:pt idx="19">
                    <c:v>1990</c:v>
                  </c:pt>
                  <c:pt idx="20">
                    <c:v>1991</c:v>
                  </c:pt>
                  <c:pt idx="21">
                    <c:v>1991</c:v>
                  </c:pt>
                  <c:pt idx="22">
                    <c:v>1991</c:v>
                  </c:pt>
                  <c:pt idx="23">
                    <c:v>1991</c:v>
                  </c:pt>
                  <c:pt idx="24">
                    <c:v>1992</c:v>
                  </c:pt>
                  <c:pt idx="25">
                    <c:v>1992</c:v>
                  </c:pt>
                  <c:pt idx="26">
                    <c:v>1992</c:v>
                  </c:pt>
                  <c:pt idx="27">
                    <c:v>1992</c:v>
                  </c:pt>
                  <c:pt idx="28">
                    <c:v>1993</c:v>
                  </c:pt>
                  <c:pt idx="29">
                    <c:v>1993</c:v>
                  </c:pt>
                  <c:pt idx="30">
                    <c:v>1993</c:v>
                  </c:pt>
                  <c:pt idx="31">
                    <c:v>1993</c:v>
                  </c:pt>
                  <c:pt idx="32">
                    <c:v>1994</c:v>
                  </c:pt>
                  <c:pt idx="33">
                    <c:v>1994</c:v>
                  </c:pt>
                  <c:pt idx="34">
                    <c:v>1994</c:v>
                  </c:pt>
                  <c:pt idx="35">
                    <c:v>1994</c:v>
                  </c:pt>
                  <c:pt idx="36">
                    <c:v>1995</c:v>
                  </c:pt>
                  <c:pt idx="37">
                    <c:v>1995</c:v>
                  </c:pt>
                  <c:pt idx="38">
                    <c:v>1995</c:v>
                  </c:pt>
                  <c:pt idx="39">
                    <c:v>1995</c:v>
                  </c:pt>
                  <c:pt idx="40">
                    <c:v>1996</c:v>
                  </c:pt>
                  <c:pt idx="41">
                    <c:v>1996</c:v>
                  </c:pt>
                  <c:pt idx="42">
                    <c:v>1996</c:v>
                  </c:pt>
                  <c:pt idx="43">
                    <c:v>1996</c:v>
                  </c:pt>
                  <c:pt idx="44">
                    <c:v>1997</c:v>
                  </c:pt>
                  <c:pt idx="45">
                    <c:v>1997</c:v>
                  </c:pt>
                  <c:pt idx="46">
                    <c:v>1997</c:v>
                  </c:pt>
                  <c:pt idx="47">
                    <c:v>1997</c:v>
                  </c:pt>
                  <c:pt idx="48">
                    <c:v>1998</c:v>
                  </c:pt>
                  <c:pt idx="49">
                    <c:v>1998</c:v>
                  </c:pt>
                  <c:pt idx="50">
                    <c:v>1998</c:v>
                  </c:pt>
                  <c:pt idx="51">
                    <c:v>1998</c:v>
                  </c:pt>
                  <c:pt idx="52">
                    <c:v>1999</c:v>
                  </c:pt>
                  <c:pt idx="53">
                    <c:v>1999</c:v>
                  </c:pt>
                  <c:pt idx="54">
                    <c:v>1999</c:v>
                  </c:pt>
                  <c:pt idx="55">
                    <c:v>1999</c:v>
                  </c:pt>
                  <c:pt idx="56">
                    <c:v>2000</c:v>
                  </c:pt>
                  <c:pt idx="57">
                    <c:v>2000</c:v>
                  </c:pt>
                  <c:pt idx="58">
                    <c:v>2000</c:v>
                  </c:pt>
                  <c:pt idx="59">
                    <c:v>2000</c:v>
                  </c:pt>
                  <c:pt idx="60">
                    <c:v>2001</c:v>
                  </c:pt>
                  <c:pt idx="61">
                    <c:v>2001</c:v>
                  </c:pt>
                  <c:pt idx="62">
                    <c:v>2001</c:v>
                  </c:pt>
                  <c:pt idx="63">
                    <c:v>2001</c:v>
                  </c:pt>
                  <c:pt idx="64">
                    <c:v>2002</c:v>
                  </c:pt>
                  <c:pt idx="65">
                    <c:v>2002</c:v>
                  </c:pt>
                  <c:pt idx="66">
                    <c:v>2002</c:v>
                  </c:pt>
                  <c:pt idx="67">
                    <c:v>2002</c:v>
                  </c:pt>
                  <c:pt idx="68">
                    <c:v>2003</c:v>
                  </c:pt>
                  <c:pt idx="69">
                    <c:v>2003</c:v>
                  </c:pt>
                  <c:pt idx="70">
                    <c:v>2003</c:v>
                  </c:pt>
                  <c:pt idx="71">
                    <c:v>2003</c:v>
                  </c:pt>
                  <c:pt idx="72">
                    <c:v>2004</c:v>
                  </c:pt>
                  <c:pt idx="73">
                    <c:v>2004</c:v>
                  </c:pt>
                  <c:pt idx="74">
                    <c:v>2004</c:v>
                  </c:pt>
                  <c:pt idx="75">
                    <c:v>2004</c:v>
                  </c:pt>
                  <c:pt idx="76">
                    <c:v>2005</c:v>
                  </c:pt>
                  <c:pt idx="77">
                    <c:v>2005</c:v>
                  </c:pt>
                  <c:pt idx="78">
                    <c:v>2005</c:v>
                  </c:pt>
                  <c:pt idx="79">
                    <c:v>2005</c:v>
                  </c:pt>
                  <c:pt idx="80">
                    <c:v>2006</c:v>
                  </c:pt>
                  <c:pt idx="81">
                    <c:v>2006</c:v>
                  </c:pt>
                  <c:pt idx="82">
                    <c:v>2006</c:v>
                  </c:pt>
                  <c:pt idx="83">
                    <c:v>2006</c:v>
                  </c:pt>
                  <c:pt idx="84">
                    <c:v>2007</c:v>
                  </c:pt>
                  <c:pt idx="85">
                    <c:v>2007</c:v>
                  </c:pt>
                  <c:pt idx="86">
                    <c:v>2007</c:v>
                  </c:pt>
                  <c:pt idx="87">
                    <c:v>2007</c:v>
                  </c:pt>
                  <c:pt idx="88">
                    <c:v>2008</c:v>
                  </c:pt>
                  <c:pt idx="89">
                    <c:v>2008</c:v>
                  </c:pt>
                  <c:pt idx="90">
                    <c:v>2008</c:v>
                  </c:pt>
                  <c:pt idx="91">
                    <c:v>2008</c:v>
                  </c:pt>
                  <c:pt idx="92">
                    <c:v>2009</c:v>
                  </c:pt>
                  <c:pt idx="93">
                    <c:v>2009</c:v>
                  </c:pt>
                  <c:pt idx="94">
                    <c:v>2009</c:v>
                  </c:pt>
                  <c:pt idx="95">
                    <c:v>2009</c:v>
                  </c:pt>
                  <c:pt idx="96">
                    <c:v>2010</c:v>
                  </c:pt>
                  <c:pt idx="97">
                    <c:v>2010</c:v>
                  </c:pt>
                  <c:pt idx="98">
                    <c:v>2010</c:v>
                  </c:pt>
                  <c:pt idx="99">
                    <c:v>2010</c:v>
                  </c:pt>
                  <c:pt idx="100">
                    <c:v>2011</c:v>
                  </c:pt>
                  <c:pt idx="101">
                    <c:v>2011</c:v>
                  </c:pt>
                  <c:pt idx="102">
                    <c:v>2011</c:v>
                  </c:pt>
                  <c:pt idx="103">
                    <c:v>2011</c:v>
                  </c:pt>
                  <c:pt idx="104">
                    <c:v>2012</c:v>
                  </c:pt>
                  <c:pt idx="105">
                    <c:v>2012</c:v>
                  </c:pt>
                  <c:pt idx="106">
                    <c:v>2012</c:v>
                  </c:pt>
                  <c:pt idx="107">
                    <c:v>2012</c:v>
                  </c:pt>
                  <c:pt idx="108">
                    <c:v>2013</c:v>
                  </c:pt>
                  <c:pt idx="109">
                    <c:v>2013</c:v>
                  </c:pt>
                  <c:pt idx="110">
                    <c:v>2013</c:v>
                  </c:pt>
                  <c:pt idx="111">
                    <c:v>2013</c:v>
                  </c:pt>
                  <c:pt idx="112">
                    <c:v>2014</c:v>
                  </c:pt>
                  <c:pt idx="113">
                    <c:v>2014</c:v>
                  </c:pt>
                  <c:pt idx="114">
                    <c:v>2014</c:v>
                  </c:pt>
                  <c:pt idx="115">
                    <c:v>2014</c:v>
                  </c:pt>
                  <c:pt idx="116">
                    <c:v>2015</c:v>
                  </c:pt>
                  <c:pt idx="117">
                    <c:v>2015</c:v>
                  </c:pt>
                  <c:pt idx="118">
                    <c:v>2015</c:v>
                  </c:pt>
                  <c:pt idx="119">
                    <c:v>2015</c:v>
                  </c:pt>
                  <c:pt idx="120">
                    <c:v>2016</c:v>
                  </c:pt>
                  <c:pt idx="121">
                    <c:v>2016</c:v>
                  </c:pt>
                  <c:pt idx="122">
                    <c:v>2016</c:v>
                  </c:pt>
                  <c:pt idx="123">
                    <c:v>2016</c:v>
                  </c:pt>
                  <c:pt idx="124">
                    <c:v>2017</c:v>
                  </c:pt>
                  <c:pt idx="125">
                    <c:v>2017</c:v>
                  </c:pt>
                  <c:pt idx="126">
                    <c:v>2017</c:v>
                  </c:pt>
                  <c:pt idx="127">
                    <c:v>2017</c:v>
                  </c:pt>
                  <c:pt idx="128">
                    <c:v>2018</c:v>
                  </c:pt>
                  <c:pt idx="129">
                    <c:v>2018</c:v>
                  </c:pt>
                  <c:pt idx="130">
                    <c:v>2018</c:v>
                  </c:pt>
                  <c:pt idx="131">
                    <c:v>2018</c:v>
                  </c:pt>
                  <c:pt idx="132">
                    <c:v>2019</c:v>
                  </c:pt>
                  <c:pt idx="133">
                    <c:v>2019</c:v>
                  </c:pt>
                  <c:pt idx="134">
                    <c:v>2019</c:v>
                  </c:pt>
                  <c:pt idx="135">
                    <c:v>2019</c:v>
                  </c:pt>
                  <c:pt idx="136">
                    <c:v>2020</c:v>
                  </c:pt>
                  <c:pt idx="137">
                    <c:v>2020</c:v>
                  </c:pt>
                  <c:pt idx="138">
                    <c:v>2020</c:v>
                  </c:pt>
                  <c:pt idx="139">
                    <c:v>2020</c:v>
                  </c:pt>
                  <c:pt idx="140">
                    <c:v>2021</c:v>
                  </c:pt>
                  <c:pt idx="141">
                    <c:v>2021</c:v>
                  </c:pt>
                  <c:pt idx="142">
                    <c:v>2021</c:v>
                  </c:pt>
                  <c:pt idx="143">
                    <c:v>2021</c:v>
                  </c:pt>
                  <c:pt idx="144">
                    <c:v>2022</c:v>
                  </c:pt>
                  <c:pt idx="145">
                    <c:v>2022</c:v>
                  </c:pt>
                  <c:pt idx="146">
                    <c:v>2022</c:v>
                  </c:pt>
                  <c:pt idx="147">
                    <c:v>2022</c:v>
                  </c:pt>
                  <c:pt idx="148">
                    <c:v>2023</c:v>
                  </c:pt>
                  <c:pt idx="149">
                    <c:v>2023</c:v>
                  </c:pt>
                  <c:pt idx="150">
                    <c:v>2023</c:v>
                  </c:pt>
                  <c:pt idx="151">
                    <c:v>2023</c:v>
                  </c:pt>
                  <c:pt idx="152">
                    <c:v>2024</c:v>
                  </c:pt>
                  <c:pt idx="153">
                    <c:v>2024</c:v>
                  </c:pt>
                  <c:pt idx="154">
                    <c:v>2024</c:v>
                  </c:pt>
                  <c:pt idx="155">
                    <c:v>2024</c:v>
                  </c:pt>
                  <c:pt idx="156">
                    <c:v>2025</c:v>
                  </c:pt>
                  <c:pt idx="157">
                    <c:v>2025</c:v>
                  </c:pt>
                  <c:pt idx="158">
                    <c:v>2025</c:v>
                  </c:pt>
                  <c:pt idx="159">
                    <c:v>2025</c:v>
                  </c:pt>
                  <c:pt idx="160">
                    <c:v>2026</c:v>
                  </c:pt>
                  <c:pt idx="161">
                    <c:v>2026</c:v>
                  </c:pt>
                  <c:pt idx="162">
                    <c:v>2026</c:v>
                  </c:pt>
                </c:lvl>
              </c:multiLvlStrCache>
            </c:multiLvlStrRef>
          </c:cat>
          <c:val>
            <c:numRef>
              <c:f>Sheet1!$B$2:$B$164</c:f>
              <c:numCache>
                <c:formatCode>General</c:formatCode>
                <c:ptCount val="163"/>
                <c:pt idx="0">
                  <c:v>2.45</c:v>
                </c:pt>
                <c:pt idx="1">
                  <c:v>2.67</c:v>
                </c:pt>
                <c:pt idx="2">
                  <c:v>2.88</c:v>
                </c:pt>
                <c:pt idx="3">
                  <c:v>2.83</c:v>
                </c:pt>
                <c:pt idx="4">
                  <c:v>2.47</c:v>
                </c:pt>
                <c:pt idx="5">
                  <c:v>2.02</c:v>
                </c:pt>
                <c:pt idx="6">
                  <c:v>2.03</c:v>
                </c:pt>
                <c:pt idx="7">
                  <c:v>2.25</c:v>
                </c:pt>
                <c:pt idx="8">
                  <c:v>2.33</c:v>
                </c:pt>
                <c:pt idx="9">
                  <c:v>2.07</c:v>
                </c:pt>
                <c:pt idx="10">
                  <c:v>1.98</c:v>
                </c:pt>
                <c:pt idx="11">
                  <c:v>1.56</c:v>
                </c:pt>
                <c:pt idx="12">
                  <c:v>1.43</c:v>
                </c:pt>
                <c:pt idx="13">
                  <c:v>1.6</c:v>
                </c:pt>
                <c:pt idx="14">
                  <c:v>1.78</c:v>
                </c:pt>
                <c:pt idx="15">
                  <c:v>1.91</c:v>
                </c:pt>
                <c:pt idx="16">
                  <c:v>1.68</c:v>
                </c:pt>
                <c:pt idx="17">
                  <c:v>1.64</c:v>
                </c:pt>
                <c:pt idx="18">
                  <c:v>1.71</c:v>
                </c:pt>
                <c:pt idx="19">
                  <c:v>2.2</c:v>
                </c:pt>
                <c:pt idx="20">
                  <c:v>2.19</c:v>
                </c:pt>
                <c:pt idx="21">
                  <c:v>1.8</c:v>
                </c:pt>
                <c:pt idx="22">
                  <c:v>1.74</c:v>
                </c:pt>
                <c:pt idx="23">
                  <c:v>2.06</c:v>
                </c:pt>
                <c:pt idx="24">
                  <c:v>1.89</c:v>
                </c:pt>
                <c:pt idx="25">
                  <c:v>1.75</c:v>
                </c:pt>
                <c:pt idx="26">
                  <c:v>2.09</c:v>
                </c:pt>
                <c:pt idx="27">
                  <c:v>2.13</c:v>
                </c:pt>
                <c:pt idx="28">
                  <c:v>2.13</c:v>
                </c:pt>
                <c:pt idx="29">
                  <c:v>2.15</c:v>
                </c:pt>
                <c:pt idx="30">
                  <c:v>2.01</c:v>
                </c:pt>
                <c:pt idx="31">
                  <c:v>1.94</c:v>
                </c:pt>
                <c:pt idx="32">
                  <c:v>1.77</c:v>
                </c:pt>
                <c:pt idx="33">
                  <c:v>1.51</c:v>
                </c:pt>
                <c:pt idx="34">
                  <c:v>1.51</c:v>
                </c:pt>
                <c:pt idx="35">
                  <c:v>1.37</c:v>
                </c:pt>
                <c:pt idx="36">
                  <c:v>1.4</c:v>
                </c:pt>
                <c:pt idx="37">
                  <c:v>1.62</c:v>
                </c:pt>
                <c:pt idx="38">
                  <c:v>1.73</c:v>
                </c:pt>
                <c:pt idx="39">
                  <c:v>1.75</c:v>
                </c:pt>
                <c:pt idx="40">
                  <c:v>1.8</c:v>
                </c:pt>
                <c:pt idx="41">
                  <c:v>1.58</c:v>
                </c:pt>
                <c:pt idx="42">
                  <c:v>1.51</c:v>
                </c:pt>
                <c:pt idx="43">
                  <c:v>1.57</c:v>
                </c:pt>
                <c:pt idx="44">
                  <c:v>1.51</c:v>
                </c:pt>
                <c:pt idx="45">
                  <c:v>1.49</c:v>
                </c:pt>
                <c:pt idx="46">
                  <c:v>1.52</c:v>
                </c:pt>
                <c:pt idx="47">
                  <c:v>1.53</c:v>
                </c:pt>
                <c:pt idx="48">
                  <c:v>1.67</c:v>
                </c:pt>
                <c:pt idx="49">
                  <c:v>1.66</c:v>
                </c:pt>
                <c:pt idx="50">
                  <c:v>1.92</c:v>
                </c:pt>
                <c:pt idx="51">
                  <c:v>2.58</c:v>
                </c:pt>
                <c:pt idx="52">
                  <c:v>2.41</c:v>
                </c:pt>
                <c:pt idx="53">
                  <c:v>2.2</c:v>
                </c:pt>
                <c:pt idx="54">
                  <c:v>2.22</c:v>
                </c:pt>
                <c:pt idx="55">
                  <c:v>2.09</c:v>
                </c:pt>
                <c:pt idx="56">
                  <c:v>1.86</c:v>
                </c:pt>
                <c:pt idx="57">
                  <c:v>2.42</c:v>
                </c:pt>
                <c:pt idx="58">
                  <c:v>2.42</c:v>
                </c:pt>
                <c:pt idx="59">
                  <c:v>2.65</c:v>
                </c:pt>
                <c:pt idx="60">
                  <c:v>2.84</c:v>
                </c:pt>
                <c:pt idx="61">
                  <c:v>2.76</c:v>
                </c:pt>
                <c:pt idx="62">
                  <c:v>2.94</c:v>
                </c:pt>
                <c:pt idx="63">
                  <c:v>3.16</c:v>
                </c:pt>
                <c:pt idx="64">
                  <c:v>2.88</c:v>
                </c:pt>
                <c:pt idx="65">
                  <c:v>2.92</c:v>
                </c:pt>
                <c:pt idx="66">
                  <c:v>3.36</c:v>
                </c:pt>
                <c:pt idx="67">
                  <c:v>3.6</c:v>
                </c:pt>
                <c:pt idx="68">
                  <c:v>3.2</c:v>
                </c:pt>
                <c:pt idx="69">
                  <c:v>2.85</c:v>
                </c:pt>
                <c:pt idx="70">
                  <c:v>2.58</c:v>
                </c:pt>
                <c:pt idx="71">
                  <c:v>2.38</c:v>
                </c:pt>
                <c:pt idx="72">
                  <c:v>2.26</c:v>
                </c:pt>
                <c:pt idx="73">
                  <c:v>2.06</c:v>
                </c:pt>
                <c:pt idx="74">
                  <c:v>2.15</c:v>
                </c:pt>
                <c:pt idx="75">
                  <c:v>2.01</c:v>
                </c:pt>
                <c:pt idx="76">
                  <c:v>1.67</c:v>
                </c:pt>
                <c:pt idx="77">
                  <c:v>1.81</c:v>
                </c:pt>
                <c:pt idx="78">
                  <c:v>1.77</c:v>
                </c:pt>
                <c:pt idx="79">
                  <c:v>1.85</c:v>
                </c:pt>
                <c:pt idx="80">
                  <c:v>1.73</c:v>
                </c:pt>
                <c:pt idx="81">
                  <c:v>1.67</c:v>
                </c:pt>
                <c:pt idx="82">
                  <c:v>1.7</c:v>
                </c:pt>
                <c:pt idx="83">
                  <c:v>1.65</c:v>
                </c:pt>
                <c:pt idx="84">
                  <c:v>1.62</c:v>
                </c:pt>
                <c:pt idx="85">
                  <c:v>1.64</c:v>
                </c:pt>
                <c:pt idx="86">
                  <c:v>1.9</c:v>
                </c:pt>
                <c:pt idx="87">
                  <c:v>2.24</c:v>
                </c:pt>
                <c:pt idx="88">
                  <c:v>3.08</c:v>
                </c:pt>
                <c:pt idx="89">
                  <c:v>3.11</c:v>
                </c:pt>
                <c:pt idx="90">
                  <c:v>3.34</c:v>
                </c:pt>
                <c:pt idx="91">
                  <c:v>5.58</c:v>
                </c:pt>
                <c:pt idx="92">
                  <c:v>5.49</c:v>
                </c:pt>
                <c:pt idx="93">
                  <c:v>4.65</c:v>
                </c:pt>
                <c:pt idx="94">
                  <c:v>3.15</c:v>
                </c:pt>
                <c:pt idx="95">
                  <c:v>2.86</c:v>
                </c:pt>
                <c:pt idx="96">
                  <c:v>2.57</c:v>
                </c:pt>
                <c:pt idx="97">
                  <c:v>2.69</c:v>
                </c:pt>
                <c:pt idx="98">
                  <c:v>2.99</c:v>
                </c:pt>
                <c:pt idx="99">
                  <c:v>3.04</c:v>
                </c:pt>
                <c:pt idx="100">
                  <c:v>2.63</c:v>
                </c:pt>
                <c:pt idx="101">
                  <c:v>2.65</c:v>
                </c:pt>
                <c:pt idx="102">
                  <c:v>3.04</c:v>
                </c:pt>
                <c:pt idx="103">
                  <c:v>3.21</c:v>
                </c:pt>
                <c:pt idx="104">
                  <c:v>3.16</c:v>
                </c:pt>
                <c:pt idx="105">
                  <c:v>3.27</c:v>
                </c:pt>
                <c:pt idx="106">
                  <c:v>3.23</c:v>
                </c:pt>
                <c:pt idx="107">
                  <c:v>2.87</c:v>
                </c:pt>
                <c:pt idx="108">
                  <c:v>2.86</c:v>
                </c:pt>
                <c:pt idx="109">
                  <c:v>2.84</c:v>
                </c:pt>
                <c:pt idx="110">
                  <c:v>2.7</c:v>
                </c:pt>
                <c:pt idx="111">
                  <c:v>2.61</c:v>
                </c:pt>
                <c:pt idx="112">
                  <c:v>2.35</c:v>
                </c:pt>
                <c:pt idx="113">
                  <c:v>2.2</c:v>
                </c:pt>
                <c:pt idx="114">
                  <c:v>2.24</c:v>
                </c:pt>
                <c:pt idx="115">
                  <c:v>2.46</c:v>
                </c:pt>
                <c:pt idx="116">
                  <c:v>2.53</c:v>
                </c:pt>
                <c:pt idx="117">
                  <c:v>2.67</c:v>
                </c:pt>
                <c:pt idx="118">
                  <c:v>3.02</c:v>
                </c:pt>
                <c:pt idx="119">
                  <c:v>3.23</c:v>
                </c:pt>
                <c:pt idx="120">
                  <c:v>3.38</c:v>
                </c:pt>
                <c:pt idx="121">
                  <c:v>2.91</c:v>
                </c:pt>
                <c:pt idx="122">
                  <c:v>2.69</c:v>
                </c:pt>
                <c:pt idx="123">
                  <c:v>2.5</c:v>
                </c:pt>
                <c:pt idx="124">
                  <c:v>2.22</c:v>
                </c:pt>
                <c:pt idx="125">
                  <c:v>2.23</c:v>
                </c:pt>
                <c:pt idx="126">
                  <c:v>2.09</c:v>
                </c:pt>
                <c:pt idx="127">
                  <c:v>1.9</c:v>
                </c:pt>
                <c:pt idx="128">
                  <c:v>1.71</c:v>
                </c:pt>
                <c:pt idx="129">
                  <c:v>1.86</c:v>
                </c:pt>
                <c:pt idx="130">
                  <c:v>1.89</c:v>
                </c:pt>
                <c:pt idx="131">
                  <c:v>2.1</c:v>
                </c:pt>
                <c:pt idx="132">
                  <c:v>2.32</c:v>
                </c:pt>
                <c:pt idx="133">
                  <c:v>2.26</c:v>
                </c:pt>
                <c:pt idx="134">
                  <c:v>2.23</c:v>
                </c:pt>
                <c:pt idx="135">
                  <c:v>2.12</c:v>
                </c:pt>
                <c:pt idx="136">
                  <c:v>2.54</c:v>
                </c:pt>
                <c:pt idx="137">
                  <c:v>3.22</c:v>
                </c:pt>
                <c:pt idx="138">
                  <c:v>2.67</c:v>
                </c:pt>
                <c:pt idx="139">
                  <c:v>2.43</c:v>
                </c:pt>
                <c:pt idx="140">
                  <c:v>2.15</c:v>
                </c:pt>
                <c:pt idx="141">
                  <c:v>1.96</c:v>
                </c:pt>
                <c:pt idx="142">
                  <c:v>1.91</c:v>
                </c:pt>
                <c:pt idx="143">
                  <c:v>1.78</c:v>
                </c:pt>
                <c:pt idx="144">
                  <c:v>2.01</c:v>
                </c:pt>
                <c:pt idx="145">
                  <c:v>2.09</c:v>
                </c:pt>
                <c:pt idx="146">
                  <c:v>2.25</c:v>
                </c:pt>
                <c:pt idx="147">
                  <c:v>2.14</c:v>
                </c:pt>
                <c:pt idx="148">
                  <c:v>1.96</c:v>
                </c:pt>
                <c:pt idx="149">
                  <c:v>2.09</c:v>
                </c:pt>
                <c:pt idx="150">
                  <c:v>1.82</c:v>
                </c:pt>
                <c:pt idx="151">
                  <c:v>1.75</c:v>
                </c:pt>
                <c:pt idx="152">
                  <c:v>1.57</c:v>
                </c:pt>
                <c:pt idx="153">
                  <c:v>1.48</c:v>
                </c:pt>
                <c:pt idx="154">
                  <c:v>1.67</c:v>
                </c:pt>
                <c:pt idx="155">
                  <c:v>1.46</c:v>
                </c:pt>
                <c:pt idx="156">
                  <c:v>1.52</c:v>
                </c:pt>
                <c:pt idx="157">
                  <c:v>1.85</c:v>
                </c:pt>
                <c:pt idx="158">
                  <c:v>1.72</c:v>
                </c:pt>
                <c:pt idx="159">
                  <c:v>1.73</c:v>
                </c:pt>
                <c:pt idx="160">
                  <c:v>1.72</c:v>
                </c:pt>
                <c:pt idx="161">
                  <c:v>1.62</c:v>
                </c:pt>
                <c:pt idx="162">
                  <c:v>1.59</c:v>
                </c:pt>
              </c:numCache>
            </c:numRef>
          </c:val>
          <c:smooth val="0"/>
        </c:ser>
        <c:ser>
          <c:idx val="1"/>
          <c:order val="1"/>
          <c:tx>
            <c:strRef>
              <c:f>Sheet1!$C$1</c:f>
              <c:strCache>
                <c:ptCount val="1"/>
                <c:pt idx="0">
                  <c:v>Haut rendement (US)</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Sheet1!$A$2:$A$164</c:f>
              <c:multiLvlStrCache>
                <c:ptCount val="163"/>
                <c:lvl>
                  <c:pt idx="0">
                    <c:v>1986</c:v>
                  </c:pt>
                  <c:pt idx="1">
                    <c:v>1986</c:v>
                  </c:pt>
                  <c:pt idx="2">
                    <c:v>1986</c:v>
                  </c:pt>
                  <c:pt idx="3">
                    <c:v>1986</c:v>
                  </c:pt>
                  <c:pt idx="4">
                    <c:v>1987</c:v>
                  </c:pt>
                  <c:pt idx="5">
                    <c:v>1987</c:v>
                  </c:pt>
                  <c:pt idx="6">
                    <c:v>1987</c:v>
                  </c:pt>
                  <c:pt idx="7">
                    <c:v>1987</c:v>
                  </c:pt>
                  <c:pt idx="8">
                    <c:v>1988</c:v>
                  </c:pt>
                  <c:pt idx="9">
                    <c:v>1988</c:v>
                  </c:pt>
                  <c:pt idx="10">
                    <c:v>1988</c:v>
                  </c:pt>
                  <c:pt idx="11">
                    <c:v>1988</c:v>
                  </c:pt>
                  <c:pt idx="12">
                    <c:v>1989</c:v>
                  </c:pt>
                  <c:pt idx="13">
                    <c:v>1989</c:v>
                  </c:pt>
                  <c:pt idx="14">
                    <c:v>1989</c:v>
                  </c:pt>
                  <c:pt idx="15">
                    <c:v>1989</c:v>
                  </c:pt>
                  <c:pt idx="16">
                    <c:v>1990</c:v>
                  </c:pt>
                  <c:pt idx="17">
                    <c:v>1990</c:v>
                  </c:pt>
                  <c:pt idx="18">
                    <c:v>1990</c:v>
                  </c:pt>
                  <c:pt idx="19">
                    <c:v>1990</c:v>
                  </c:pt>
                  <c:pt idx="20">
                    <c:v>1991</c:v>
                  </c:pt>
                  <c:pt idx="21">
                    <c:v>1991</c:v>
                  </c:pt>
                  <c:pt idx="22">
                    <c:v>1991</c:v>
                  </c:pt>
                  <c:pt idx="23">
                    <c:v>1991</c:v>
                  </c:pt>
                  <c:pt idx="24">
                    <c:v>1992</c:v>
                  </c:pt>
                  <c:pt idx="25">
                    <c:v>1992</c:v>
                  </c:pt>
                  <c:pt idx="26">
                    <c:v>1992</c:v>
                  </c:pt>
                  <c:pt idx="27">
                    <c:v>1992</c:v>
                  </c:pt>
                  <c:pt idx="28">
                    <c:v>1993</c:v>
                  </c:pt>
                  <c:pt idx="29">
                    <c:v>1993</c:v>
                  </c:pt>
                  <c:pt idx="30">
                    <c:v>1993</c:v>
                  </c:pt>
                  <c:pt idx="31">
                    <c:v>1993</c:v>
                  </c:pt>
                  <c:pt idx="32">
                    <c:v>1994</c:v>
                  </c:pt>
                  <c:pt idx="33">
                    <c:v>1994</c:v>
                  </c:pt>
                  <c:pt idx="34">
                    <c:v>1994</c:v>
                  </c:pt>
                  <c:pt idx="35">
                    <c:v>1994</c:v>
                  </c:pt>
                  <c:pt idx="36">
                    <c:v>1995</c:v>
                  </c:pt>
                  <c:pt idx="37">
                    <c:v>1995</c:v>
                  </c:pt>
                  <c:pt idx="38">
                    <c:v>1995</c:v>
                  </c:pt>
                  <c:pt idx="39">
                    <c:v>1995</c:v>
                  </c:pt>
                  <c:pt idx="40">
                    <c:v>1996</c:v>
                  </c:pt>
                  <c:pt idx="41">
                    <c:v>1996</c:v>
                  </c:pt>
                  <c:pt idx="42">
                    <c:v>1996</c:v>
                  </c:pt>
                  <c:pt idx="43">
                    <c:v>1996</c:v>
                  </c:pt>
                  <c:pt idx="44">
                    <c:v>1997</c:v>
                  </c:pt>
                  <c:pt idx="45">
                    <c:v>1997</c:v>
                  </c:pt>
                  <c:pt idx="46">
                    <c:v>1997</c:v>
                  </c:pt>
                  <c:pt idx="47">
                    <c:v>1997</c:v>
                  </c:pt>
                  <c:pt idx="48">
                    <c:v>1998</c:v>
                  </c:pt>
                  <c:pt idx="49">
                    <c:v>1998</c:v>
                  </c:pt>
                  <c:pt idx="50">
                    <c:v>1998</c:v>
                  </c:pt>
                  <c:pt idx="51">
                    <c:v>1998</c:v>
                  </c:pt>
                  <c:pt idx="52">
                    <c:v>1999</c:v>
                  </c:pt>
                  <c:pt idx="53">
                    <c:v>1999</c:v>
                  </c:pt>
                  <c:pt idx="54">
                    <c:v>1999</c:v>
                  </c:pt>
                  <c:pt idx="55">
                    <c:v>1999</c:v>
                  </c:pt>
                  <c:pt idx="56">
                    <c:v>2000</c:v>
                  </c:pt>
                  <c:pt idx="57">
                    <c:v>2000</c:v>
                  </c:pt>
                  <c:pt idx="58">
                    <c:v>2000</c:v>
                  </c:pt>
                  <c:pt idx="59">
                    <c:v>2000</c:v>
                  </c:pt>
                  <c:pt idx="60">
                    <c:v>2001</c:v>
                  </c:pt>
                  <c:pt idx="61">
                    <c:v>2001</c:v>
                  </c:pt>
                  <c:pt idx="62">
                    <c:v>2001</c:v>
                  </c:pt>
                  <c:pt idx="63">
                    <c:v>2001</c:v>
                  </c:pt>
                  <c:pt idx="64">
                    <c:v>2002</c:v>
                  </c:pt>
                  <c:pt idx="65">
                    <c:v>2002</c:v>
                  </c:pt>
                  <c:pt idx="66">
                    <c:v>2002</c:v>
                  </c:pt>
                  <c:pt idx="67">
                    <c:v>2002</c:v>
                  </c:pt>
                  <c:pt idx="68">
                    <c:v>2003</c:v>
                  </c:pt>
                  <c:pt idx="69">
                    <c:v>2003</c:v>
                  </c:pt>
                  <c:pt idx="70">
                    <c:v>2003</c:v>
                  </c:pt>
                  <c:pt idx="71">
                    <c:v>2003</c:v>
                  </c:pt>
                  <c:pt idx="72">
                    <c:v>2004</c:v>
                  </c:pt>
                  <c:pt idx="73">
                    <c:v>2004</c:v>
                  </c:pt>
                  <c:pt idx="74">
                    <c:v>2004</c:v>
                  </c:pt>
                  <c:pt idx="75">
                    <c:v>2004</c:v>
                  </c:pt>
                  <c:pt idx="76">
                    <c:v>2005</c:v>
                  </c:pt>
                  <c:pt idx="77">
                    <c:v>2005</c:v>
                  </c:pt>
                  <c:pt idx="78">
                    <c:v>2005</c:v>
                  </c:pt>
                  <c:pt idx="79">
                    <c:v>2005</c:v>
                  </c:pt>
                  <c:pt idx="80">
                    <c:v>2006</c:v>
                  </c:pt>
                  <c:pt idx="81">
                    <c:v>2006</c:v>
                  </c:pt>
                  <c:pt idx="82">
                    <c:v>2006</c:v>
                  </c:pt>
                  <c:pt idx="83">
                    <c:v>2006</c:v>
                  </c:pt>
                  <c:pt idx="84">
                    <c:v>2007</c:v>
                  </c:pt>
                  <c:pt idx="85">
                    <c:v>2007</c:v>
                  </c:pt>
                  <c:pt idx="86">
                    <c:v>2007</c:v>
                  </c:pt>
                  <c:pt idx="87">
                    <c:v>2007</c:v>
                  </c:pt>
                  <c:pt idx="88">
                    <c:v>2008</c:v>
                  </c:pt>
                  <c:pt idx="89">
                    <c:v>2008</c:v>
                  </c:pt>
                  <c:pt idx="90">
                    <c:v>2008</c:v>
                  </c:pt>
                  <c:pt idx="91">
                    <c:v>2008</c:v>
                  </c:pt>
                  <c:pt idx="92">
                    <c:v>2009</c:v>
                  </c:pt>
                  <c:pt idx="93">
                    <c:v>2009</c:v>
                  </c:pt>
                  <c:pt idx="94">
                    <c:v>2009</c:v>
                  </c:pt>
                  <c:pt idx="95">
                    <c:v>2009</c:v>
                  </c:pt>
                  <c:pt idx="96">
                    <c:v>2010</c:v>
                  </c:pt>
                  <c:pt idx="97">
                    <c:v>2010</c:v>
                  </c:pt>
                  <c:pt idx="98">
                    <c:v>2010</c:v>
                  </c:pt>
                  <c:pt idx="99">
                    <c:v>2010</c:v>
                  </c:pt>
                  <c:pt idx="100">
                    <c:v>2011</c:v>
                  </c:pt>
                  <c:pt idx="101">
                    <c:v>2011</c:v>
                  </c:pt>
                  <c:pt idx="102">
                    <c:v>2011</c:v>
                  </c:pt>
                  <c:pt idx="103">
                    <c:v>2011</c:v>
                  </c:pt>
                  <c:pt idx="104">
                    <c:v>2012</c:v>
                  </c:pt>
                  <c:pt idx="105">
                    <c:v>2012</c:v>
                  </c:pt>
                  <c:pt idx="106">
                    <c:v>2012</c:v>
                  </c:pt>
                  <c:pt idx="107">
                    <c:v>2012</c:v>
                  </c:pt>
                  <c:pt idx="108">
                    <c:v>2013</c:v>
                  </c:pt>
                  <c:pt idx="109">
                    <c:v>2013</c:v>
                  </c:pt>
                  <c:pt idx="110">
                    <c:v>2013</c:v>
                  </c:pt>
                  <c:pt idx="111">
                    <c:v>2013</c:v>
                  </c:pt>
                  <c:pt idx="112">
                    <c:v>2014</c:v>
                  </c:pt>
                  <c:pt idx="113">
                    <c:v>2014</c:v>
                  </c:pt>
                  <c:pt idx="114">
                    <c:v>2014</c:v>
                  </c:pt>
                  <c:pt idx="115">
                    <c:v>2014</c:v>
                  </c:pt>
                  <c:pt idx="116">
                    <c:v>2015</c:v>
                  </c:pt>
                  <c:pt idx="117">
                    <c:v>2015</c:v>
                  </c:pt>
                  <c:pt idx="118">
                    <c:v>2015</c:v>
                  </c:pt>
                  <c:pt idx="119">
                    <c:v>2015</c:v>
                  </c:pt>
                  <c:pt idx="120">
                    <c:v>2016</c:v>
                  </c:pt>
                  <c:pt idx="121">
                    <c:v>2016</c:v>
                  </c:pt>
                  <c:pt idx="122">
                    <c:v>2016</c:v>
                  </c:pt>
                  <c:pt idx="123">
                    <c:v>2016</c:v>
                  </c:pt>
                  <c:pt idx="124">
                    <c:v>2017</c:v>
                  </c:pt>
                  <c:pt idx="125">
                    <c:v>2017</c:v>
                  </c:pt>
                  <c:pt idx="126">
                    <c:v>2017</c:v>
                  </c:pt>
                  <c:pt idx="127">
                    <c:v>2017</c:v>
                  </c:pt>
                  <c:pt idx="128">
                    <c:v>2018</c:v>
                  </c:pt>
                  <c:pt idx="129">
                    <c:v>2018</c:v>
                  </c:pt>
                  <c:pt idx="130">
                    <c:v>2018</c:v>
                  </c:pt>
                  <c:pt idx="131">
                    <c:v>2018</c:v>
                  </c:pt>
                  <c:pt idx="132">
                    <c:v>2019</c:v>
                  </c:pt>
                  <c:pt idx="133">
                    <c:v>2019</c:v>
                  </c:pt>
                  <c:pt idx="134">
                    <c:v>2019</c:v>
                  </c:pt>
                  <c:pt idx="135">
                    <c:v>2019</c:v>
                  </c:pt>
                  <c:pt idx="136">
                    <c:v>2020</c:v>
                  </c:pt>
                  <c:pt idx="137">
                    <c:v>2020</c:v>
                  </c:pt>
                  <c:pt idx="138">
                    <c:v>2020</c:v>
                  </c:pt>
                  <c:pt idx="139">
                    <c:v>2020</c:v>
                  </c:pt>
                  <c:pt idx="140">
                    <c:v>2021</c:v>
                  </c:pt>
                  <c:pt idx="141">
                    <c:v>2021</c:v>
                  </c:pt>
                  <c:pt idx="142">
                    <c:v>2021</c:v>
                  </c:pt>
                  <c:pt idx="143">
                    <c:v>2021</c:v>
                  </c:pt>
                  <c:pt idx="144">
                    <c:v>2022</c:v>
                  </c:pt>
                  <c:pt idx="145">
                    <c:v>2022</c:v>
                  </c:pt>
                  <c:pt idx="146">
                    <c:v>2022</c:v>
                  </c:pt>
                  <c:pt idx="147">
                    <c:v>2022</c:v>
                  </c:pt>
                  <c:pt idx="148">
                    <c:v>2023</c:v>
                  </c:pt>
                  <c:pt idx="149">
                    <c:v>2023</c:v>
                  </c:pt>
                  <c:pt idx="150">
                    <c:v>2023</c:v>
                  </c:pt>
                  <c:pt idx="151">
                    <c:v>2023</c:v>
                  </c:pt>
                  <c:pt idx="152">
                    <c:v>2024</c:v>
                  </c:pt>
                  <c:pt idx="153">
                    <c:v>2024</c:v>
                  </c:pt>
                  <c:pt idx="154">
                    <c:v>2024</c:v>
                  </c:pt>
                  <c:pt idx="155">
                    <c:v>2024</c:v>
                  </c:pt>
                  <c:pt idx="156">
                    <c:v>2025</c:v>
                  </c:pt>
                  <c:pt idx="157">
                    <c:v>2025</c:v>
                  </c:pt>
                  <c:pt idx="158">
                    <c:v>2025</c:v>
                  </c:pt>
                  <c:pt idx="159">
                    <c:v>2025</c:v>
                  </c:pt>
                  <c:pt idx="160">
                    <c:v>2026</c:v>
                  </c:pt>
                  <c:pt idx="161">
                    <c:v>2026</c:v>
                  </c:pt>
                  <c:pt idx="162">
                    <c:v>2026</c:v>
                  </c:pt>
                </c:lvl>
              </c:multiLvlStrCache>
            </c:multiLvlStrRef>
          </c:cat>
          <c:val>
            <c:numRef>
              <c:f>Sheet1!$C$2:$C$164</c:f>
              <c:numCache>
                <c:formatCode>General</c:formatCode>
                <c:ptCount val="163"/>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6.35</c:v>
                </c:pt>
                <c:pt idx="97">
                  <c:v>6.38</c:v>
                </c:pt>
                <c:pt idx="98">
                  <c:v>6.65</c:v>
                </c:pt>
                <c:pt idx="99">
                  <c:v>5.81</c:v>
                </c:pt>
                <c:pt idx="100">
                  <c:v>4.88</c:v>
                </c:pt>
                <c:pt idx="101">
                  <c:v>5</c:v>
                </c:pt>
                <c:pt idx="102">
                  <c:v>6.7</c:v>
                </c:pt>
                <c:pt idx="103">
                  <c:v>7.67</c:v>
                </c:pt>
                <c:pt idx="104">
                  <c:v>6.34</c:v>
                </c:pt>
                <c:pt idx="105">
                  <c:v>6.41</c:v>
                </c:pt>
                <c:pt idx="106">
                  <c:v>5.97</c:v>
                </c:pt>
                <c:pt idx="107">
                  <c:v>5.52</c:v>
                </c:pt>
                <c:pt idx="108">
                  <c:v>4.9</c:v>
                </c:pt>
                <c:pt idx="109">
                  <c:v>4.72</c:v>
                </c:pt>
                <c:pt idx="110">
                  <c:v>4.74</c:v>
                </c:pt>
                <c:pt idx="111">
                  <c:v>4.33</c:v>
                </c:pt>
                <c:pt idx="112">
                  <c:v>3.93</c:v>
                </c:pt>
                <c:pt idx="113">
                  <c:v>3.65</c:v>
                </c:pt>
                <c:pt idx="114">
                  <c:v>3.89</c:v>
                </c:pt>
                <c:pt idx="115">
                  <c:v>4.68</c:v>
                </c:pt>
                <c:pt idx="116">
                  <c:v>4.89</c:v>
                </c:pt>
                <c:pt idx="117">
                  <c:v>4.6</c:v>
                </c:pt>
                <c:pt idx="118">
                  <c:v>5.54</c:v>
                </c:pt>
                <c:pt idx="119">
                  <c:v>6.4</c:v>
                </c:pt>
                <c:pt idx="120">
                  <c:v>7.6</c:v>
                </c:pt>
                <c:pt idx="121">
                  <c:v>6.33</c:v>
                </c:pt>
                <c:pt idx="122">
                  <c:v>5.36</c:v>
                </c:pt>
                <c:pt idx="123">
                  <c:v>4.63</c:v>
                </c:pt>
                <c:pt idx="124">
                  <c:v>3.92</c:v>
                </c:pt>
                <c:pt idx="125">
                  <c:v>3.8</c:v>
                </c:pt>
                <c:pt idx="126">
                  <c:v>3.75</c:v>
                </c:pt>
                <c:pt idx="127">
                  <c:v>3.59</c:v>
                </c:pt>
                <c:pt idx="128">
                  <c:v>3.51</c:v>
                </c:pt>
                <c:pt idx="129">
                  <c:v>3.46</c:v>
                </c:pt>
                <c:pt idx="130">
                  <c:v>3.46</c:v>
                </c:pt>
                <c:pt idx="131">
                  <c:v>4.07</c:v>
                </c:pt>
                <c:pt idx="132">
                  <c:v>4.24</c:v>
                </c:pt>
                <c:pt idx="133">
                  <c:v>4.02</c:v>
                </c:pt>
                <c:pt idx="134">
                  <c:v>4.08</c:v>
                </c:pt>
                <c:pt idx="135">
                  <c:v>3.96</c:v>
                </c:pt>
                <c:pt idx="136">
                  <c:v>5.14</c:v>
                </c:pt>
                <c:pt idx="137">
                  <c:v>7.15</c:v>
                </c:pt>
                <c:pt idx="138">
                  <c:v>5.37</c:v>
                </c:pt>
                <c:pt idx="139">
                  <c:v>4.55</c:v>
                </c:pt>
                <c:pt idx="140">
                  <c:v>3.62</c:v>
                </c:pt>
                <c:pt idx="141">
                  <c:v>3.26</c:v>
                </c:pt>
                <c:pt idx="142">
                  <c:v>3.2</c:v>
                </c:pt>
                <c:pt idx="143">
                  <c:v>3.21</c:v>
                </c:pt>
                <c:pt idx="144">
                  <c:v>3.56</c:v>
                </c:pt>
                <c:pt idx="145">
                  <c:v>4.35</c:v>
                </c:pt>
                <c:pt idx="146">
                  <c:v>4.93</c:v>
                </c:pt>
                <c:pt idx="147">
                  <c:v>4.75</c:v>
                </c:pt>
                <c:pt idx="148">
                  <c:v>4.42</c:v>
                </c:pt>
                <c:pt idx="149">
                  <c:v>4.52</c:v>
                </c:pt>
                <c:pt idx="150">
                  <c:v>3.91</c:v>
                </c:pt>
                <c:pt idx="151">
                  <c:v>3.98</c:v>
                </c:pt>
                <c:pt idx="152">
                  <c:v>3.37</c:v>
                </c:pt>
                <c:pt idx="153">
                  <c:v>3.18</c:v>
                </c:pt>
                <c:pt idx="154">
                  <c:v>3.26</c:v>
                </c:pt>
                <c:pt idx="155">
                  <c:v>2.8</c:v>
                </c:pt>
                <c:pt idx="156">
                  <c:v>2.87</c:v>
                </c:pt>
                <c:pt idx="157">
                  <c:v>3.5</c:v>
                </c:pt>
                <c:pt idx="158">
                  <c:v>2.86</c:v>
                </c:pt>
                <c:pt idx="159">
                  <c:v>2.96</c:v>
                </c:pt>
                <c:pt idx="160">
                  <c:v>2.95</c:v>
                </c:pt>
                <c:pt idx="161">
                  <c:v>2.81</c:v>
                </c:pt>
                <c:pt idx="162">
                  <c:v>2.72</c:v>
                </c:pt>
              </c:numCache>
            </c:numRef>
          </c:val>
          <c:smooth val="0"/>
        </c:ser>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6EA"/>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Par zone</a:t>
            </a:r>
          </a:p>
        </c:rich>
      </c:tx>
      <c:layout/>
      <c:overlay val="0"/>
    </c:title>
    <c:autoTitleDeleted val="0"/>
    <c:plotArea>
      <c:layout/>
      <c:barChart>
        <c:barDir val="bar"/>
        <c:grouping val="stacked"/>
        <c:varyColors val="0"/>
        <c:ser>
          <c:idx val="0"/>
          <c:order val="0"/>
          <c:tx>
            <c:strRef>
              <c:f>Sheet1!$B$1</c:f>
              <c:strCache>
                <c:ptCount val="1"/>
                <c:pt idx="0">
                  <c:v>Hausse</c:v>
                </c:pt>
              </c:strCache>
            </c:strRef>
          </c:tx>
          <c:spPr>
            <a:solidFill>
              <a:srgbClr val="2A78D6"/>
            </a:solidFill>
            <a:effectLst/>
          </c:spPr>
          <c:invertIfNegative val="0"/>
          <c:dLbls>
            <c:numFmt formatCode="+0&quot; %&quot;;−0&quot; %&quot;;;" sourceLinked="0"/>
            <c:txPr>
              <a:bodyPr/>
              <a:lstStyle/>
              <a:p>
                <a:pPr>
                  <a:defRPr b="0" i="0" strike="noStrike" sz="900" u="none">
                    <a:solidFill>
                      <a:srgbClr val="FFFFFF"/>
                    </a:solidFill>
                    <a:latin typeface="Calibri"/>
                  </a:defRPr>
                </a:pPr>
              </a:p>
            </c:txPr>
            <c:dLblPos val="inBase"/>
            <c:showLegendKey val="0"/>
            <c:showVal val="1"/>
            <c:showCatName val="0"/>
            <c:showSerName val="0"/>
            <c:showPercent val="0"/>
            <c:showBubbleSize val="0"/>
            <c:showLeaderLines val="0"/>
          </c:dLbls>
          <c:cat>
            <c:multiLvlStrRef>
              <c:f>Sheet1!$A$2:$A$10</c:f>
              <c:multiLvlStrCache>
                <c:ptCount val="9"/>
                <c:lvl>
                  <c:pt idx="0">
                    <c:v>Chine</c:v>
                  </c:pt>
                  <c:pt idx="1">
                    <c:v>Inde</c:v>
                  </c:pt>
                  <c:pt idx="2">
                    <c:v>Europe</c:v>
                  </c:pt>
                  <c:pt idx="3">
                    <c:v>Zone euro (50 grandes valeurs)</c:v>
                  </c:pt>
                  <c:pt idx="4">
                    <c:v>États-Unis</c:v>
                  </c:pt>
                  <c:pt idx="5">
                    <c:v>Monde (pays développés)</c:v>
                  </c:pt>
                  <c:pt idx="6">
                    <c:v>Japon</c:v>
                  </c:pt>
                  <c:pt idx="7">
                    <c:v>Brésil</c:v>
                  </c:pt>
                  <c:pt idx="8">
                    <c:v>Émergents</c:v>
                  </c:pt>
                </c:lvl>
              </c:multiLvlStrCache>
            </c:multiLvlStrRef>
          </c:cat>
          <c:val>
            <c:numRef>
              <c:f>Sheet1!$B$2:$B$10</c:f>
              <c:numCache>
                <c:formatCode>General</c:formatCode>
                <c:ptCount val="9"/>
                <c:pt idx="0">
                  <c:v>0</c:v>
                </c:pt>
                <c:pt idx="1">
                  <c:v>0</c:v>
                </c:pt>
                <c:pt idx="2">
                  <c:v>18.4</c:v>
                </c:pt>
                <c:pt idx="3">
                  <c:v>18.6</c:v>
                </c:pt>
                <c:pt idx="4">
                  <c:v>19.3</c:v>
                </c:pt>
                <c:pt idx="5">
                  <c:v>19.4</c:v>
                </c:pt>
                <c:pt idx="6">
                  <c:v>26.7</c:v>
                </c:pt>
                <c:pt idx="7">
                  <c:v>32.2</c:v>
                </c:pt>
                <c:pt idx="8">
                  <c:v>32.8</c:v>
                </c:pt>
              </c:numCache>
            </c:numRef>
          </c:val>
        </c:ser>
        <c:ser>
          <c:idx val="1"/>
          <c:order val="1"/>
          <c:tx>
            <c:strRef>
              <c:f>Sheet1!$C$1</c:f>
              <c:strCache>
                <c:ptCount val="1"/>
                <c:pt idx="0">
                  <c:v>Baisse</c:v>
                </c:pt>
              </c:strCache>
            </c:strRef>
          </c:tx>
          <c:spPr>
            <a:solidFill>
              <a:srgbClr val="EB6834"/>
            </a:solidFill>
            <a:effectLst/>
          </c:spPr>
          <c:invertIfNegative val="0"/>
          <c:dLbls>
            <c:numFmt formatCode="+0&quot; %&quot;;−0&quot; %&quot;;;" sourceLinked="0"/>
            <c:txPr>
              <a:bodyPr/>
              <a:lstStyle/>
              <a:p>
                <a:pPr>
                  <a:defRPr b="0" i="0" strike="noStrike" sz="900" u="none">
                    <a:solidFill>
                      <a:srgbClr val="FFFFFF"/>
                    </a:solidFill>
                    <a:latin typeface="Calibri"/>
                  </a:defRPr>
                </a:pPr>
              </a:p>
            </c:txPr>
            <c:dLblPos val="inBase"/>
            <c:showLegendKey val="0"/>
            <c:showVal val="1"/>
            <c:showCatName val="0"/>
            <c:showSerName val="0"/>
            <c:showPercent val="0"/>
            <c:showBubbleSize val="0"/>
            <c:showLeaderLines val="0"/>
          </c:dLbls>
          <c:cat>
            <c:multiLvlStrRef>
              <c:f>Sheet1!$A$2:$A$10</c:f>
              <c:multiLvlStrCache>
                <c:ptCount val="9"/>
                <c:lvl>
                  <c:pt idx="0">
                    <c:v>Chine</c:v>
                  </c:pt>
                  <c:pt idx="1">
                    <c:v>Inde</c:v>
                  </c:pt>
                  <c:pt idx="2">
                    <c:v>Europe</c:v>
                  </c:pt>
                  <c:pt idx="3">
                    <c:v>Zone euro (50 grandes valeurs)</c:v>
                  </c:pt>
                  <c:pt idx="4">
                    <c:v>États-Unis</c:v>
                  </c:pt>
                  <c:pt idx="5">
                    <c:v>Monde (pays développés)</c:v>
                  </c:pt>
                  <c:pt idx="6">
                    <c:v>Japon</c:v>
                  </c:pt>
                  <c:pt idx="7">
                    <c:v>Brésil</c:v>
                  </c:pt>
                  <c:pt idx="8">
                    <c:v>Émergents</c:v>
                  </c:pt>
                </c:lvl>
              </c:multiLvlStrCache>
            </c:multiLvlStrRef>
          </c:cat>
          <c:val>
            <c:numRef>
              <c:f>Sheet1!$C$2:$C$10</c:f>
              <c:numCache>
                <c:formatCode>General</c:formatCode>
                <c:ptCount val="9"/>
                <c:pt idx="0">
                  <c:v>-14.5</c:v>
                </c:pt>
                <c:pt idx="1">
                  <c:v>-9.8</c:v>
                </c:pt>
                <c:pt idx="2">
                  <c:v>0</c:v>
                </c:pt>
                <c:pt idx="3">
                  <c:v>0</c:v>
                </c:pt>
                <c:pt idx="4">
                  <c:v>0</c:v>
                </c:pt>
                <c:pt idx="5">
                  <c:v>0</c:v>
                </c:pt>
                <c:pt idx="6">
                  <c:v>0</c:v>
                </c:pt>
                <c:pt idx="7">
                  <c:v>0</c:v>
                </c:pt>
                <c:pt idx="8">
                  <c:v>0</c:v>
                </c:pt>
              </c:numCache>
            </c:numRef>
          </c:val>
        </c:ser>
        <c:dLbls>
          <c:numFmt formatCode="+0&quot; %&quot;;−0&quot; %&quot;;;" sourceLinked="0"/>
          <c:txPr>
            <a:bodyPr/>
            <a:lstStyle/>
            <a:p>
              <a:pPr>
                <a:defRPr b="0" i="0" strike="noStrike" sz="900" u="none">
                  <a:solidFill>
                    <a:srgbClr val="FFFFFF"/>
                  </a:solidFill>
                  <a:latin typeface="Calibri"/>
                </a:defRPr>
              </a:pPr>
            </a:p>
          </c:txPr>
          <c:dLblPos val="inBase"/>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A"/>
              </a:solidFill>
              <a:prstDash val="solid"/>
              <a:round/>
            </a:ln>
          </c:spPr>
        </c:majorGridlines>
        <c:numFmt formatCode="0&quot; %&quot;"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Par secteur, et l'or</a:t>
            </a:r>
          </a:p>
        </c:rich>
      </c:tx>
      <c:layout/>
      <c:overlay val="0"/>
    </c:title>
    <c:autoTitleDeleted val="0"/>
    <c:plotArea>
      <c:layout/>
      <c:barChart>
        <c:barDir val="bar"/>
        <c:grouping val="stacked"/>
        <c:varyColors val="0"/>
        <c:ser>
          <c:idx val="0"/>
          <c:order val="0"/>
          <c:tx>
            <c:strRef>
              <c:f>Sheet1!$B$1</c:f>
              <c:strCache>
                <c:ptCount val="1"/>
                <c:pt idx="0">
                  <c:v>Hausse</c:v>
                </c:pt>
              </c:strCache>
            </c:strRef>
          </c:tx>
          <c:spPr>
            <a:solidFill>
              <a:srgbClr val="2A78D6"/>
            </a:solidFill>
            <a:effectLst/>
          </c:spPr>
          <c:invertIfNegative val="0"/>
          <c:dLbls>
            <c:numFmt formatCode="+0&quot; %&quot;;−0&quot; %&quot;;;" sourceLinked="0"/>
            <c:txPr>
              <a:bodyPr/>
              <a:lstStyle/>
              <a:p>
                <a:pPr>
                  <a:defRPr b="0" i="0" strike="noStrike" sz="900" u="none">
                    <a:solidFill>
                      <a:srgbClr val="FFFFFF"/>
                    </a:solidFill>
                    <a:latin typeface="Calibri"/>
                  </a:defRPr>
                </a:pPr>
              </a:p>
            </c:txPr>
            <c:dLblPos val="inBase"/>
            <c:showLegendKey val="0"/>
            <c:showVal val="1"/>
            <c:showCatName val="0"/>
            <c:showSerName val="0"/>
            <c:showPercent val="0"/>
            <c:showBubbleSize val="0"/>
            <c:showLeaderLines val="0"/>
          </c:dLbls>
          <c:cat>
            <c:multiLvlStrRef>
              <c:f>Sheet1!$A$2:$A$12</c:f>
              <c:multiLvlStrCache>
                <c:ptCount val="11"/>
                <c:lvl>
                  <c:pt idx="0">
                    <c:v>Consommation discrétionnaire</c:v>
                  </c:pt>
                  <c:pt idx="1">
                    <c:v>Télécoms et médias</c:v>
                  </c:pt>
                  <c:pt idx="2">
                    <c:v>Consommation de base</c:v>
                  </c:pt>
                  <c:pt idx="3">
                    <c:v>Services aux collectivités</c:v>
                  </c:pt>
                  <c:pt idx="4">
                    <c:v>Industrie</c:v>
                  </c:pt>
                  <c:pt idx="5">
                    <c:v>Finance</c:v>
                  </c:pt>
                  <c:pt idx="6">
                    <c:v>Santé</c:v>
                  </c:pt>
                  <c:pt idx="7">
                    <c:v>Or</c:v>
                  </c:pt>
                  <c:pt idx="8">
                    <c:v>Matériaux</c:v>
                  </c:pt>
                  <c:pt idx="9">
                    <c:v>Technologie</c:v>
                  </c:pt>
                  <c:pt idx="10">
                    <c:v>Énergie</c:v>
                  </c:pt>
                </c:lvl>
              </c:multiLvlStrCache>
            </c:multiLvlStrRef>
          </c:cat>
          <c:val>
            <c:numRef>
              <c:f>Sheet1!$B$2:$B$12</c:f>
              <c:numCache>
                <c:formatCode>General</c:formatCode>
                <c:ptCount val="11"/>
                <c:pt idx="0">
                  <c:v>0</c:v>
                </c:pt>
                <c:pt idx="1">
                  <c:v>6.7</c:v>
                </c:pt>
                <c:pt idx="2">
                  <c:v>8</c:v>
                </c:pt>
                <c:pt idx="3">
                  <c:v>11</c:v>
                </c:pt>
                <c:pt idx="4">
                  <c:v>15.6</c:v>
                </c:pt>
                <c:pt idx="5">
                  <c:v>17.9</c:v>
                </c:pt>
                <c:pt idx="6">
                  <c:v>20.7</c:v>
                </c:pt>
                <c:pt idx="7">
                  <c:v>23.8</c:v>
                </c:pt>
                <c:pt idx="8">
                  <c:v>26.6</c:v>
                </c:pt>
                <c:pt idx="9">
                  <c:v>32.9</c:v>
                </c:pt>
                <c:pt idx="10">
                  <c:v>48.3</c:v>
                </c:pt>
              </c:numCache>
            </c:numRef>
          </c:val>
        </c:ser>
        <c:ser>
          <c:idx val="1"/>
          <c:order val="1"/>
          <c:tx>
            <c:strRef>
              <c:f>Sheet1!$C$1</c:f>
              <c:strCache>
                <c:ptCount val="1"/>
                <c:pt idx="0">
                  <c:v>Baisse</c:v>
                </c:pt>
              </c:strCache>
            </c:strRef>
          </c:tx>
          <c:spPr>
            <a:solidFill>
              <a:srgbClr val="EB6834"/>
            </a:solidFill>
            <a:effectLst/>
          </c:spPr>
          <c:invertIfNegative val="0"/>
          <c:dLbls>
            <c:numFmt formatCode="+0&quot; %&quot;;−0&quot; %&quot;;;" sourceLinked="0"/>
            <c:txPr>
              <a:bodyPr/>
              <a:lstStyle/>
              <a:p>
                <a:pPr>
                  <a:defRPr b="0" i="0" strike="noStrike" sz="900" u="none">
                    <a:solidFill>
                      <a:srgbClr val="FFFFFF"/>
                    </a:solidFill>
                    <a:latin typeface="Calibri"/>
                  </a:defRPr>
                </a:pPr>
              </a:p>
            </c:txPr>
            <c:dLblPos val="inBase"/>
            <c:showLegendKey val="0"/>
            <c:showVal val="1"/>
            <c:showCatName val="0"/>
            <c:showSerName val="0"/>
            <c:showPercent val="0"/>
            <c:showBubbleSize val="0"/>
            <c:showLeaderLines val="0"/>
          </c:dLbls>
          <c:cat>
            <c:multiLvlStrRef>
              <c:f>Sheet1!$A$2:$A$12</c:f>
              <c:multiLvlStrCache>
                <c:ptCount val="11"/>
                <c:lvl>
                  <c:pt idx="0">
                    <c:v>Consommation discrétionnaire</c:v>
                  </c:pt>
                  <c:pt idx="1">
                    <c:v>Télécoms et médias</c:v>
                  </c:pt>
                  <c:pt idx="2">
                    <c:v>Consommation de base</c:v>
                  </c:pt>
                  <c:pt idx="3">
                    <c:v>Services aux collectivités</c:v>
                  </c:pt>
                  <c:pt idx="4">
                    <c:v>Industrie</c:v>
                  </c:pt>
                  <c:pt idx="5">
                    <c:v>Finance</c:v>
                  </c:pt>
                  <c:pt idx="6">
                    <c:v>Santé</c:v>
                  </c:pt>
                  <c:pt idx="7">
                    <c:v>Or</c:v>
                  </c:pt>
                  <c:pt idx="8">
                    <c:v>Matériaux</c:v>
                  </c:pt>
                  <c:pt idx="9">
                    <c:v>Technologie</c:v>
                  </c:pt>
                  <c:pt idx="10">
                    <c:v>Énergie</c:v>
                  </c:pt>
                </c:lvl>
              </c:multiLvlStrCache>
            </c:multiLvlStrRef>
          </c:cat>
          <c:val>
            <c:numRef>
              <c:f>Sheet1!$C$2:$C$12</c:f>
              <c:numCache>
                <c:formatCode>General</c:formatCode>
                <c:ptCount val="11"/>
                <c:pt idx="0">
                  <c:v>-3.7</c:v>
                </c:pt>
                <c:pt idx="1">
                  <c:v>0</c:v>
                </c:pt>
                <c:pt idx="2">
                  <c:v>0</c:v>
                </c:pt>
                <c:pt idx="3">
                  <c:v>0</c:v>
                </c:pt>
                <c:pt idx="4">
                  <c:v>0</c:v>
                </c:pt>
                <c:pt idx="5">
                  <c:v>0</c:v>
                </c:pt>
                <c:pt idx="6">
                  <c:v>0</c:v>
                </c:pt>
                <c:pt idx="7">
                  <c:v>0</c:v>
                </c:pt>
                <c:pt idx="8">
                  <c:v>0</c:v>
                </c:pt>
                <c:pt idx="9">
                  <c:v>0</c:v>
                </c:pt>
                <c:pt idx="10">
                  <c:v>0</c:v>
                </c:pt>
              </c:numCache>
            </c:numRef>
          </c:val>
        </c:ser>
        <c:dLbls>
          <c:numFmt formatCode="+0&quot; %&quot;;−0&quot; %&quot;;;" sourceLinked="0"/>
          <c:txPr>
            <a:bodyPr/>
            <a:lstStyle/>
            <a:p>
              <a:pPr>
                <a:defRPr b="0" i="0" strike="noStrike" sz="900" u="none">
                  <a:solidFill>
                    <a:srgbClr val="FFFFFF"/>
                  </a:solidFill>
                  <a:latin typeface="Calibri"/>
                </a:defRPr>
              </a:pPr>
            </a:p>
          </c:txPr>
          <c:dLblPos val="inBase"/>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3E6EA"/>
              </a:solidFill>
              <a:prstDash val="solid"/>
              <a:round/>
            </a:ln>
          </c:spPr>
        </c:majorGridlines>
        <c:numFmt formatCode="0&quot; %&quot;"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Sous 4 %</c:v>
                </c:pt>
              </c:strCache>
            </c:strRef>
          </c:tx>
          <c:spPr>
            <a:solidFill>
              <a:srgbClr val="9CA3AF"/>
            </a:solidFill>
            <a:effectLst/>
          </c:spPr>
          <c:invertIfNegative val="0"/>
          <c:dLbls>
            <c:numFmt formatCode="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Monétaire</c:v>
                  </c:pt>
                  <c:pt idx="1">
                    <c:v>États zone euro, ensemble</c:v>
                  </c:pt>
                  <c:pt idx="2">
                    <c:v>Crédit euro bien noté</c:v>
                  </c:pt>
                  <c:pt idx="3">
                    <c:v>Or</c:v>
                  </c:pt>
                  <c:pt idx="4">
                    <c:v>Obligations indexées euro</c:v>
                  </c:pt>
                  <c:pt idx="5">
                    <c:v>Actions États-Unis</c:v>
                  </c:pt>
                  <c:pt idx="6">
                    <c:v>Actions émergentes</c:v>
                  </c:pt>
                  <c:pt idx="7">
                    <c:v>Infrastructure cotée</c:v>
                  </c:pt>
                  <c:pt idx="8">
                    <c:v>Actions Europe</c:v>
                  </c:pt>
                  <c:pt idx="9">
                    <c:v>Actions Japon</c:v>
                  </c:pt>
                </c:lvl>
              </c:multiLvlStrCache>
            </c:multiLvlStrRef>
          </c:cat>
          <c:val>
            <c:numRef>
              <c:f>Sheet1!$B$2:$B$11</c:f>
              <c:numCache>
                <c:formatCode>General</c:formatCode>
                <c:ptCount val="10"/>
                <c:pt idx="0">
                  <c:v>2.44</c:v>
                </c:pt>
                <c:pt idx="1">
                  <c:v>3.77</c:v>
                </c:pt>
                <c:pt idx="2">
                  <c:v>0</c:v>
                </c:pt>
                <c:pt idx="3">
                  <c:v>4</c:v>
                </c:pt>
                <c:pt idx="4">
                  <c:v>0</c:v>
                </c:pt>
                <c:pt idx="5">
                  <c:v>0</c:v>
                </c:pt>
                <c:pt idx="6">
                  <c:v>0</c:v>
                </c:pt>
                <c:pt idx="7">
                  <c:v>0</c:v>
                </c:pt>
                <c:pt idx="8">
                  <c:v>0</c:v>
                </c:pt>
                <c:pt idx="9">
                  <c:v>0</c:v>
                </c:pt>
              </c:numCache>
            </c:numRef>
          </c:val>
        </c:ser>
        <c:ser>
          <c:idx val="1"/>
          <c:order val="1"/>
          <c:tx>
            <c:strRef>
              <c:f>Sheet1!$C$1</c:f>
              <c:strCache>
                <c:ptCount val="1"/>
                <c:pt idx="0">
                  <c:v>Au-dessus de 4 %</c:v>
                </c:pt>
              </c:strCache>
            </c:strRef>
          </c:tx>
          <c:spPr>
            <a:solidFill>
              <a:srgbClr val="2A78D6"/>
            </a:solidFill>
            <a:effectLst/>
          </c:spPr>
          <c:invertIfNegative val="0"/>
          <c:dLbls>
            <c:numFmt formatCode="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Monétaire</c:v>
                  </c:pt>
                  <c:pt idx="1">
                    <c:v>États zone euro, ensemble</c:v>
                  </c:pt>
                  <c:pt idx="2">
                    <c:v>Crédit euro bien noté</c:v>
                  </c:pt>
                  <c:pt idx="3">
                    <c:v>Or</c:v>
                  </c:pt>
                  <c:pt idx="4">
                    <c:v>Obligations indexées euro</c:v>
                  </c:pt>
                  <c:pt idx="5">
                    <c:v>Actions États-Unis</c:v>
                  </c:pt>
                  <c:pt idx="6">
                    <c:v>Actions émergentes</c:v>
                  </c:pt>
                  <c:pt idx="7">
                    <c:v>Infrastructure cotée</c:v>
                  </c:pt>
                  <c:pt idx="8">
                    <c:v>Actions Europe</c:v>
                  </c:pt>
                  <c:pt idx="9">
                    <c:v>Actions Japon</c:v>
                  </c:pt>
                </c:lvl>
              </c:multiLvlStrCache>
            </c:multiLvlStrRef>
          </c:cat>
          <c:val>
            <c:numRef>
              <c:f>Sheet1!$C$2:$C$11</c:f>
              <c:numCache>
                <c:formatCode>General</c:formatCode>
                <c:ptCount val="10"/>
                <c:pt idx="0">
                  <c:v>0</c:v>
                </c:pt>
                <c:pt idx="1">
                  <c:v>0</c:v>
                </c:pt>
                <c:pt idx="2">
                  <c:v>4.04</c:v>
                </c:pt>
                <c:pt idx="3">
                  <c:v>0</c:v>
                </c:pt>
                <c:pt idx="4">
                  <c:v>5.43</c:v>
                </c:pt>
                <c:pt idx="5">
                  <c:v>7.19</c:v>
                </c:pt>
                <c:pt idx="6">
                  <c:v>8.4</c:v>
                </c:pt>
                <c:pt idx="7">
                  <c:v>8.88</c:v>
                </c:pt>
                <c:pt idx="8">
                  <c:v>9.23</c:v>
                </c:pt>
                <c:pt idx="9">
                  <c:v>9.44</c:v>
                </c:pt>
              </c:numCache>
            </c:numRef>
          </c:val>
        </c:ser>
        <c:dLbls>
          <c:numFmt formatCode="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3E6EA"/>
              </a:solidFill>
              <a:prstDash val="solid"/>
              <a:round/>
            </a:ln>
          </c:spPr>
        </c:majorGridlines>
        <c:numFmt formatCode="0&quot; %&quot;"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Rendement espéré, défauts déduits</a:t>
            </a:r>
          </a:p>
        </c:rich>
      </c:tx>
      <c:layout/>
      <c:overlay val="0"/>
    </c:title>
    <c:autoTitleDeleted val="0"/>
    <c:plotArea>
      <c:layout/>
      <c:barChart>
        <c:barDir val="bar"/>
        <c:grouping val="clustered"/>
        <c:varyColors val="0"/>
        <c:ser>
          <c:idx val="0"/>
          <c:order val="0"/>
          <c:tx>
            <c:strRef>
              <c:f>Sheet1!$B$1</c:f>
              <c:strCache>
                <c:ptCount val="1"/>
                <c:pt idx="0">
                  <c:v>Rendement</c:v>
                </c:pt>
              </c:strCache>
            </c:strRef>
          </c:tx>
          <c:spPr>
            <a:solidFill>
              <a:srgbClr val="EB6834"/>
            </a:solidFill>
            <a:effectLst/>
          </c:spPr>
          <c:invertIfNegative val="0"/>
          <c:dLbls>
            <c:numFmt formatCode="0.00&quot; %&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Haut rendement euro</c:v>
                  </c:pt>
                  <c:pt idx="1">
                    <c:v>Crédit court retenu</c:v>
                  </c:pt>
                  <c:pt idx="2">
                    <c:v>États zone euro 2-10 ans</c:v>
                  </c:pt>
                  <c:pt idx="3">
                    <c:v>Crédit, indice toutes durées</c:v>
                  </c:pt>
                </c:lvl>
              </c:multiLvlStrCache>
            </c:multiLvlStrRef>
          </c:cat>
          <c:val>
            <c:numRef>
              <c:f>Sheet1!$B$2:$B$5</c:f>
              <c:numCache>
                <c:formatCode>General</c:formatCode>
                <c:ptCount val="4"/>
                <c:pt idx="0">
                  <c:v>2.88</c:v>
                </c:pt>
                <c:pt idx="1">
                  <c:v>3.39</c:v>
                </c:pt>
                <c:pt idx="2">
                  <c:v>3.630078579050997</c:v>
                </c:pt>
                <c:pt idx="3">
                  <c:v>4.04</c:v>
                </c:pt>
              </c:numCache>
            </c:numRef>
          </c:val>
        </c:ser>
        <c:dLbls>
          <c:numFmt formatCode="0.00&quot; %&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Rendement espéré par an</a:t>
            </a:r>
          </a:p>
        </c:rich>
      </c:tx>
      <c:layout/>
      <c:overlay val="0"/>
    </c:title>
    <c:autoTitleDeleted val="0"/>
    <c:plotArea>
      <c:layout/>
      <c:barChart>
        <c:barDir val="bar"/>
        <c:grouping val="stacked"/>
        <c:varyColors val="0"/>
        <c:ser>
          <c:idx val="0"/>
          <c:order val="0"/>
          <c:tx>
            <c:strRef>
              <c:f>Sheet1!$B$1</c:f>
              <c:strCache>
                <c:ptCount val="1"/>
                <c:pt idx="0">
                  <c:v>Sous 4 %</c:v>
                </c:pt>
              </c:strCache>
            </c:strRef>
          </c:tx>
          <c:spPr>
            <a:solidFill>
              <a:srgbClr val="9CA3AF"/>
            </a:solidFill>
            <a:effectLst/>
          </c:spPr>
          <c:invertIfNegative val="0"/>
          <c:dLbls>
            <c:numFmt formatCode="0.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Échelle AAA (10 M€)</c:v>
                  </c:pt>
                  <c:pt idx="1">
                    <c:v>Crédit court</c:v>
                  </c:pt>
                  <c:pt idx="2">
                    <c:v>États 2-10 ans</c:v>
                  </c:pt>
                  <c:pt idx="3">
                    <c:v>Or</c:v>
                  </c:pt>
                  <c:pt idx="4">
                    <c:v>Matières premières</c:v>
                  </c:pt>
                  <c:pt idx="5">
                    <c:v>Indexées</c:v>
                  </c:pt>
                  <c:pt idx="6">
                    <c:v>Actions États-Unis</c:v>
                  </c:pt>
                  <c:pt idx="7">
                    <c:v>Actions émergentes</c:v>
                  </c:pt>
                  <c:pt idx="8">
                    <c:v>Actions Europe</c:v>
                  </c:pt>
                  <c:pt idx="9">
                    <c:v>Actions Japon</c:v>
                  </c:pt>
                </c:lvl>
              </c:multiLvlStrCache>
            </c:multiLvlStrRef>
          </c:cat>
          <c:val>
            <c:numRef>
              <c:f>Sheet1!$B$2:$B$11</c:f>
              <c:numCache>
                <c:formatCode>General</c:formatCode>
                <c:ptCount val="10"/>
                <c:pt idx="0">
                  <c:v>3.0284447262321175</c:v>
                </c:pt>
                <c:pt idx="1">
                  <c:v>3.39</c:v>
                </c:pt>
                <c:pt idx="2">
                  <c:v>3.630078579050997</c:v>
                </c:pt>
                <c:pt idx="3">
                  <c:v>4</c:v>
                </c:pt>
                <c:pt idx="4">
                  <c:v>4</c:v>
                </c:pt>
                <c:pt idx="5">
                  <c:v>0</c:v>
                </c:pt>
                <c:pt idx="6">
                  <c:v>0</c:v>
                </c:pt>
                <c:pt idx="7">
                  <c:v>0</c:v>
                </c:pt>
                <c:pt idx="8">
                  <c:v>0</c:v>
                </c:pt>
                <c:pt idx="9">
                  <c:v>0</c:v>
                </c:pt>
              </c:numCache>
            </c:numRef>
          </c:val>
        </c:ser>
        <c:ser>
          <c:idx val="1"/>
          <c:order val="1"/>
          <c:tx>
            <c:strRef>
              <c:f>Sheet1!$C$1</c:f>
              <c:strCache>
                <c:ptCount val="1"/>
                <c:pt idx="0">
                  <c:v>Au-dessus</c:v>
                </c:pt>
              </c:strCache>
            </c:strRef>
          </c:tx>
          <c:spPr>
            <a:solidFill>
              <a:srgbClr val="2A78D6"/>
            </a:solidFill>
            <a:effectLst/>
          </c:spPr>
          <c:invertIfNegative val="0"/>
          <c:dLbls>
            <c:numFmt formatCode="0.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Échelle AAA (10 M€)</c:v>
                  </c:pt>
                  <c:pt idx="1">
                    <c:v>Crédit court</c:v>
                  </c:pt>
                  <c:pt idx="2">
                    <c:v>États 2-10 ans</c:v>
                  </c:pt>
                  <c:pt idx="3">
                    <c:v>Or</c:v>
                  </c:pt>
                  <c:pt idx="4">
                    <c:v>Matières premières</c:v>
                  </c:pt>
                  <c:pt idx="5">
                    <c:v>Indexées</c:v>
                  </c:pt>
                  <c:pt idx="6">
                    <c:v>Actions États-Unis</c:v>
                  </c:pt>
                  <c:pt idx="7">
                    <c:v>Actions émergentes</c:v>
                  </c:pt>
                  <c:pt idx="8">
                    <c:v>Actions Europe</c:v>
                  </c:pt>
                  <c:pt idx="9">
                    <c:v>Actions Japon</c:v>
                  </c:pt>
                </c:lvl>
              </c:multiLvlStrCache>
            </c:multiLvlStrRef>
          </c:cat>
          <c:val>
            <c:numRef>
              <c:f>Sheet1!$C$2:$C$11</c:f>
              <c:numCache>
                <c:formatCode>General</c:formatCode>
                <c:ptCount val="10"/>
                <c:pt idx="0">
                  <c:v>0</c:v>
                </c:pt>
                <c:pt idx="1">
                  <c:v>0</c:v>
                </c:pt>
                <c:pt idx="2">
                  <c:v>0</c:v>
                </c:pt>
                <c:pt idx="3">
                  <c:v>0</c:v>
                </c:pt>
                <c:pt idx="4">
                  <c:v>0</c:v>
                </c:pt>
                <c:pt idx="5">
                  <c:v>5.43</c:v>
                </c:pt>
                <c:pt idx="6">
                  <c:v>7.19</c:v>
                </c:pt>
                <c:pt idx="7">
                  <c:v>8.4</c:v>
                </c:pt>
                <c:pt idx="8">
                  <c:v>9.23</c:v>
                </c:pt>
                <c:pt idx="9">
                  <c:v>9.44</c:v>
                </c:pt>
              </c:numCache>
            </c:numRef>
          </c:val>
        </c:ser>
        <c:dLbls>
          <c:numFmt formatCode="0.00&quot; %&quot;;;;" sourceLinked="0"/>
          <c:txPr>
            <a:bodyPr/>
            <a:lstStyle/>
            <a:p>
              <a:pPr>
                <a:defRPr b="0" i="0" strike="noStrike" sz="1000" u="none">
                  <a:solidFill>
                    <a:srgbClr val="FFFFFF"/>
                  </a:solidFill>
                  <a:latin typeface="Calibri"/>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3E6EA"/>
              </a:solidFill>
              <a:prstDash val="solid"/>
              <a:round/>
            </a:ln>
          </c:spPr>
        </c:majorGridlines>
        <c:numFmt formatCode="0&quot; %&quot;"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Le portefeuille du calcul libre</a:t>
            </a:r>
          </a:p>
        </c:rich>
      </c:tx>
      <c:layout/>
      <c:overlay val="0"/>
    </c:title>
    <c:autoTitleDeleted val="0"/>
    <c:plotArea>
      <c:layout/>
      <c:barChart>
        <c:barDir val="bar"/>
        <c:grouping val="clustered"/>
        <c:varyColors val="0"/>
        <c:ser>
          <c:idx val="0"/>
          <c:order val="0"/>
          <c:tx>
            <c:strRef>
              <c:f>Sheet1!$B$1</c:f>
              <c:strCache>
                <c:ptCount val="1"/>
                <c:pt idx="0">
                  <c:v>Poids</c:v>
                </c:pt>
              </c:strCache>
            </c:strRef>
          </c:tx>
          <c:spPr>
            <a:solidFill>
              <a:srgbClr val="2A78D6"/>
            </a:solidFill>
            <a:effectLst/>
          </c:spPr>
          <c:invertIfNegative val="0"/>
          <c:dLbls>
            <c:numFmt formatCode="0&quot; %&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Échelle AAA</c:v>
                  </c:pt>
                  <c:pt idx="1">
                    <c:v>Crédit court</c:v>
                  </c:pt>
                  <c:pt idx="2">
                    <c:v>États 2-10 ans</c:v>
                  </c:pt>
                  <c:pt idx="3">
                    <c:v>Actions Japon</c:v>
                  </c:pt>
                  <c:pt idx="4">
                    <c:v>Obligations indexées</c:v>
                  </c:pt>
                </c:lvl>
              </c:multiLvlStrCache>
            </c:multiLvlStrRef>
          </c:cat>
          <c:val>
            <c:numRef>
              <c:f>Sheet1!$B$2:$B$6</c:f>
              <c:numCache>
                <c:formatCode>General</c:formatCode>
                <c:ptCount val="5"/>
                <c:pt idx="0">
                  <c:v>1.24</c:v>
                </c:pt>
                <c:pt idx="1">
                  <c:v>2.21</c:v>
                </c:pt>
                <c:pt idx="2">
                  <c:v>9.370000000000001</c:v>
                </c:pt>
                <c:pt idx="3">
                  <c:v>32.04</c:v>
                </c:pt>
                <c:pt idx="4">
                  <c:v>55.14</c:v>
                </c:pt>
              </c:numCache>
            </c:numRef>
          </c:val>
        </c:ser>
        <c:dLbls>
          <c:numFmt formatCode="0&quot; %&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La répartition, règle après règle</a:t>
            </a:r>
          </a:p>
        </c:rich>
      </c:tx>
      <c:layout/>
      <c:overlay val="0"/>
    </c:title>
    <c:autoTitleDeleted val="0"/>
    <c:plotArea>
      <c:layout/>
      <c:barChart>
        <c:barDir val="bar"/>
        <c:grouping val="percentStacked"/>
        <c:varyColors val="0"/>
        <c:ser>
          <c:idx val="0"/>
          <c:order val="0"/>
          <c:tx>
            <c:strRef>
              <c:f>Sheet1!$B$1</c:f>
              <c:strCache>
                <c:ptCount val="1"/>
                <c:pt idx="0">
                  <c:v>Actions</c:v>
                </c:pt>
              </c:strCache>
            </c:strRef>
          </c:tx>
          <c:spPr>
            <a:solidFill>
              <a:srgbClr val="2A78D6"/>
            </a:solidFill>
            <a:effectLst/>
          </c:spPr>
          <c:invertIfNegative val="0"/>
          <c:dLbls>
            <c:numFmt formatCode="[&lt;4]&quot;&quot;;0&quot; %&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Libre</c:v>
                  </c:pt>
                  <c:pt idx="1">
                    <c:v>+ AAA</c:v>
                  </c:pt>
                  <c:pt idx="2">
                    <c:v>+ clé</c:v>
                  </c:pt>
                  <c:pt idx="3">
                    <c:v>+ plafonds</c:v>
                  </c:pt>
                  <c:pt idx="4">
                    <c:v>+ marge</c:v>
                  </c:pt>
                </c:lvl>
              </c:multiLvlStrCache>
            </c:multiLvlStrRef>
          </c:cat>
          <c:val>
            <c:numRef>
              <c:f>Sheet1!$B$2:$B$6</c:f>
              <c:numCache>
                <c:formatCode>General</c:formatCode>
                <c:ptCount val="5"/>
                <c:pt idx="0">
                  <c:v>32.04</c:v>
                </c:pt>
                <c:pt idx="1">
                  <c:v>31.840000000000003</c:v>
                </c:pt>
                <c:pt idx="2">
                  <c:v>19.77</c:v>
                </c:pt>
                <c:pt idx="3">
                  <c:v>32.190000000000005</c:v>
                </c:pt>
                <c:pt idx="4">
                  <c:v>30.409999999999997</c:v>
                </c:pt>
              </c:numCache>
            </c:numRef>
          </c:val>
        </c:ser>
        <c:ser>
          <c:idx val="1"/>
          <c:order val="1"/>
          <c:tx>
            <c:strRef>
              <c:f>Sheet1!$C$1</c:f>
              <c:strCache>
                <c:ptCount val="1"/>
                <c:pt idx="0">
                  <c:v>Emprunts d'État</c:v>
                </c:pt>
              </c:strCache>
            </c:strRef>
          </c:tx>
          <c:spPr>
            <a:solidFill>
              <a:srgbClr val="EB6834"/>
            </a:solidFill>
            <a:effectLst/>
          </c:spPr>
          <c:invertIfNegative val="0"/>
          <c:dLbls>
            <c:numFmt formatCode="[&lt;4]&quot;&quot;;0&quot; %&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Libre</c:v>
                  </c:pt>
                  <c:pt idx="1">
                    <c:v>+ AAA</c:v>
                  </c:pt>
                  <c:pt idx="2">
                    <c:v>+ clé</c:v>
                  </c:pt>
                  <c:pt idx="3">
                    <c:v>+ plafonds</c:v>
                  </c:pt>
                  <c:pt idx="4">
                    <c:v>+ marge</c:v>
                  </c:pt>
                </c:lvl>
              </c:multiLvlStrCache>
            </c:multiLvlStrRef>
          </c:cat>
          <c:val>
            <c:numRef>
              <c:f>Sheet1!$C$2:$C$6</c:f>
              <c:numCache>
                <c:formatCode>General</c:formatCode>
                <c:ptCount val="5"/>
                <c:pt idx="0">
                  <c:v>10.61</c:v>
                </c:pt>
                <c:pt idx="1">
                  <c:v>10.07</c:v>
                </c:pt>
                <c:pt idx="2">
                  <c:v>10</c:v>
                </c:pt>
                <c:pt idx="3">
                  <c:v>47.36</c:v>
                </c:pt>
                <c:pt idx="4">
                  <c:v>51.29</c:v>
                </c:pt>
              </c:numCache>
            </c:numRef>
          </c:val>
        </c:ser>
        <c:ser>
          <c:idx val="2"/>
          <c:order val="2"/>
          <c:tx>
            <c:strRef>
              <c:f>Sheet1!$D$1</c:f>
              <c:strCache>
                <c:ptCount val="1"/>
                <c:pt idx="0">
                  <c:v>Indexées</c:v>
                </c:pt>
              </c:strCache>
            </c:strRef>
          </c:tx>
          <c:spPr>
            <a:solidFill>
              <a:srgbClr val="1BAF7A"/>
            </a:solidFill>
            <a:effectLst/>
          </c:spPr>
          <c:invertIfNegative val="0"/>
          <c:dLbls>
            <c:numFmt formatCode="[&lt;4]&quot;&quot;;0&quot; %&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Libre</c:v>
                  </c:pt>
                  <c:pt idx="1">
                    <c:v>+ AAA</c:v>
                  </c:pt>
                  <c:pt idx="2">
                    <c:v>+ clé</c:v>
                  </c:pt>
                  <c:pt idx="3">
                    <c:v>+ plafonds</c:v>
                  </c:pt>
                  <c:pt idx="4">
                    <c:v>+ marge</c:v>
                  </c:pt>
                </c:lvl>
              </c:multiLvlStrCache>
            </c:multiLvlStrRef>
          </c:cat>
          <c:val>
            <c:numRef>
              <c:f>Sheet1!$D$2:$D$6</c:f>
              <c:numCache>
                <c:formatCode>General</c:formatCode>
                <c:ptCount val="5"/>
                <c:pt idx="0">
                  <c:v>55.14</c:v>
                </c:pt>
                <c:pt idx="1">
                  <c:v>58.089999999999996</c:v>
                </c:pt>
                <c:pt idx="2">
                  <c:v>70.23</c:v>
                </c:pt>
                <c:pt idx="3">
                  <c:v>15</c:v>
                </c:pt>
                <c:pt idx="4">
                  <c:v>15</c:v>
                </c:pt>
              </c:numCache>
            </c:numRef>
          </c:val>
        </c:ser>
        <c:ser>
          <c:idx val="3"/>
          <c:order val="3"/>
          <c:tx>
            <c:strRef>
              <c:f>Sheet1!$E$1</c:f>
              <c:strCache>
                <c:ptCount val="1"/>
                <c:pt idx="0">
                  <c:v>Or et autres</c:v>
                </c:pt>
              </c:strCache>
            </c:strRef>
          </c:tx>
          <c:spPr>
            <a:solidFill>
              <a:srgbClr val="EDA100"/>
            </a:solidFill>
            <a:effectLst/>
          </c:spPr>
          <c:invertIfNegative val="0"/>
          <c:dLbls>
            <c:numFmt formatCode="[&lt;4]&quot;&quot;;0&quot; %&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Libre</c:v>
                  </c:pt>
                  <c:pt idx="1">
                    <c:v>+ AAA</c:v>
                  </c:pt>
                  <c:pt idx="2">
                    <c:v>+ clé</c:v>
                  </c:pt>
                  <c:pt idx="3">
                    <c:v>+ plafonds</c:v>
                  </c:pt>
                  <c:pt idx="4">
                    <c:v>+ marge</c:v>
                  </c:pt>
                </c:lvl>
              </c:multiLvlStrCache>
            </c:multiLvlStrRef>
          </c:cat>
          <c:val>
            <c:numRef>
              <c:f>Sheet1!$E$2:$E$6</c:f>
              <c:numCache>
                <c:formatCode>General</c:formatCode>
                <c:ptCount val="5"/>
                <c:pt idx="0">
                  <c:v>2.21</c:v>
                </c:pt>
                <c:pt idx="1">
                  <c:v>0</c:v>
                </c:pt>
                <c:pt idx="2">
                  <c:v>0</c:v>
                </c:pt>
                <c:pt idx="3">
                  <c:v>5.4399999999999995</c:v>
                </c:pt>
                <c:pt idx="4">
                  <c:v>3.3000000000000003</c:v>
                </c:pt>
              </c:numCache>
            </c:numRef>
          </c:val>
        </c:ser>
        <c:dLbls>
          <c:numFmt formatCode="[&lt;4]&quot;&quot;;0&quot; %&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Familles</c:v>
                </c:pt>
              </c:strCache>
            </c:strRef>
          </c:tx>
          <c:spPr>
            <a:solidFill>
              <a:schemeClr val="accent1"/>
            </a:solidFill>
            <a:ln w="9525" cap="flat">
              <a:solidFill>
                <a:srgbClr val="F9F9F9"/>
              </a:solidFill>
              <a:prstDash val="solid"/>
              <a:round/>
            </a:ln>
            <a:effectLst/>
          </c:spPr>
          <c:dPt>
            <c:idx val="0"/>
            <c:bubble3D val="0"/>
            <c:spPr>
              <a:solidFill>
                <a:srgbClr val="2A78D6"/>
              </a:solidFill>
              <a:ln w="25400" cap="flat">
                <a:solidFill>
                  <a:srgbClr val="FFFFFF"/>
                </a:solidFill>
                <a:prstDash val="solid"/>
                <a:round/>
              </a:ln>
              <a:effectLst/>
            </c:spPr>
          </c:dPt>
          <c:dPt>
            <c:idx val="1"/>
            <c:bubble3D val="0"/>
            <c:spPr>
              <a:solidFill>
                <a:srgbClr val="EB6834"/>
              </a:solidFill>
              <a:ln w="25400" cap="flat">
                <a:solidFill>
                  <a:srgbClr val="FFFFFF"/>
                </a:solidFill>
                <a:prstDash val="solid"/>
                <a:round/>
              </a:ln>
              <a:effectLst/>
            </c:spPr>
          </c:dPt>
          <c:dPt>
            <c:idx val="2"/>
            <c:bubble3D val="0"/>
            <c:spPr>
              <a:solidFill>
                <a:srgbClr val="1BAF7A"/>
              </a:solidFill>
              <a:ln w="25400" cap="flat">
                <a:solidFill>
                  <a:srgbClr val="FFFFFF"/>
                </a:solidFill>
                <a:prstDash val="solid"/>
                <a:round/>
              </a:ln>
              <a:effectLst/>
            </c:spPr>
          </c:dPt>
          <c:dPt>
            <c:idx val="3"/>
            <c:bubble3D val="0"/>
            <c:spPr>
              <a:solidFill>
                <a:srgbClr val="EDA100"/>
              </a:solidFill>
              <a:ln w="25400" cap="flat">
                <a:solidFill>
                  <a:srgbClr val="FFFFFF"/>
                </a:solidFill>
                <a:prstDash val="solid"/>
                <a:round/>
              </a:ln>
              <a:effectLst/>
            </c:spPr>
          </c:dPt>
          <c:dLbls>
            <c:dLbl>
              <c:idx val="0"/>
              <c:numFmt formatCode="0%" sourceLinked="0"/>
              <c:spPr/>
              <c:txPr>
                <a:bodyPr/>
                <a:lstStyle/>
                <a:p>
                  <a:pPr>
                    <a:defRPr sz="13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3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3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Actions</c:v>
                </c:pt>
                <c:pt idx="1">
                  <c:v>Emprunts d'État</c:v>
                </c:pt>
                <c:pt idx="2">
                  <c:v>Obligations indexées</c:v>
                </c:pt>
                <c:pt idx="3">
                  <c:v>Or</c:v>
                </c:pt>
              </c:strCache>
            </c:strRef>
          </c:cat>
          <c:val>
            <c:numRef>
              <c:f>Sheet1!$B$2:$B$5</c:f>
              <c:numCache>
                <c:ptCount val="4"/>
                <c:pt idx="0">
                  <c:v>30.409999999999997</c:v>
                </c:pt>
                <c:pt idx="1">
                  <c:v>51.29</c:v>
                </c:pt>
                <c:pt idx="2">
                  <c:v>15</c:v>
                </c:pt>
                <c:pt idx="3">
                  <c:v>3.3000000000000003</c:v>
                </c:pt>
              </c:numCache>
            </c:numRef>
          </c:val>
        </c:ser>
        <c:firstSliceAng val="0"/>
        <c:holeSize val="55"/>
      </c:doughnutChart>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Valeur du portefeuille, en M€</a:t>
            </a:r>
          </a:p>
        </c:rich>
      </c:tx>
      <c:layout/>
      <c:overlay val="0"/>
    </c:title>
    <c:autoTitleDeleted val="0"/>
    <c:plotArea>
      <c:layout/>
      <c:lineChart>
        <c:varyColors val="0"/>
        <c:ser>
          <c:idx val="0"/>
          <c:order val="0"/>
          <c:tx>
            <c:strRef>
              <c:f>Sheet1!$B$1</c:f>
              <c:strCache>
                <c:ptCount val="1"/>
                <c:pt idx="0">
                  <c:v>Valeur (M€)</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Sheet1!$A$2:$A$241</c:f>
              <c:multiLvlStrCache>
                <c:ptCount val="240"/>
                <c:lvl>
                  <c:pt idx="0">
                    <c:v>2006</c:v>
                  </c:pt>
                  <c:pt idx="1">
                    <c:v>2006</c:v>
                  </c:pt>
                  <c:pt idx="2">
                    <c:v>2006</c:v>
                  </c:pt>
                  <c:pt idx="3">
                    <c:v>2007</c:v>
                  </c:pt>
                  <c:pt idx="4">
                    <c:v>2007</c:v>
                  </c:pt>
                  <c:pt idx="5">
                    <c:v>2007</c:v>
                  </c:pt>
                  <c:pt idx="6">
                    <c:v>2007</c:v>
                  </c:pt>
                  <c:pt idx="7">
                    <c:v>2007</c:v>
                  </c:pt>
                  <c:pt idx="8">
                    <c:v>2007</c:v>
                  </c:pt>
                  <c:pt idx="9">
                    <c:v>2007</c:v>
                  </c:pt>
                  <c:pt idx="10">
                    <c:v>2007</c:v>
                  </c:pt>
                  <c:pt idx="11">
                    <c:v>2007</c:v>
                  </c:pt>
                  <c:pt idx="12">
                    <c:v>2007</c:v>
                  </c:pt>
                  <c:pt idx="13">
                    <c:v>2007</c:v>
                  </c:pt>
                  <c:pt idx="14">
                    <c:v>2007</c:v>
                  </c:pt>
                  <c:pt idx="15">
                    <c:v>2008</c:v>
                  </c:pt>
                  <c:pt idx="16">
                    <c:v>2008</c:v>
                  </c:pt>
                  <c:pt idx="17">
                    <c:v>2008</c:v>
                  </c:pt>
                  <c:pt idx="18">
                    <c:v>2008</c:v>
                  </c:pt>
                  <c:pt idx="19">
                    <c:v>2008</c:v>
                  </c:pt>
                  <c:pt idx="20">
                    <c:v>2008</c:v>
                  </c:pt>
                  <c:pt idx="21">
                    <c:v>2008</c:v>
                  </c:pt>
                  <c:pt idx="22">
                    <c:v>2008</c:v>
                  </c:pt>
                  <c:pt idx="23">
                    <c:v>2008</c:v>
                  </c:pt>
                  <c:pt idx="24">
                    <c:v>2008</c:v>
                  </c:pt>
                  <c:pt idx="25">
                    <c:v>2008</c:v>
                  </c:pt>
                  <c:pt idx="26">
                    <c:v>2008</c:v>
                  </c:pt>
                  <c:pt idx="27">
                    <c:v>2009</c:v>
                  </c:pt>
                  <c:pt idx="28">
                    <c:v>2009</c:v>
                  </c:pt>
                  <c:pt idx="29">
                    <c:v>2009</c:v>
                  </c:pt>
                  <c:pt idx="30">
                    <c:v>2009</c:v>
                  </c:pt>
                  <c:pt idx="31">
                    <c:v>2009</c:v>
                  </c:pt>
                  <c:pt idx="32">
                    <c:v>2009</c:v>
                  </c:pt>
                  <c:pt idx="33">
                    <c:v>2009</c:v>
                  </c:pt>
                  <c:pt idx="34">
                    <c:v>2009</c:v>
                  </c:pt>
                  <c:pt idx="35">
                    <c:v>2009</c:v>
                  </c:pt>
                  <c:pt idx="36">
                    <c:v>2009</c:v>
                  </c:pt>
                  <c:pt idx="37">
                    <c:v>2009</c:v>
                  </c:pt>
                  <c:pt idx="38">
                    <c:v>2009</c:v>
                  </c:pt>
                  <c:pt idx="39">
                    <c:v>2010</c:v>
                  </c:pt>
                  <c:pt idx="40">
                    <c:v>2010</c:v>
                  </c:pt>
                  <c:pt idx="41">
                    <c:v>2010</c:v>
                  </c:pt>
                  <c:pt idx="42">
                    <c:v>2010</c:v>
                  </c:pt>
                  <c:pt idx="43">
                    <c:v>2010</c:v>
                  </c:pt>
                  <c:pt idx="44">
                    <c:v>2010</c:v>
                  </c:pt>
                  <c:pt idx="45">
                    <c:v>2010</c:v>
                  </c:pt>
                  <c:pt idx="46">
                    <c:v>2010</c:v>
                  </c:pt>
                  <c:pt idx="47">
                    <c:v>2010</c:v>
                  </c:pt>
                  <c:pt idx="48">
                    <c:v>2010</c:v>
                  </c:pt>
                  <c:pt idx="49">
                    <c:v>2010</c:v>
                  </c:pt>
                  <c:pt idx="50">
                    <c:v>2010</c:v>
                  </c:pt>
                  <c:pt idx="51">
                    <c:v>2011</c:v>
                  </c:pt>
                  <c:pt idx="52">
                    <c:v>2011</c:v>
                  </c:pt>
                  <c:pt idx="53">
                    <c:v>2011</c:v>
                  </c:pt>
                  <c:pt idx="54">
                    <c:v>2011</c:v>
                  </c:pt>
                  <c:pt idx="55">
                    <c:v>2011</c:v>
                  </c:pt>
                  <c:pt idx="56">
                    <c:v>2011</c:v>
                  </c:pt>
                  <c:pt idx="57">
                    <c:v>2011</c:v>
                  </c:pt>
                  <c:pt idx="58">
                    <c:v>2011</c:v>
                  </c:pt>
                  <c:pt idx="59">
                    <c:v>2011</c:v>
                  </c:pt>
                  <c:pt idx="60">
                    <c:v>2011</c:v>
                  </c:pt>
                  <c:pt idx="61">
                    <c:v>2011</c:v>
                  </c:pt>
                  <c:pt idx="62">
                    <c:v>2011</c:v>
                  </c:pt>
                  <c:pt idx="63">
                    <c:v>2012</c:v>
                  </c:pt>
                  <c:pt idx="64">
                    <c:v>2012</c:v>
                  </c:pt>
                  <c:pt idx="65">
                    <c:v>2012</c:v>
                  </c:pt>
                  <c:pt idx="66">
                    <c:v>2012</c:v>
                  </c:pt>
                  <c:pt idx="67">
                    <c:v>2012</c:v>
                  </c:pt>
                  <c:pt idx="68">
                    <c:v>2012</c:v>
                  </c:pt>
                  <c:pt idx="69">
                    <c:v>2012</c:v>
                  </c:pt>
                  <c:pt idx="70">
                    <c:v>2012</c:v>
                  </c:pt>
                  <c:pt idx="71">
                    <c:v>2012</c:v>
                  </c:pt>
                  <c:pt idx="72">
                    <c:v>2012</c:v>
                  </c:pt>
                  <c:pt idx="73">
                    <c:v>2012</c:v>
                  </c:pt>
                  <c:pt idx="74">
                    <c:v>2012</c:v>
                  </c:pt>
                  <c:pt idx="75">
                    <c:v>2013</c:v>
                  </c:pt>
                  <c:pt idx="76">
                    <c:v>2013</c:v>
                  </c:pt>
                  <c:pt idx="77">
                    <c:v>2013</c:v>
                  </c:pt>
                  <c:pt idx="78">
                    <c:v>2013</c:v>
                  </c:pt>
                  <c:pt idx="79">
                    <c:v>2013</c:v>
                  </c:pt>
                  <c:pt idx="80">
                    <c:v>2013</c:v>
                  </c:pt>
                  <c:pt idx="81">
                    <c:v>2013</c:v>
                  </c:pt>
                  <c:pt idx="82">
                    <c:v>2013</c:v>
                  </c:pt>
                  <c:pt idx="83">
                    <c:v>2013</c:v>
                  </c:pt>
                  <c:pt idx="84">
                    <c:v>2013</c:v>
                  </c:pt>
                  <c:pt idx="85">
                    <c:v>2013</c:v>
                  </c:pt>
                  <c:pt idx="86">
                    <c:v>2013</c:v>
                  </c:pt>
                  <c:pt idx="87">
                    <c:v>2014</c:v>
                  </c:pt>
                  <c:pt idx="88">
                    <c:v>2014</c:v>
                  </c:pt>
                  <c:pt idx="89">
                    <c:v>2014</c:v>
                  </c:pt>
                  <c:pt idx="90">
                    <c:v>2014</c:v>
                  </c:pt>
                  <c:pt idx="91">
                    <c:v>2014</c:v>
                  </c:pt>
                  <c:pt idx="92">
                    <c:v>2014</c:v>
                  </c:pt>
                  <c:pt idx="93">
                    <c:v>2014</c:v>
                  </c:pt>
                  <c:pt idx="94">
                    <c:v>2014</c:v>
                  </c:pt>
                  <c:pt idx="95">
                    <c:v>2014</c:v>
                  </c:pt>
                  <c:pt idx="96">
                    <c:v>2014</c:v>
                  </c:pt>
                  <c:pt idx="97">
                    <c:v>2014</c:v>
                  </c:pt>
                  <c:pt idx="98">
                    <c:v>2014</c:v>
                  </c:pt>
                  <c:pt idx="99">
                    <c:v>2015</c:v>
                  </c:pt>
                  <c:pt idx="100">
                    <c:v>2015</c:v>
                  </c:pt>
                  <c:pt idx="101">
                    <c:v>2015</c:v>
                  </c:pt>
                  <c:pt idx="102">
                    <c:v>2015</c:v>
                  </c:pt>
                  <c:pt idx="103">
                    <c:v>2015</c:v>
                  </c:pt>
                  <c:pt idx="104">
                    <c:v>2015</c:v>
                  </c:pt>
                  <c:pt idx="105">
                    <c:v>2015</c:v>
                  </c:pt>
                  <c:pt idx="106">
                    <c:v>2015</c:v>
                  </c:pt>
                  <c:pt idx="107">
                    <c:v>2015</c:v>
                  </c:pt>
                  <c:pt idx="108">
                    <c:v>2015</c:v>
                  </c:pt>
                  <c:pt idx="109">
                    <c:v>2015</c:v>
                  </c:pt>
                  <c:pt idx="110">
                    <c:v>2015</c:v>
                  </c:pt>
                  <c:pt idx="111">
                    <c:v>2016</c:v>
                  </c:pt>
                  <c:pt idx="112">
                    <c:v>2016</c:v>
                  </c:pt>
                  <c:pt idx="113">
                    <c:v>2016</c:v>
                  </c:pt>
                  <c:pt idx="114">
                    <c:v>2016</c:v>
                  </c:pt>
                  <c:pt idx="115">
                    <c:v>2016</c:v>
                  </c:pt>
                  <c:pt idx="116">
                    <c:v>2016</c:v>
                  </c:pt>
                  <c:pt idx="117">
                    <c:v>2016</c:v>
                  </c:pt>
                  <c:pt idx="118">
                    <c:v>2016</c:v>
                  </c:pt>
                  <c:pt idx="119">
                    <c:v>2016</c:v>
                  </c:pt>
                  <c:pt idx="120">
                    <c:v>2016</c:v>
                  </c:pt>
                  <c:pt idx="121">
                    <c:v>2016</c:v>
                  </c:pt>
                  <c:pt idx="122">
                    <c:v>2016</c:v>
                  </c:pt>
                  <c:pt idx="123">
                    <c:v>2017</c:v>
                  </c:pt>
                  <c:pt idx="124">
                    <c:v>2017</c:v>
                  </c:pt>
                  <c:pt idx="125">
                    <c:v>2017</c:v>
                  </c:pt>
                  <c:pt idx="126">
                    <c:v>2017</c:v>
                  </c:pt>
                  <c:pt idx="127">
                    <c:v>2017</c:v>
                  </c:pt>
                  <c:pt idx="128">
                    <c:v>2017</c:v>
                  </c:pt>
                  <c:pt idx="129">
                    <c:v>2017</c:v>
                  </c:pt>
                  <c:pt idx="130">
                    <c:v>2017</c:v>
                  </c:pt>
                  <c:pt idx="131">
                    <c:v>2017</c:v>
                  </c:pt>
                  <c:pt idx="132">
                    <c:v>2017</c:v>
                  </c:pt>
                  <c:pt idx="133">
                    <c:v>2017</c:v>
                  </c:pt>
                  <c:pt idx="134">
                    <c:v>2017</c:v>
                  </c:pt>
                  <c:pt idx="135">
                    <c:v>2018</c:v>
                  </c:pt>
                  <c:pt idx="136">
                    <c:v>2018</c:v>
                  </c:pt>
                  <c:pt idx="137">
                    <c:v>2018</c:v>
                  </c:pt>
                  <c:pt idx="138">
                    <c:v>2018</c:v>
                  </c:pt>
                  <c:pt idx="139">
                    <c:v>2018</c:v>
                  </c:pt>
                  <c:pt idx="140">
                    <c:v>2018</c:v>
                  </c:pt>
                  <c:pt idx="141">
                    <c:v>2018</c:v>
                  </c:pt>
                  <c:pt idx="142">
                    <c:v>2018</c:v>
                  </c:pt>
                  <c:pt idx="143">
                    <c:v>2018</c:v>
                  </c:pt>
                  <c:pt idx="144">
                    <c:v>2018</c:v>
                  </c:pt>
                  <c:pt idx="145">
                    <c:v>2018</c:v>
                  </c:pt>
                  <c:pt idx="146">
                    <c:v>2018</c:v>
                  </c:pt>
                  <c:pt idx="147">
                    <c:v>2019</c:v>
                  </c:pt>
                  <c:pt idx="148">
                    <c:v>2019</c:v>
                  </c:pt>
                  <c:pt idx="149">
                    <c:v>2019</c:v>
                  </c:pt>
                  <c:pt idx="150">
                    <c:v>2019</c:v>
                  </c:pt>
                  <c:pt idx="151">
                    <c:v>2019</c:v>
                  </c:pt>
                  <c:pt idx="152">
                    <c:v>2019</c:v>
                  </c:pt>
                  <c:pt idx="153">
                    <c:v>2019</c:v>
                  </c:pt>
                  <c:pt idx="154">
                    <c:v>2019</c:v>
                  </c:pt>
                  <c:pt idx="155">
                    <c:v>2019</c:v>
                  </c:pt>
                  <c:pt idx="156">
                    <c:v>2019</c:v>
                  </c:pt>
                  <c:pt idx="157">
                    <c:v>2019</c:v>
                  </c:pt>
                  <c:pt idx="158">
                    <c:v>2019</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2021</c:v>
                  </c:pt>
                  <c:pt idx="172">
                    <c:v>2021</c:v>
                  </c:pt>
                  <c:pt idx="173">
                    <c:v>2021</c:v>
                  </c:pt>
                  <c:pt idx="174">
                    <c:v>2021</c:v>
                  </c:pt>
                  <c:pt idx="175">
                    <c:v>2021</c:v>
                  </c:pt>
                  <c:pt idx="176">
                    <c:v>2021</c:v>
                  </c:pt>
                  <c:pt idx="177">
                    <c:v>2021</c:v>
                  </c:pt>
                  <c:pt idx="178">
                    <c:v>2021</c:v>
                  </c:pt>
                  <c:pt idx="179">
                    <c:v>2021</c:v>
                  </c:pt>
                  <c:pt idx="180">
                    <c:v>2021</c:v>
                  </c:pt>
                  <c:pt idx="181">
                    <c:v>2021</c:v>
                  </c:pt>
                  <c:pt idx="182">
                    <c:v>2021</c:v>
                  </c:pt>
                  <c:pt idx="183">
                    <c:v>2022</c:v>
                  </c:pt>
                  <c:pt idx="184">
                    <c:v>2022</c:v>
                  </c:pt>
                  <c:pt idx="185">
                    <c:v>2022</c:v>
                  </c:pt>
                  <c:pt idx="186">
                    <c:v>2022</c:v>
                  </c:pt>
                  <c:pt idx="187">
                    <c:v>2022</c:v>
                  </c:pt>
                  <c:pt idx="188">
                    <c:v>2022</c:v>
                  </c:pt>
                  <c:pt idx="189">
                    <c:v>2022</c:v>
                  </c:pt>
                  <c:pt idx="190">
                    <c:v>2022</c:v>
                  </c:pt>
                  <c:pt idx="191">
                    <c:v>2022</c:v>
                  </c:pt>
                  <c:pt idx="192">
                    <c:v>2022</c:v>
                  </c:pt>
                  <c:pt idx="193">
                    <c:v>2022</c:v>
                  </c:pt>
                  <c:pt idx="194">
                    <c:v>2022</c:v>
                  </c:pt>
                  <c:pt idx="195">
                    <c:v>2023</c:v>
                  </c:pt>
                  <c:pt idx="196">
                    <c:v>2023</c:v>
                  </c:pt>
                  <c:pt idx="197">
                    <c:v>2023</c:v>
                  </c:pt>
                  <c:pt idx="198">
                    <c:v>2023</c:v>
                  </c:pt>
                  <c:pt idx="199">
                    <c:v>2023</c:v>
                  </c:pt>
                  <c:pt idx="200">
                    <c:v>2023</c:v>
                  </c:pt>
                  <c:pt idx="201">
                    <c:v>2023</c:v>
                  </c:pt>
                  <c:pt idx="202">
                    <c:v>2023</c:v>
                  </c:pt>
                  <c:pt idx="203">
                    <c:v>2023</c:v>
                  </c:pt>
                  <c:pt idx="204">
                    <c:v>2023</c:v>
                  </c:pt>
                  <c:pt idx="205">
                    <c:v>2023</c:v>
                  </c:pt>
                  <c:pt idx="206">
                    <c:v>2023</c:v>
                  </c:pt>
                  <c:pt idx="207">
                    <c:v>2024</c:v>
                  </c:pt>
                  <c:pt idx="208">
                    <c:v>2024</c:v>
                  </c:pt>
                  <c:pt idx="209">
                    <c:v>2024</c:v>
                  </c:pt>
                  <c:pt idx="210">
                    <c:v>2024</c:v>
                  </c:pt>
                  <c:pt idx="211">
                    <c:v>2024</c:v>
                  </c:pt>
                  <c:pt idx="212">
                    <c:v>2024</c:v>
                  </c:pt>
                  <c:pt idx="213">
                    <c:v>2024</c:v>
                  </c:pt>
                  <c:pt idx="214">
                    <c:v>2024</c:v>
                  </c:pt>
                  <c:pt idx="215">
                    <c:v>2024</c:v>
                  </c:pt>
                  <c:pt idx="216">
                    <c:v>2024</c:v>
                  </c:pt>
                  <c:pt idx="217">
                    <c:v>2024</c:v>
                  </c:pt>
                  <c:pt idx="218">
                    <c:v>2024</c:v>
                  </c:pt>
                  <c:pt idx="219">
                    <c:v>2025</c:v>
                  </c:pt>
                  <c:pt idx="220">
                    <c:v>2025</c:v>
                  </c:pt>
                  <c:pt idx="221">
                    <c:v>2025</c:v>
                  </c:pt>
                  <c:pt idx="222">
                    <c:v>2025</c:v>
                  </c:pt>
                  <c:pt idx="223">
                    <c:v>2025</c:v>
                  </c:pt>
                  <c:pt idx="224">
                    <c:v>2025</c:v>
                  </c:pt>
                  <c:pt idx="225">
                    <c:v>2025</c:v>
                  </c:pt>
                  <c:pt idx="226">
                    <c:v>2025</c:v>
                  </c:pt>
                  <c:pt idx="227">
                    <c:v>2025</c:v>
                  </c:pt>
                  <c:pt idx="228">
                    <c:v>2025</c:v>
                  </c:pt>
                  <c:pt idx="229">
                    <c:v>2025</c:v>
                  </c:pt>
                  <c:pt idx="230">
                    <c:v>2025</c:v>
                  </c:pt>
                  <c:pt idx="231">
                    <c:v>2026</c:v>
                  </c:pt>
                  <c:pt idx="232">
                    <c:v>2026</c:v>
                  </c:pt>
                  <c:pt idx="233">
                    <c:v>2026</c:v>
                  </c:pt>
                  <c:pt idx="234">
                    <c:v>2026</c:v>
                  </c:pt>
                  <c:pt idx="235">
                    <c:v>2026</c:v>
                  </c:pt>
                  <c:pt idx="236">
                    <c:v>2026</c:v>
                  </c:pt>
                  <c:pt idx="237">
                    <c:v>2026</c:v>
                  </c:pt>
                  <c:pt idx="238">
                    <c:v>2026</c:v>
                  </c:pt>
                  <c:pt idx="239">
                    <c:v>2026</c:v>
                  </c:pt>
                </c:lvl>
              </c:multiLvlStrCache>
            </c:multiLvlStrRef>
          </c:cat>
          <c:val>
            <c:numRef>
              <c:f>Sheet1!$B$2:$B$241</c:f>
              <c:numCache>
                <c:formatCode>General</c:formatCode>
                <c:ptCount val="240"/>
                <c:pt idx="0">
                  <c:v>99.9</c:v>
                </c:pt>
                <c:pt idx="1">
                  <c:v>100.21</c:v>
                </c:pt>
                <c:pt idx="2">
                  <c:v>100.53</c:v>
                </c:pt>
                <c:pt idx="3">
                  <c:v>101.3</c:v>
                </c:pt>
                <c:pt idx="4">
                  <c:v>101.15</c:v>
                </c:pt>
                <c:pt idx="5">
                  <c:v>101.39</c:v>
                </c:pt>
                <c:pt idx="6">
                  <c:v>101.83</c:v>
                </c:pt>
                <c:pt idx="7">
                  <c:v>102.6</c:v>
                </c:pt>
                <c:pt idx="8">
                  <c:v>102.09</c:v>
                </c:pt>
                <c:pt idx="9">
                  <c:v>101.84</c:v>
                </c:pt>
                <c:pt idx="10">
                  <c:v>102.73</c:v>
                </c:pt>
                <c:pt idx="11">
                  <c:v>103.29</c:v>
                </c:pt>
                <c:pt idx="12">
                  <c:v>104.83</c:v>
                </c:pt>
                <c:pt idx="13">
                  <c:v>103.6</c:v>
                </c:pt>
                <c:pt idx="14">
                  <c:v>103.1</c:v>
                </c:pt>
                <c:pt idx="15">
                  <c:v>102.31</c:v>
                </c:pt>
                <c:pt idx="16">
                  <c:v>101.92</c:v>
                </c:pt>
                <c:pt idx="17">
                  <c:v>99.99</c:v>
                </c:pt>
                <c:pt idx="18">
                  <c:v>101.3</c:v>
                </c:pt>
                <c:pt idx="19">
                  <c:v>101.17</c:v>
                </c:pt>
                <c:pt idx="20">
                  <c:v>97.5</c:v>
                </c:pt>
                <c:pt idx="21">
                  <c:v>98.1</c:v>
                </c:pt>
                <c:pt idx="22">
                  <c:v>99.5</c:v>
                </c:pt>
                <c:pt idx="23">
                  <c:v>98.12</c:v>
                </c:pt>
                <c:pt idx="24">
                  <c:v>95.58</c:v>
                </c:pt>
                <c:pt idx="25">
                  <c:v>95.38</c:v>
                </c:pt>
                <c:pt idx="26">
                  <c:v>95</c:v>
                </c:pt>
                <c:pt idx="27">
                  <c:v>94.27</c:v>
                </c:pt>
                <c:pt idx="28">
                  <c:v>92.2</c:v>
                </c:pt>
                <c:pt idx="29">
                  <c:v>93.8</c:v>
                </c:pt>
                <c:pt idx="30">
                  <c:v>97.55</c:v>
                </c:pt>
                <c:pt idx="31">
                  <c:v>98.63</c:v>
                </c:pt>
                <c:pt idx="32">
                  <c:v>99.04</c:v>
                </c:pt>
                <c:pt idx="33">
                  <c:v>102.27</c:v>
                </c:pt>
                <c:pt idx="34">
                  <c:v>103.59</c:v>
                </c:pt>
                <c:pt idx="35">
                  <c:v>104.91</c:v>
                </c:pt>
                <c:pt idx="36">
                  <c:v>103.96</c:v>
                </c:pt>
                <c:pt idx="37">
                  <c:v>105.77</c:v>
                </c:pt>
                <c:pt idx="38">
                  <c:v>107.66</c:v>
                </c:pt>
                <c:pt idx="39">
                  <c:v>107.21</c:v>
                </c:pt>
                <c:pt idx="40">
                  <c:v>108.95</c:v>
                </c:pt>
                <c:pt idx="41">
                  <c:v>112.08</c:v>
                </c:pt>
                <c:pt idx="42">
                  <c:v>112.85</c:v>
                </c:pt>
                <c:pt idx="43">
                  <c:v>112.99</c:v>
                </c:pt>
                <c:pt idx="44">
                  <c:v>111.72</c:v>
                </c:pt>
                <c:pt idx="45">
                  <c:v>113.11</c:v>
                </c:pt>
                <c:pt idx="46">
                  <c:v>114.22</c:v>
                </c:pt>
                <c:pt idx="47">
                  <c:v>114.42</c:v>
                </c:pt>
                <c:pt idx="48">
                  <c:v>115.45</c:v>
                </c:pt>
                <c:pt idx="49">
                  <c:v>114.56</c:v>
                </c:pt>
                <c:pt idx="50">
                  <c:v>116.85</c:v>
                </c:pt>
                <c:pt idx="51">
                  <c:v>116.22</c:v>
                </c:pt>
                <c:pt idx="52">
                  <c:v>117.34</c:v>
                </c:pt>
                <c:pt idx="53">
                  <c:v>115.93</c:v>
                </c:pt>
                <c:pt idx="54">
                  <c:v>116.15</c:v>
                </c:pt>
                <c:pt idx="55">
                  <c:v>117.63</c:v>
                </c:pt>
                <c:pt idx="56">
                  <c:v>116.57</c:v>
                </c:pt>
                <c:pt idx="57">
                  <c:v>116.1</c:v>
                </c:pt>
                <c:pt idx="58">
                  <c:v>115.1</c:v>
                </c:pt>
                <c:pt idx="59">
                  <c:v>113.25</c:v>
                </c:pt>
                <c:pt idx="60">
                  <c:v>114.65</c:v>
                </c:pt>
                <c:pt idx="61">
                  <c:v>114.17</c:v>
                </c:pt>
                <c:pt idx="62">
                  <c:v>117.39</c:v>
                </c:pt>
                <c:pt idx="63">
                  <c:v>120.89</c:v>
                </c:pt>
                <c:pt idx="64">
                  <c:v>123.29</c:v>
                </c:pt>
                <c:pt idx="65">
                  <c:v>123.96</c:v>
                </c:pt>
                <c:pt idx="66">
                  <c:v>123.32</c:v>
                </c:pt>
                <c:pt idx="67">
                  <c:v>122.43</c:v>
                </c:pt>
                <c:pt idx="68">
                  <c:v>124.13</c:v>
                </c:pt>
                <c:pt idx="69">
                  <c:v>126.37</c:v>
                </c:pt>
                <c:pt idx="70">
                  <c:v>127.31</c:v>
                </c:pt>
                <c:pt idx="71">
                  <c:v>128.09</c:v>
                </c:pt>
                <c:pt idx="72">
                  <c:v>128.38</c:v>
                </c:pt>
                <c:pt idx="73">
                  <c:v>129.88</c:v>
                </c:pt>
                <c:pt idx="74">
                  <c:v>130.76</c:v>
                </c:pt>
                <c:pt idx="75">
                  <c:v>130.51</c:v>
                </c:pt>
                <c:pt idx="76">
                  <c:v>131.56</c:v>
                </c:pt>
                <c:pt idx="77">
                  <c:v>133.81</c:v>
                </c:pt>
                <c:pt idx="78">
                  <c:v>135.6</c:v>
                </c:pt>
                <c:pt idx="79">
                  <c:v>134.48</c:v>
                </c:pt>
                <c:pt idx="80">
                  <c:v>131.39</c:v>
                </c:pt>
                <c:pt idx="81">
                  <c:v>133.57</c:v>
                </c:pt>
                <c:pt idx="82">
                  <c:v>133.07</c:v>
                </c:pt>
                <c:pt idx="83">
                  <c:v>135.02</c:v>
                </c:pt>
                <c:pt idx="84">
                  <c:v>136.9</c:v>
                </c:pt>
                <c:pt idx="85">
                  <c:v>137.75</c:v>
                </c:pt>
                <c:pt idx="86">
                  <c:v>137.07</c:v>
                </c:pt>
                <c:pt idx="87">
                  <c:v>137.46</c:v>
                </c:pt>
                <c:pt idx="88">
                  <c:v>139.65</c:v>
                </c:pt>
                <c:pt idx="89">
                  <c:v>139.94</c:v>
                </c:pt>
                <c:pt idx="90">
                  <c:v>140.97</c:v>
                </c:pt>
                <c:pt idx="91">
                  <c:v>143.17</c:v>
                </c:pt>
                <c:pt idx="92">
                  <c:v>144.84</c:v>
                </c:pt>
                <c:pt idx="93">
                  <c:v>145.3</c:v>
                </c:pt>
                <c:pt idx="94">
                  <c:v>148.07</c:v>
                </c:pt>
                <c:pt idx="95">
                  <c:v>148.18</c:v>
                </c:pt>
                <c:pt idx="96">
                  <c:v>148.65</c:v>
                </c:pt>
                <c:pt idx="97">
                  <c:v>150.49</c:v>
                </c:pt>
                <c:pt idx="98">
                  <c:v>150.73</c:v>
                </c:pt>
                <c:pt idx="99">
                  <c:v>155.75</c:v>
                </c:pt>
                <c:pt idx="100">
                  <c:v>159.45</c:v>
                </c:pt>
                <c:pt idx="101">
                  <c:v>161.04</c:v>
                </c:pt>
                <c:pt idx="102">
                  <c:v>160.54</c:v>
                </c:pt>
                <c:pt idx="103">
                  <c:v>160.26</c:v>
                </c:pt>
                <c:pt idx="104">
                  <c:v>156.24</c:v>
                </c:pt>
                <c:pt idx="105">
                  <c:v>159.12</c:v>
                </c:pt>
                <c:pt idx="106">
                  <c:v>153.99</c:v>
                </c:pt>
                <c:pt idx="107">
                  <c:v>152.72</c:v>
                </c:pt>
                <c:pt idx="108">
                  <c:v>158.47</c:v>
                </c:pt>
                <c:pt idx="109">
                  <c:v>160.54</c:v>
                </c:pt>
                <c:pt idx="110">
                  <c:v>156.59</c:v>
                </c:pt>
                <c:pt idx="111">
                  <c:v>155.4</c:v>
                </c:pt>
                <c:pt idx="112">
                  <c:v>155.18</c:v>
                </c:pt>
                <c:pt idx="113">
                  <c:v>157.2</c:v>
                </c:pt>
                <c:pt idx="114">
                  <c:v>157.55</c:v>
                </c:pt>
                <c:pt idx="115">
                  <c:v>158.94</c:v>
                </c:pt>
                <c:pt idx="116">
                  <c:v>160.08</c:v>
                </c:pt>
                <c:pt idx="117">
                  <c:v>162.81</c:v>
                </c:pt>
                <c:pt idx="118">
                  <c:v>162.68</c:v>
                </c:pt>
                <c:pt idx="119">
                  <c:v>163.11</c:v>
                </c:pt>
                <c:pt idx="120">
                  <c:v>161.73</c:v>
                </c:pt>
                <c:pt idx="121">
                  <c:v>161.98</c:v>
                </c:pt>
                <c:pt idx="122">
                  <c:v>164.49</c:v>
                </c:pt>
                <c:pt idx="123">
                  <c:v>164.08</c:v>
                </c:pt>
                <c:pt idx="124">
                  <c:v>166.72</c:v>
                </c:pt>
                <c:pt idx="125">
                  <c:v>166.72</c:v>
                </c:pt>
                <c:pt idx="126">
                  <c:v>167.52</c:v>
                </c:pt>
                <c:pt idx="127">
                  <c:v>167.88</c:v>
                </c:pt>
                <c:pt idx="128">
                  <c:v>166.15</c:v>
                </c:pt>
                <c:pt idx="129">
                  <c:v>166.54</c:v>
                </c:pt>
                <c:pt idx="130">
                  <c:v>166.94</c:v>
                </c:pt>
                <c:pt idx="131">
                  <c:v>167.96</c:v>
                </c:pt>
                <c:pt idx="132">
                  <c:v>170.51</c:v>
                </c:pt>
                <c:pt idx="133">
                  <c:v>170.53</c:v>
                </c:pt>
                <c:pt idx="134">
                  <c:v>170.45</c:v>
                </c:pt>
                <c:pt idx="135">
                  <c:v>170.98</c:v>
                </c:pt>
                <c:pt idx="136">
                  <c:v>169.29</c:v>
                </c:pt>
                <c:pt idx="137">
                  <c:v>169.48</c:v>
                </c:pt>
                <c:pt idx="138">
                  <c:v>170.5</c:v>
                </c:pt>
                <c:pt idx="139">
                  <c:v>171.13</c:v>
                </c:pt>
                <c:pt idx="140">
                  <c:v>170.6</c:v>
                </c:pt>
                <c:pt idx="141">
                  <c:v>171.36</c:v>
                </c:pt>
                <c:pt idx="142">
                  <c:v>170.29</c:v>
                </c:pt>
                <c:pt idx="143">
                  <c:v>170.36</c:v>
                </c:pt>
                <c:pt idx="144">
                  <c:v>167.18</c:v>
                </c:pt>
                <c:pt idx="145">
                  <c:v>168.78</c:v>
                </c:pt>
                <c:pt idx="146">
                  <c:v>165.96</c:v>
                </c:pt>
                <c:pt idx="147">
                  <c:v>170.3</c:v>
                </c:pt>
                <c:pt idx="148">
                  <c:v>172.19</c:v>
                </c:pt>
                <c:pt idx="149">
                  <c:v>174.01</c:v>
                </c:pt>
                <c:pt idx="150">
                  <c:v>176.74</c:v>
                </c:pt>
                <c:pt idx="151">
                  <c:v>175</c:v>
                </c:pt>
                <c:pt idx="152">
                  <c:v>178.42</c:v>
                </c:pt>
                <c:pt idx="153">
                  <c:v>181.13</c:v>
                </c:pt>
                <c:pt idx="154">
                  <c:v>181.92</c:v>
                </c:pt>
                <c:pt idx="155">
                  <c:v>183.19</c:v>
                </c:pt>
                <c:pt idx="156">
                  <c:v>183.61</c:v>
                </c:pt>
                <c:pt idx="157">
                  <c:v>184.8</c:v>
                </c:pt>
                <c:pt idx="158">
                  <c:v>185.96</c:v>
                </c:pt>
                <c:pt idx="159">
                  <c:v>187.52</c:v>
                </c:pt>
                <c:pt idx="160">
                  <c:v>183.02</c:v>
                </c:pt>
                <c:pt idx="161">
                  <c:v>173.25</c:v>
                </c:pt>
                <c:pt idx="162">
                  <c:v>178.4</c:v>
                </c:pt>
                <c:pt idx="163">
                  <c:v>180.95</c:v>
                </c:pt>
                <c:pt idx="164">
                  <c:v>183.58</c:v>
                </c:pt>
                <c:pt idx="165">
                  <c:v>184.13</c:v>
                </c:pt>
                <c:pt idx="166">
                  <c:v>186.43</c:v>
                </c:pt>
                <c:pt idx="167">
                  <c:v>186.21</c:v>
                </c:pt>
                <c:pt idx="168">
                  <c:v>185.75</c:v>
                </c:pt>
                <c:pt idx="169">
                  <c:v>191.18</c:v>
                </c:pt>
                <c:pt idx="170">
                  <c:v>192.48</c:v>
                </c:pt>
                <c:pt idx="171">
                  <c:v>193.6</c:v>
                </c:pt>
                <c:pt idx="172">
                  <c:v>192.89</c:v>
                </c:pt>
                <c:pt idx="173">
                  <c:v>197.42</c:v>
                </c:pt>
                <c:pt idx="174">
                  <c:v>197.42</c:v>
                </c:pt>
                <c:pt idx="175">
                  <c:v>198.54</c:v>
                </c:pt>
                <c:pt idx="176">
                  <c:v>200.62</c:v>
                </c:pt>
                <c:pt idx="177">
                  <c:v>202.87</c:v>
                </c:pt>
                <c:pt idx="178">
                  <c:v>204.35</c:v>
                </c:pt>
                <c:pt idx="179">
                  <c:v>202.31</c:v>
                </c:pt>
                <c:pt idx="180">
                  <c:v>204.59</c:v>
                </c:pt>
                <c:pt idx="181">
                  <c:v>205.72</c:v>
                </c:pt>
                <c:pt idx="182">
                  <c:v>207.11</c:v>
                </c:pt>
                <c:pt idx="183">
                  <c:v>204.09</c:v>
                </c:pt>
                <c:pt idx="184">
                  <c:v>200.94</c:v>
                </c:pt>
                <c:pt idx="185">
                  <c:v>201.24</c:v>
                </c:pt>
                <c:pt idx="186">
                  <c:v>198.29</c:v>
                </c:pt>
                <c:pt idx="187">
                  <c:v>194.41</c:v>
                </c:pt>
                <c:pt idx="188">
                  <c:v>189.15</c:v>
                </c:pt>
                <c:pt idx="189">
                  <c:v>197.4</c:v>
                </c:pt>
                <c:pt idx="190">
                  <c:v>190.81</c:v>
                </c:pt>
                <c:pt idx="191">
                  <c:v>182.53</c:v>
                </c:pt>
                <c:pt idx="192">
                  <c:v>185.09</c:v>
                </c:pt>
                <c:pt idx="193">
                  <c:v>190.08</c:v>
                </c:pt>
                <c:pt idx="194">
                  <c:v>183.44</c:v>
                </c:pt>
                <c:pt idx="195">
                  <c:v>188.96</c:v>
                </c:pt>
                <c:pt idx="196">
                  <c:v>186.53</c:v>
                </c:pt>
                <c:pt idx="197">
                  <c:v>189.65</c:v>
                </c:pt>
                <c:pt idx="198">
                  <c:v>189.88</c:v>
                </c:pt>
                <c:pt idx="199">
                  <c:v>191.5</c:v>
                </c:pt>
                <c:pt idx="200">
                  <c:v>192.23</c:v>
                </c:pt>
                <c:pt idx="201">
                  <c:v>194.2</c:v>
                </c:pt>
                <c:pt idx="202">
                  <c:v>193.36</c:v>
                </c:pt>
                <c:pt idx="203">
                  <c:v>189.94</c:v>
                </c:pt>
                <c:pt idx="204">
                  <c:v>189</c:v>
                </c:pt>
                <c:pt idx="205">
                  <c:v>194.9</c:v>
                </c:pt>
                <c:pt idx="206">
                  <c:v>200.43</c:v>
                </c:pt>
                <c:pt idx="207">
                  <c:v>201.16</c:v>
                </c:pt>
                <c:pt idx="208">
                  <c:v>202.17</c:v>
                </c:pt>
                <c:pt idx="209">
                  <c:v>206.21</c:v>
                </c:pt>
                <c:pt idx="210">
                  <c:v>204.15</c:v>
                </c:pt>
                <c:pt idx="211">
                  <c:v>205.7</c:v>
                </c:pt>
                <c:pt idx="212">
                  <c:v>208.09</c:v>
                </c:pt>
                <c:pt idx="213">
                  <c:v>210.99</c:v>
                </c:pt>
                <c:pt idx="214">
                  <c:v>211.27</c:v>
                </c:pt>
                <c:pt idx="215">
                  <c:v>214.37</c:v>
                </c:pt>
                <c:pt idx="216">
                  <c:v>213.16</c:v>
                </c:pt>
                <c:pt idx="217">
                  <c:v>218.27</c:v>
                </c:pt>
                <c:pt idx="218">
                  <c:v>216.28</c:v>
                </c:pt>
                <c:pt idx="219">
                  <c:v>219.99</c:v>
                </c:pt>
                <c:pt idx="220">
                  <c:v>220.86</c:v>
                </c:pt>
                <c:pt idx="221">
                  <c:v>216.12</c:v>
                </c:pt>
                <c:pt idx="222">
                  <c:v>216.18</c:v>
                </c:pt>
                <c:pt idx="223">
                  <c:v>220.47</c:v>
                </c:pt>
                <c:pt idx="224">
                  <c:v>220.62</c:v>
                </c:pt>
                <c:pt idx="225">
                  <c:v>222.79</c:v>
                </c:pt>
                <c:pt idx="226">
                  <c:v>223.09</c:v>
                </c:pt>
                <c:pt idx="227">
                  <c:v>226.25</c:v>
                </c:pt>
                <c:pt idx="228">
                  <c:v>230.54</c:v>
                </c:pt>
                <c:pt idx="229">
                  <c:v>230.77</c:v>
                </c:pt>
                <c:pt idx="230">
                  <c:v>231.07</c:v>
                </c:pt>
                <c:pt idx="231">
                  <c:v>234.57</c:v>
                </c:pt>
                <c:pt idx="232">
                  <c:v>237.88</c:v>
                </c:pt>
                <c:pt idx="233">
                  <c:v>229.96</c:v>
                </c:pt>
                <c:pt idx="234">
                  <c:v>235.8</c:v>
                </c:pt>
                <c:pt idx="235">
                  <c:v>239.83</c:v>
                </c:pt>
                <c:pt idx="236">
                  <c:v>241.15</c:v>
                </c:pt>
                <c:pt idx="237">
                  <c:v>238.64</c:v>
                </c:pt>
                <c:pt idx="238">
                  <c:v>240.5</c:v>
                </c:pt>
                <c:pt idx="239">
                  <c:v>238.51</c:v>
                </c:pt>
              </c:numCache>
            </c:numRef>
          </c:val>
          <c:smooth val="0"/>
        </c:ser>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tickLblSkip val="24"/>
      </c:catAx>
      <c:valAx>
        <c:axId val="2094734552"/>
        <c:scaling>
          <c:orientation val="minMax"/>
          <c:min val="80"/>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Écart au plus haut (%), limite du mandat −15 %</a:t>
            </a:r>
          </a:p>
        </c:rich>
      </c:tx>
      <c:layout/>
      <c:overlay val="0"/>
    </c:title>
    <c:autoTitleDeleted val="0"/>
    <c:plotArea>
      <c:layout/>
      <c:areaChart>
        <c:varyColors val="0"/>
        <c:ser>
          <c:idx val="0"/>
          <c:order val="0"/>
          <c:tx>
            <c:strRef>
              <c:f>Sheet1!$B$1</c:f>
              <c:strCache>
                <c:ptCount val="1"/>
                <c:pt idx="0">
                  <c:v>Écart au plus haut</c:v>
                </c:pt>
              </c:strCache>
            </c:strRef>
          </c:tx>
          <c:spPr>
            <a:solidFill>
              <a:srgbClr val="2A78D6">
                <a:alpha val="35000"/>
              </a:srgbClr>
            </a:solidFill>
            <a:effectLst/>
          </c:spPr>
          <c:invertIfNegative val="0"/>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cat>
            <c:multiLvlStrRef>
              <c:f>Sheet1!$A$2:$A$241</c:f>
              <c:multiLvlStrCache>
                <c:ptCount val="240"/>
                <c:lvl>
                  <c:pt idx="0">
                    <c:v>2006</c:v>
                  </c:pt>
                  <c:pt idx="1">
                    <c:v>2006</c:v>
                  </c:pt>
                  <c:pt idx="2">
                    <c:v>2006</c:v>
                  </c:pt>
                  <c:pt idx="3">
                    <c:v>2007</c:v>
                  </c:pt>
                  <c:pt idx="4">
                    <c:v>2007</c:v>
                  </c:pt>
                  <c:pt idx="5">
                    <c:v>2007</c:v>
                  </c:pt>
                  <c:pt idx="6">
                    <c:v>2007</c:v>
                  </c:pt>
                  <c:pt idx="7">
                    <c:v>2007</c:v>
                  </c:pt>
                  <c:pt idx="8">
                    <c:v>2007</c:v>
                  </c:pt>
                  <c:pt idx="9">
                    <c:v>2007</c:v>
                  </c:pt>
                  <c:pt idx="10">
                    <c:v>2007</c:v>
                  </c:pt>
                  <c:pt idx="11">
                    <c:v>2007</c:v>
                  </c:pt>
                  <c:pt idx="12">
                    <c:v>2007</c:v>
                  </c:pt>
                  <c:pt idx="13">
                    <c:v>2007</c:v>
                  </c:pt>
                  <c:pt idx="14">
                    <c:v>2007</c:v>
                  </c:pt>
                  <c:pt idx="15">
                    <c:v>2008</c:v>
                  </c:pt>
                  <c:pt idx="16">
                    <c:v>2008</c:v>
                  </c:pt>
                  <c:pt idx="17">
                    <c:v>2008</c:v>
                  </c:pt>
                  <c:pt idx="18">
                    <c:v>2008</c:v>
                  </c:pt>
                  <c:pt idx="19">
                    <c:v>2008</c:v>
                  </c:pt>
                  <c:pt idx="20">
                    <c:v>2008</c:v>
                  </c:pt>
                  <c:pt idx="21">
                    <c:v>2008</c:v>
                  </c:pt>
                  <c:pt idx="22">
                    <c:v>2008</c:v>
                  </c:pt>
                  <c:pt idx="23">
                    <c:v>2008</c:v>
                  </c:pt>
                  <c:pt idx="24">
                    <c:v>2008</c:v>
                  </c:pt>
                  <c:pt idx="25">
                    <c:v>2008</c:v>
                  </c:pt>
                  <c:pt idx="26">
                    <c:v>2008</c:v>
                  </c:pt>
                  <c:pt idx="27">
                    <c:v>2009</c:v>
                  </c:pt>
                  <c:pt idx="28">
                    <c:v>2009</c:v>
                  </c:pt>
                  <c:pt idx="29">
                    <c:v>2009</c:v>
                  </c:pt>
                  <c:pt idx="30">
                    <c:v>2009</c:v>
                  </c:pt>
                  <c:pt idx="31">
                    <c:v>2009</c:v>
                  </c:pt>
                  <c:pt idx="32">
                    <c:v>2009</c:v>
                  </c:pt>
                  <c:pt idx="33">
                    <c:v>2009</c:v>
                  </c:pt>
                  <c:pt idx="34">
                    <c:v>2009</c:v>
                  </c:pt>
                  <c:pt idx="35">
                    <c:v>2009</c:v>
                  </c:pt>
                  <c:pt idx="36">
                    <c:v>2009</c:v>
                  </c:pt>
                  <c:pt idx="37">
                    <c:v>2009</c:v>
                  </c:pt>
                  <c:pt idx="38">
                    <c:v>2009</c:v>
                  </c:pt>
                  <c:pt idx="39">
                    <c:v>2010</c:v>
                  </c:pt>
                  <c:pt idx="40">
                    <c:v>2010</c:v>
                  </c:pt>
                  <c:pt idx="41">
                    <c:v>2010</c:v>
                  </c:pt>
                  <c:pt idx="42">
                    <c:v>2010</c:v>
                  </c:pt>
                  <c:pt idx="43">
                    <c:v>2010</c:v>
                  </c:pt>
                  <c:pt idx="44">
                    <c:v>2010</c:v>
                  </c:pt>
                  <c:pt idx="45">
                    <c:v>2010</c:v>
                  </c:pt>
                  <c:pt idx="46">
                    <c:v>2010</c:v>
                  </c:pt>
                  <c:pt idx="47">
                    <c:v>2010</c:v>
                  </c:pt>
                  <c:pt idx="48">
                    <c:v>2010</c:v>
                  </c:pt>
                  <c:pt idx="49">
                    <c:v>2010</c:v>
                  </c:pt>
                  <c:pt idx="50">
                    <c:v>2010</c:v>
                  </c:pt>
                  <c:pt idx="51">
                    <c:v>2011</c:v>
                  </c:pt>
                  <c:pt idx="52">
                    <c:v>2011</c:v>
                  </c:pt>
                  <c:pt idx="53">
                    <c:v>2011</c:v>
                  </c:pt>
                  <c:pt idx="54">
                    <c:v>2011</c:v>
                  </c:pt>
                  <c:pt idx="55">
                    <c:v>2011</c:v>
                  </c:pt>
                  <c:pt idx="56">
                    <c:v>2011</c:v>
                  </c:pt>
                  <c:pt idx="57">
                    <c:v>2011</c:v>
                  </c:pt>
                  <c:pt idx="58">
                    <c:v>2011</c:v>
                  </c:pt>
                  <c:pt idx="59">
                    <c:v>2011</c:v>
                  </c:pt>
                  <c:pt idx="60">
                    <c:v>2011</c:v>
                  </c:pt>
                  <c:pt idx="61">
                    <c:v>2011</c:v>
                  </c:pt>
                  <c:pt idx="62">
                    <c:v>2011</c:v>
                  </c:pt>
                  <c:pt idx="63">
                    <c:v>2012</c:v>
                  </c:pt>
                  <c:pt idx="64">
                    <c:v>2012</c:v>
                  </c:pt>
                  <c:pt idx="65">
                    <c:v>2012</c:v>
                  </c:pt>
                  <c:pt idx="66">
                    <c:v>2012</c:v>
                  </c:pt>
                  <c:pt idx="67">
                    <c:v>2012</c:v>
                  </c:pt>
                  <c:pt idx="68">
                    <c:v>2012</c:v>
                  </c:pt>
                  <c:pt idx="69">
                    <c:v>2012</c:v>
                  </c:pt>
                  <c:pt idx="70">
                    <c:v>2012</c:v>
                  </c:pt>
                  <c:pt idx="71">
                    <c:v>2012</c:v>
                  </c:pt>
                  <c:pt idx="72">
                    <c:v>2012</c:v>
                  </c:pt>
                  <c:pt idx="73">
                    <c:v>2012</c:v>
                  </c:pt>
                  <c:pt idx="74">
                    <c:v>2012</c:v>
                  </c:pt>
                  <c:pt idx="75">
                    <c:v>2013</c:v>
                  </c:pt>
                  <c:pt idx="76">
                    <c:v>2013</c:v>
                  </c:pt>
                  <c:pt idx="77">
                    <c:v>2013</c:v>
                  </c:pt>
                  <c:pt idx="78">
                    <c:v>2013</c:v>
                  </c:pt>
                  <c:pt idx="79">
                    <c:v>2013</c:v>
                  </c:pt>
                  <c:pt idx="80">
                    <c:v>2013</c:v>
                  </c:pt>
                  <c:pt idx="81">
                    <c:v>2013</c:v>
                  </c:pt>
                  <c:pt idx="82">
                    <c:v>2013</c:v>
                  </c:pt>
                  <c:pt idx="83">
                    <c:v>2013</c:v>
                  </c:pt>
                  <c:pt idx="84">
                    <c:v>2013</c:v>
                  </c:pt>
                  <c:pt idx="85">
                    <c:v>2013</c:v>
                  </c:pt>
                  <c:pt idx="86">
                    <c:v>2013</c:v>
                  </c:pt>
                  <c:pt idx="87">
                    <c:v>2014</c:v>
                  </c:pt>
                  <c:pt idx="88">
                    <c:v>2014</c:v>
                  </c:pt>
                  <c:pt idx="89">
                    <c:v>2014</c:v>
                  </c:pt>
                  <c:pt idx="90">
                    <c:v>2014</c:v>
                  </c:pt>
                  <c:pt idx="91">
                    <c:v>2014</c:v>
                  </c:pt>
                  <c:pt idx="92">
                    <c:v>2014</c:v>
                  </c:pt>
                  <c:pt idx="93">
                    <c:v>2014</c:v>
                  </c:pt>
                  <c:pt idx="94">
                    <c:v>2014</c:v>
                  </c:pt>
                  <c:pt idx="95">
                    <c:v>2014</c:v>
                  </c:pt>
                  <c:pt idx="96">
                    <c:v>2014</c:v>
                  </c:pt>
                  <c:pt idx="97">
                    <c:v>2014</c:v>
                  </c:pt>
                  <c:pt idx="98">
                    <c:v>2014</c:v>
                  </c:pt>
                  <c:pt idx="99">
                    <c:v>2015</c:v>
                  </c:pt>
                  <c:pt idx="100">
                    <c:v>2015</c:v>
                  </c:pt>
                  <c:pt idx="101">
                    <c:v>2015</c:v>
                  </c:pt>
                  <c:pt idx="102">
                    <c:v>2015</c:v>
                  </c:pt>
                  <c:pt idx="103">
                    <c:v>2015</c:v>
                  </c:pt>
                  <c:pt idx="104">
                    <c:v>2015</c:v>
                  </c:pt>
                  <c:pt idx="105">
                    <c:v>2015</c:v>
                  </c:pt>
                  <c:pt idx="106">
                    <c:v>2015</c:v>
                  </c:pt>
                  <c:pt idx="107">
                    <c:v>2015</c:v>
                  </c:pt>
                  <c:pt idx="108">
                    <c:v>2015</c:v>
                  </c:pt>
                  <c:pt idx="109">
                    <c:v>2015</c:v>
                  </c:pt>
                  <c:pt idx="110">
                    <c:v>2015</c:v>
                  </c:pt>
                  <c:pt idx="111">
                    <c:v>2016</c:v>
                  </c:pt>
                  <c:pt idx="112">
                    <c:v>2016</c:v>
                  </c:pt>
                  <c:pt idx="113">
                    <c:v>2016</c:v>
                  </c:pt>
                  <c:pt idx="114">
                    <c:v>2016</c:v>
                  </c:pt>
                  <c:pt idx="115">
                    <c:v>2016</c:v>
                  </c:pt>
                  <c:pt idx="116">
                    <c:v>2016</c:v>
                  </c:pt>
                  <c:pt idx="117">
                    <c:v>2016</c:v>
                  </c:pt>
                  <c:pt idx="118">
                    <c:v>2016</c:v>
                  </c:pt>
                  <c:pt idx="119">
                    <c:v>2016</c:v>
                  </c:pt>
                  <c:pt idx="120">
                    <c:v>2016</c:v>
                  </c:pt>
                  <c:pt idx="121">
                    <c:v>2016</c:v>
                  </c:pt>
                  <c:pt idx="122">
                    <c:v>2016</c:v>
                  </c:pt>
                  <c:pt idx="123">
                    <c:v>2017</c:v>
                  </c:pt>
                  <c:pt idx="124">
                    <c:v>2017</c:v>
                  </c:pt>
                  <c:pt idx="125">
                    <c:v>2017</c:v>
                  </c:pt>
                  <c:pt idx="126">
                    <c:v>2017</c:v>
                  </c:pt>
                  <c:pt idx="127">
                    <c:v>2017</c:v>
                  </c:pt>
                  <c:pt idx="128">
                    <c:v>2017</c:v>
                  </c:pt>
                  <c:pt idx="129">
                    <c:v>2017</c:v>
                  </c:pt>
                  <c:pt idx="130">
                    <c:v>2017</c:v>
                  </c:pt>
                  <c:pt idx="131">
                    <c:v>2017</c:v>
                  </c:pt>
                  <c:pt idx="132">
                    <c:v>2017</c:v>
                  </c:pt>
                  <c:pt idx="133">
                    <c:v>2017</c:v>
                  </c:pt>
                  <c:pt idx="134">
                    <c:v>2017</c:v>
                  </c:pt>
                  <c:pt idx="135">
                    <c:v>2018</c:v>
                  </c:pt>
                  <c:pt idx="136">
                    <c:v>2018</c:v>
                  </c:pt>
                  <c:pt idx="137">
                    <c:v>2018</c:v>
                  </c:pt>
                  <c:pt idx="138">
                    <c:v>2018</c:v>
                  </c:pt>
                  <c:pt idx="139">
                    <c:v>2018</c:v>
                  </c:pt>
                  <c:pt idx="140">
                    <c:v>2018</c:v>
                  </c:pt>
                  <c:pt idx="141">
                    <c:v>2018</c:v>
                  </c:pt>
                  <c:pt idx="142">
                    <c:v>2018</c:v>
                  </c:pt>
                  <c:pt idx="143">
                    <c:v>2018</c:v>
                  </c:pt>
                  <c:pt idx="144">
                    <c:v>2018</c:v>
                  </c:pt>
                  <c:pt idx="145">
                    <c:v>2018</c:v>
                  </c:pt>
                  <c:pt idx="146">
                    <c:v>2018</c:v>
                  </c:pt>
                  <c:pt idx="147">
                    <c:v>2019</c:v>
                  </c:pt>
                  <c:pt idx="148">
                    <c:v>2019</c:v>
                  </c:pt>
                  <c:pt idx="149">
                    <c:v>2019</c:v>
                  </c:pt>
                  <c:pt idx="150">
                    <c:v>2019</c:v>
                  </c:pt>
                  <c:pt idx="151">
                    <c:v>2019</c:v>
                  </c:pt>
                  <c:pt idx="152">
                    <c:v>2019</c:v>
                  </c:pt>
                  <c:pt idx="153">
                    <c:v>2019</c:v>
                  </c:pt>
                  <c:pt idx="154">
                    <c:v>2019</c:v>
                  </c:pt>
                  <c:pt idx="155">
                    <c:v>2019</c:v>
                  </c:pt>
                  <c:pt idx="156">
                    <c:v>2019</c:v>
                  </c:pt>
                  <c:pt idx="157">
                    <c:v>2019</c:v>
                  </c:pt>
                  <c:pt idx="158">
                    <c:v>2019</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2021</c:v>
                  </c:pt>
                  <c:pt idx="172">
                    <c:v>2021</c:v>
                  </c:pt>
                  <c:pt idx="173">
                    <c:v>2021</c:v>
                  </c:pt>
                  <c:pt idx="174">
                    <c:v>2021</c:v>
                  </c:pt>
                  <c:pt idx="175">
                    <c:v>2021</c:v>
                  </c:pt>
                  <c:pt idx="176">
                    <c:v>2021</c:v>
                  </c:pt>
                  <c:pt idx="177">
                    <c:v>2021</c:v>
                  </c:pt>
                  <c:pt idx="178">
                    <c:v>2021</c:v>
                  </c:pt>
                  <c:pt idx="179">
                    <c:v>2021</c:v>
                  </c:pt>
                  <c:pt idx="180">
                    <c:v>2021</c:v>
                  </c:pt>
                  <c:pt idx="181">
                    <c:v>2021</c:v>
                  </c:pt>
                  <c:pt idx="182">
                    <c:v>2021</c:v>
                  </c:pt>
                  <c:pt idx="183">
                    <c:v>2022</c:v>
                  </c:pt>
                  <c:pt idx="184">
                    <c:v>2022</c:v>
                  </c:pt>
                  <c:pt idx="185">
                    <c:v>2022</c:v>
                  </c:pt>
                  <c:pt idx="186">
                    <c:v>2022</c:v>
                  </c:pt>
                  <c:pt idx="187">
                    <c:v>2022</c:v>
                  </c:pt>
                  <c:pt idx="188">
                    <c:v>2022</c:v>
                  </c:pt>
                  <c:pt idx="189">
                    <c:v>2022</c:v>
                  </c:pt>
                  <c:pt idx="190">
                    <c:v>2022</c:v>
                  </c:pt>
                  <c:pt idx="191">
                    <c:v>2022</c:v>
                  </c:pt>
                  <c:pt idx="192">
                    <c:v>2022</c:v>
                  </c:pt>
                  <c:pt idx="193">
                    <c:v>2022</c:v>
                  </c:pt>
                  <c:pt idx="194">
                    <c:v>2022</c:v>
                  </c:pt>
                  <c:pt idx="195">
                    <c:v>2023</c:v>
                  </c:pt>
                  <c:pt idx="196">
                    <c:v>2023</c:v>
                  </c:pt>
                  <c:pt idx="197">
                    <c:v>2023</c:v>
                  </c:pt>
                  <c:pt idx="198">
                    <c:v>2023</c:v>
                  </c:pt>
                  <c:pt idx="199">
                    <c:v>2023</c:v>
                  </c:pt>
                  <c:pt idx="200">
                    <c:v>2023</c:v>
                  </c:pt>
                  <c:pt idx="201">
                    <c:v>2023</c:v>
                  </c:pt>
                  <c:pt idx="202">
                    <c:v>2023</c:v>
                  </c:pt>
                  <c:pt idx="203">
                    <c:v>2023</c:v>
                  </c:pt>
                  <c:pt idx="204">
                    <c:v>2023</c:v>
                  </c:pt>
                  <c:pt idx="205">
                    <c:v>2023</c:v>
                  </c:pt>
                  <c:pt idx="206">
                    <c:v>2023</c:v>
                  </c:pt>
                  <c:pt idx="207">
                    <c:v>2024</c:v>
                  </c:pt>
                  <c:pt idx="208">
                    <c:v>2024</c:v>
                  </c:pt>
                  <c:pt idx="209">
                    <c:v>2024</c:v>
                  </c:pt>
                  <c:pt idx="210">
                    <c:v>2024</c:v>
                  </c:pt>
                  <c:pt idx="211">
                    <c:v>2024</c:v>
                  </c:pt>
                  <c:pt idx="212">
                    <c:v>2024</c:v>
                  </c:pt>
                  <c:pt idx="213">
                    <c:v>2024</c:v>
                  </c:pt>
                  <c:pt idx="214">
                    <c:v>2024</c:v>
                  </c:pt>
                  <c:pt idx="215">
                    <c:v>2024</c:v>
                  </c:pt>
                  <c:pt idx="216">
                    <c:v>2024</c:v>
                  </c:pt>
                  <c:pt idx="217">
                    <c:v>2024</c:v>
                  </c:pt>
                  <c:pt idx="218">
                    <c:v>2024</c:v>
                  </c:pt>
                  <c:pt idx="219">
                    <c:v>2025</c:v>
                  </c:pt>
                  <c:pt idx="220">
                    <c:v>2025</c:v>
                  </c:pt>
                  <c:pt idx="221">
                    <c:v>2025</c:v>
                  </c:pt>
                  <c:pt idx="222">
                    <c:v>2025</c:v>
                  </c:pt>
                  <c:pt idx="223">
                    <c:v>2025</c:v>
                  </c:pt>
                  <c:pt idx="224">
                    <c:v>2025</c:v>
                  </c:pt>
                  <c:pt idx="225">
                    <c:v>2025</c:v>
                  </c:pt>
                  <c:pt idx="226">
                    <c:v>2025</c:v>
                  </c:pt>
                  <c:pt idx="227">
                    <c:v>2025</c:v>
                  </c:pt>
                  <c:pt idx="228">
                    <c:v>2025</c:v>
                  </c:pt>
                  <c:pt idx="229">
                    <c:v>2025</c:v>
                  </c:pt>
                  <c:pt idx="230">
                    <c:v>2025</c:v>
                  </c:pt>
                  <c:pt idx="231">
                    <c:v>2026</c:v>
                  </c:pt>
                  <c:pt idx="232">
                    <c:v>2026</c:v>
                  </c:pt>
                  <c:pt idx="233">
                    <c:v>2026</c:v>
                  </c:pt>
                  <c:pt idx="234">
                    <c:v>2026</c:v>
                  </c:pt>
                  <c:pt idx="235">
                    <c:v>2026</c:v>
                  </c:pt>
                  <c:pt idx="236">
                    <c:v>2026</c:v>
                  </c:pt>
                  <c:pt idx="237">
                    <c:v>2026</c:v>
                  </c:pt>
                  <c:pt idx="238">
                    <c:v>2026</c:v>
                  </c:pt>
                  <c:pt idx="239">
                    <c:v>2026</c:v>
                  </c:pt>
                </c:lvl>
              </c:multiLvlStrCache>
            </c:multiLvlStrRef>
          </c:cat>
          <c:val>
            <c:numRef>
              <c:f>Sheet1!$B$2:$B$241</c:f>
              <c:numCache>
                <c:formatCode>General</c:formatCode>
                <c:ptCount val="240"/>
                <c:pt idx="0">
                  <c:v>-0.1</c:v>
                </c:pt>
                <c:pt idx="1">
                  <c:v>-0.95</c:v>
                </c:pt>
                <c:pt idx="2">
                  <c:v>-0.79</c:v>
                </c:pt>
                <c:pt idx="3">
                  <c:v>-0.7</c:v>
                </c:pt>
                <c:pt idx="4">
                  <c:v>-1.6</c:v>
                </c:pt>
                <c:pt idx="5">
                  <c:v>-1.83</c:v>
                </c:pt>
                <c:pt idx="6">
                  <c:v>-0.75</c:v>
                </c:pt>
                <c:pt idx="7">
                  <c:v>-0.63</c:v>
                </c:pt>
                <c:pt idx="8">
                  <c:v>-1.3</c:v>
                </c:pt>
                <c:pt idx="9">
                  <c:v>-1.43</c:v>
                </c:pt>
                <c:pt idx="10">
                  <c:v>-1.86</c:v>
                </c:pt>
                <c:pt idx="11">
                  <c:v>-0.75</c:v>
                </c:pt>
                <c:pt idx="12">
                  <c:v>-1.1</c:v>
                </c:pt>
                <c:pt idx="13">
                  <c:v>-2.74</c:v>
                </c:pt>
                <c:pt idx="14">
                  <c:v>-2.41</c:v>
                </c:pt>
                <c:pt idx="15">
                  <c:v>-4.19</c:v>
                </c:pt>
                <c:pt idx="16">
                  <c:v>-4.86</c:v>
                </c:pt>
                <c:pt idx="17">
                  <c:v>-5.31</c:v>
                </c:pt>
                <c:pt idx="18">
                  <c:v>-4.7</c:v>
                </c:pt>
                <c:pt idx="19">
                  <c:v>-4.04</c:v>
                </c:pt>
                <c:pt idx="20">
                  <c:v>-7.19</c:v>
                </c:pt>
                <c:pt idx="21">
                  <c:v>-8.11</c:v>
                </c:pt>
                <c:pt idx="22">
                  <c:v>-7.11</c:v>
                </c:pt>
                <c:pt idx="23">
                  <c:v>-8.33</c:v>
                </c:pt>
                <c:pt idx="24">
                  <c:v>-12.32</c:v>
                </c:pt>
                <c:pt idx="25">
                  <c:v>-13.29</c:v>
                </c:pt>
                <c:pt idx="26">
                  <c:v>-13.59</c:v>
                </c:pt>
                <c:pt idx="27">
                  <c:v>-11.71</c:v>
                </c:pt>
                <c:pt idx="28">
                  <c:v>-12.24</c:v>
                </c:pt>
                <c:pt idx="29">
                  <c:v>-14</c:v>
                </c:pt>
                <c:pt idx="30">
                  <c:v>-10.06</c:v>
                </c:pt>
                <c:pt idx="31">
                  <c:v>-6.87</c:v>
                </c:pt>
                <c:pt idx="32">
                  <c:v>-6.91</c:v>
                </c:pt>
                <c:pt idx="33">
                  <c:v>-6.37</c:v>
                </c:pt>
                <c:pt idx="34">
                  <c:v>-2.65</c:v>
                </c:pt>
                <c:pt idx="35">
                  <c:v>-1.88</c:v>
                </c:pt>
                <c:pt idx="36">
                  <c:v>-1.55</c:v>
                </c:pt>
                <c:pt idx="37">
                  <c:v>-1.19</c:v>
                </c:pt>
                <c:pt idx="38">
                  <c:v>-0.35</c:v>
                </c:pt>
                <c:pt idx="39">
                  <c:v>-1.96</c:v>
                </c:pt>
                <c:pt idx="40">
                  <c:v>-2.25</c:v>
                </c:pt>
                <c:pt idx="41">
                  <c:v>-0.22</c:v>
                </c:pt>
                <c:pt idx="42">
                  <c:v>-0.58</c:v>
                </c:pt>
                <c:pt idx="43">
                  <c:v>-2.18</c:v>
                </c:pt>
                <c:pt idx="44">
                  <c:v>-2.28</c:v>
                </c:pt>
                <c:pt idx="45">
                  <c:v>-2.94</c:v>
                </c:pt>
                <c:pt idx="46">
                  <c:v>-1.28</c:v>
                </c:pt>
                <c:pt idx="47">
                  <c:v>-1.49</c:v>
                </c:pt>
                <c:pt idx="48">
                  <c:v>-1.63</c:v>
                </c:pt>
                <c:pt idx="49">
                  <c:v>-1.46</c:v>
                </c:pt>
                <c:pt idx="50">
                  <c:v>-0.76</c:v>
                </c:pt>
                <c:pt idx="51">
                  <c:v>-2.38</c:v>
                </c:pt>
                <c:pt idx="52">
                  <c:v>-1.54</c:v>
                </c:pt>
                <c:pt idx="53">
                  <c:v>-3.13</c:v>
                </c:pt>
                <c:pt idx="54">
                  <c:v>-2.64</c:v>
                </c:pt>
                <c:pt idx="55">
                  <c:v>-2.54</c:v>
                </c:pt>
                <c:pt idx="56">
                  <c:v>-2.52</c:v>
                </c:pt>
                <c:pt idx="57">
                  <c:v>-1.92</c:v>
                </c:pt>
                <c:pt idx="58">
                  <c:v>-5.03</c:v>
                </c:pt>
                <c:pt idx="59">
                  <c:v>-4.54</c:v>
                </c:pt>
                <c:pt idx="60">
                  <c:v>-4.39</c:v>
                </c:pt>
                <c:pt idx="61">
                  <c:v>-7.23</c:v>
                </c:pt>
                <c:pt idx="62">
                  <c:v>-3.16</c:v>
                </c:pt>
                <c:pt idx="63">
                  <c:v>-0.7</c:v>
                </c:pt>
                <c:pt idx="64">
                  <c:v>-0.66</c:v>
                </c:pt>
                <c:pt idx="65">
                  <c:v>-1.45</c:v>
                </c:pt>
                <c:pt idx="66">
                  <c:v>-2.77</c:v>
                </c:pt>
                <c:pt idx="67">
                  <c:v>-3.33</c:v>
                </c:pt>
                <c:pt idx="68">
                  <c:v>-2.92</c:v>
                </c:pt>
                <c:pt idx="69">
                  <c:v>-1.8</c:v>
                </c:pt>
                <c:pt idx="70">
                  <c:v>-1.16</c:v>
                </c:pt>
                <c:pt idx="71">
                  <c:v>-1.24</c:v>
                </c:pt>
                <c:pt idx="72">
                  <c:v>-0.98</c:v>
                </c:pt>
                <c:pt idx="73">
                  <c:v>-1.13</c:v>
                </c:pt>
                <c:pt idx="74">
                  <c:v>-0.58</c:v>
                </c:pt>
                <c:pt idx="75">
                  <c:v>-1.27</c:v>
                </c:pt>
                <c:pt idx="76">
                  <c:v>-1.77</c:v>
                </c:pt>
                <c:pt idx="77">
                  <c:v>-0.7</c:v>
                </c:pt>
                <c:pt idx="78">
                  <c:v>-1.28</c:v>
                </c:pt>
                <c:pt idx="79">
                  <c:v>-2.12</c:v>
                </c:pt>
                <c:pt idx="80">
                  <c:v>-5.83</c:v>
                </c:pt>
                <c:pt idx="81">
                  <c:v>-3.94</c:v>
                </c:pt>
                <c:pt idx="82">
                  <c:v>-3.45</c:v>
                </c:pt>
                <c:pt idx="83">
                  <c:v>-3.15</c:v>
                </c:pt>
                <c:pt idx="84">
                  <c:v>-2.16</c:v>
                </c:pt>
                <c:pt idx="85">
                  <c:v>-0.66</c:v>
                </c:pt>
                <c:pt idx="86">
                  <c:v>-1.72</c:v>
                </c:pt>
                <c:pt idx="87">
                  <c:v>-1.39</c:v>
                </c:pt>
                <c:pt idx="88">
                  <c:v>-1.36</c:v>
                </c:pt>
                <c:pt idx="89">
                  <c:v>-1.36</c:v>
                </c:pt>
                <c:pt idx="90">
                  <c:v>-0.91</c:v>
                </c:pt>
                <c:pt idx="91">
                  <c:v>-0.46</c:v>
                </c:pt>
                <c:pt idx="92">
                  <c:v>-0.24</c:v>
                </c:pt>
                <c:pt idx="93">
                  <c:v>-0.78</c:v>
                </c:pt>
                <c:pt idx="94">
                  <c:v>-1.34</c:v>
                </c:pt>
                <c:pt idx="95">
                  <c:v>-1.25</c:v>
                </c:pt>
                <c:pt idx="96">
                  <c:v>-3.36</c:v>
                </c:pt>
                <c:pt idx="97">
                  <c:v>-0.83</c:v>
                </c:pt>
                <c:pt idx="98">
                  <c:v>-2.14</c:v>
                </c:pt>
                <c:pt idx="99">
                  <c:v>-1.4</c:v>
                </c:pt>
                <c:pt idx="100">
                  <c:v>-1.16</c:v>
                </c:pt>
                <c:pt idx="101">
                  <c:v>-1.56</c:v>
                </c:pt>
                <c:pt idx="102">
                  <c:v>-2.22</c:v>
                </c:pt>
                <c:pt idx="103">
                  <c:v>-3.66</c:v>
                </c:pt>
                <c:pt idx="104">
                  <c:v>-4.95</c:v>
                </c:pt>
                <c:pt idx="105">
                  <c:v>-5</c:v>
                </c:pt>
                <c:pt idx="106">
                  <c:v>-8.28</c:v>
                </c:pt>
                <c:pt idx="107">
                  <c:v>-7.49</c:v>
                </c:pt>
                <c:pt idx="108">
                  <c:v>-6.56</c:v>
                </c:pt>
                <c:pt idx="109">
                  <c:v>-3.98</c:v>
                </c:pt>
                <c:pt idx="110">
                  <c:v>-5.02</c:v>
                </c:pt>
                <c:pt idx="111">
                  <c:v>-7.37</c:v>
                </c:pt>
                <c:pt idx="112">
                  <c:v>-8.11</c:v>
                </c:pt>
                <c:pt idx="113">
                  <c:v>-4.62</c:v>
                </c:pt>
                <c:pt idx="114">
                  <c:v>-5.1</c:v>
                </c:pt>
                <c:pt idx="115">
                  <c:v>-4.88</c:v>
                </c:pt>
                <c:pt idx="116">
                  <c:v>-4.52</c:v>
                </c:pt>
                <c:pt idx="117">
                  <c:v>-2.83</c:v>
                </c:pt>
                <c:pt idx="118">
                  <c:v>-1.65</c:v>
                </c:pt>
                <c:pt idx="119">
                  <c:v>-1.81</c:v>
                </c:pt>
                <c:pt idx="120">
                  <c:v>-1.5</c:v>
                </c:pt>
                <c:pt idx="121">
                  <c:v>-2.47</c:v>
                </c:pt>
                <c:pt idx="122">
                  <c:v>-1.5</c:v>
                </c:pt>
                <c:pt idx="123">
                  <c:v>-1.2</c:v>
                </c:pt>
                <c:pt idx="124">
                  <c:v>-1.37</c:v>
                </c:pt>
                <c:pt idx="125">
                  <c:v>-1.15</c:v>
                </c:pt>
                <c:pt idx="126">
                  <c:v>-0.56</c:v>
                </c:pt>
                <c:pt idx="127">
                  <c:v>-0.76</c:v>
                </c:pt>
                <c:pt idx="128">
                  <c:v>-1.5</c:v>
                </c:pt>
                <c:pt idx="129">
                  <c:v>-1.92</c:v>
                </c:pt>
                <c:pt idx="130">
                  <c:v>-1.52</c:v>
                </c:pt>
                <c:pt idx="131">
                  <c:v>-1.14</c:v>
                </c:pt>
                <c:pt idx="132">
                  <c:v>-0.5</c:v>
                </c:pt>
                <c:pt idx="133">
                  <c:v>-1.25</c:v>
                </c:pt>
                <c:pt idx="134">
                  <c:v>-0.87</c:v>
                </c:pt>
                <c:pt idx="135">
                  <c:v>-0.98</c:v>
                </c:pt>
                <c:pt idx="136">
                  <c:v>-3.26</c:v>
                </c:pt>
                <c:pt idx="137">
                  <c:v>-2.71</c:v>
                </c:pt>
                <c:pt idx="138">
                  <c:v>-2.38</c:v>
                </c:pt>
                <c:pt idx="139">
                  <c:v>-1.32</c:v>
                </c:pt>
                <c:pt idx="140">
                  <c:v>-1.71</c:v>
                </c:pt>
                <c:pt idx="141">
                  <c:v>-1.43</c:v>
                </c:pt>
                <c:pt idx="142">
                  <c:v>-1.38</c:v>
                </c:pt>
                <c:pt idx="143">
                  <c:v>-1.69</c:v>
                </c:pt>
                <c:pt idx="144">
                  <c:v>-3.63</c:v>
                </c:pt>
                <c:pt idx="145">
                  <c:v>-3.54</c:v>
                </c:pt>
                <c:pt idx="146">
                  <c:v>-4.41</c:v>
                </c:pt>
                <c:pt idx="147">
                  <c:v>-4</c:v>
                </c:pt>
                <c:pt idx="148">
                  <c:v>-1.3</c:v>
                </c:pt>
                <c:pt idx="149">
                  <c:v>-0.44</c:v>
                </c:pt>
                <c:pt idx="150">
                  <c:v>-0.37</c:v>
                </c:pt>
                <c:pt idx="151">
                  <c:v>-1.6</c:v>
                </c:pt>
                <c:pt idx="152">
                  <c:v>-1.22</c:v>
                </c:pt>
                <c:pt idx="153">
                  <c:v>-0.42</c:v>
                </c:pt>
                <c:pt idx="154">
                  <c:v>-1.57</c:v>
                </c:pt>
                <c:pt idx="155">
                  <c:v>-0.37</c:v>
                </c:pt>
                <c:pt idx="156">
                  <c:v>-1.09</c:v>
                </c:pt>
                <c:pt idx="157">
                  <c:v>-0.28</c:v>
                </c:pt>
                <c:pt idx="158">
                  <c:v>-0.76</c:v>
                </c:pt>
                <c:pt idx="159">
                  <c:v>-0.46</c:v>
                </c:pt>
                <c:pt idx="160">
                  <c:v>-4.35</c:v>
                </c:pt>
                <c:pt idx="161">
                  <c:v>-14</c:v>
                </c:pt>
                <c:pt idx="162">
                  <c:v>-10.77</c:v>
                </c:pt>
                <c:pt idx="163">
                  <c:v>-7.72</c:v>
                </c:pt>
                <c:pt idx="164">
                  <c:v>-5.57</c:v>
                </c:pt>
                <c:pt idx="165">
                  <c:v>-4.07</c:v>
                </c:pt>
                <c:pt idx="166">
                  <c:v>-3.07</c:v>
                </c:pt>
                <c:pt idx="167">
                  <c:v>-3.22</c:v>
                </c:pt>
                <c:pt idx="168">
                  <c:v>-3.21</c:v>
                </c:pt>
                <c:pt idx="169">
                  <c:v>-2.39</c:v>
                </c:pt>
                <c:pt idx="170">
                  <c:v>-0.57</c:v>
                </c:pt>
                <c:pt idx="171">
                  <c:v>-1.13</c:v>
                </c:pt>
                <c:pt idx="172">
                  <c:v>-1.96</c:v>
                </c:pt>
                <c:pt idx="173">
                  <c:v>-1.57</c:v>
                </c:pt>
                <c:pt idx="174">
                  <c:v>-0.72</c:v>
                </c:pt>
                <c:pt idx="175">
                  <c:v>-1.44</c:v>
                </c:pt>
                <c:pt idx="176">
                  <c:v>-0.53</c:v>
                </c:pt>
                <c:pt idx="177">
                  <c:v>-0.79</c:v>
                </c:pt>
                <c:pt idx="178">
                  <c:v>-0.55</c:v>
                </c:pt>
                <c:pt idx="179">
                  <c:v>-1.5</c:v>
                </c:pt>
                <c:pt idx="180">
                  <c:v>-1.65</c:v>
                </c:pt>
                <c:pt idx="181">
                  <c:v>-1.54</c:v>
                </c:pt>
                <c:pt idx="182">
                  <c:v>-1.66</c:v>
                </c:pt>
                <c:pt idx="183">
                  <c:v>-3.06</c:v>
                </c:pt>
                <c:pt idx="184">
                  <c:v>-4.66</c:v>
                </c:pt>
                <c:pt idx="185">
                  <c:v>-4.96</c:v>
                </c:pt>
                <c:pt idx="186">
                  <c:v>-5.76</c:v>
                </c:pt>
                <c:pt idx="187">
                  <c:v>-7.84</c:v>
                </c:pt>
                <c:pt idx="188">
                  <c:v>-11.4</c:v>
                </c:pt>
                <c:pt idx="189">
                  <c:v>-9.14</c:v>
                </c:pt>
                <c:pt idx="190">
                  <c:v>-8.67</c:v>
                </c:pt>
                <c:pt idx="191">
                  <c:v>-12.99</c:v>
                </c:pt>
                <c:pt idx="192">
                  <c:v>-13.35</c:v>
                </c:pt>
                <c:pt idx="193">
                  <c:v>-11.86</c:v>
                </c:pt>
                <c:pt idx="194">
                  <c:v>-12.2</c:v>
                </c:pt>
                <c:pt idx="195">
                  <c:v>-11.7</c:v>
                </c:pt>
                <c:pt idx="196">
                  <c:v>-10.72</c:v>
                </c:pt>
                <c:pt idx="197">
                  <c:v>-10.75</c:v>
                </c:pt>
                <c:pt idx="198">
                  <c:v>-9.66</c:v>
                </c:pt>
                <c:pt idx="199">
                  <c:v>-9.27</c:v>
                </c:pt>
                <c:pt idx="200">
                  <c:v>-8.51</c:v>
                </c:pt>
                <c:pt idx="201">
                  <c:v>-9.07</c:v>
                </c:pt>
                <c:pt idx="202">
                  <c:v>-8.89</c:v>
                </c:pt>
                <c:pt idx="203">
                  <c:v>-9.41</c:v>
                </c:pt>
                <c:pt idx="204">
                  <c:v>-9.99</c:v>
                </c:pt>
                <c:pt idx="205">
                  <c:v>-9.21</c:v>
                </c:pt>
                <c:pt idx="206">
                  <c:v>-6.08</c:v>
                </c:pt>
                <c:pt idx="207">
                  <c:v>-5.1</c:v>
                </c:pt>
                <c:pt idx="208">
                  <c:v>-3.97</c:v>
                </c:pt>
                <c:pt idx="209">
                  <c:v>-3</c:v>
                </c:pt>
                <c:pt idx="210">
                  <c:v>-2.78</c:v>
                </c:pt>
                <c:pt idx="211">
                  <c:v>-2.24</c:v>
                </c:pt>
                <c:pt idx="212">
                  <c:v>-1.29</c:v>
                </c:pt>
                <c:pt idx="213">
                  <c:v>-1.19</c:v>
                </c:pt>
                <c:pt idx="214">
                  <c:v>-1.97</c:v>
                </c:pt>
                <c:pt idx="215">
                  <c:v>-0.9</c:v>
                </c:pt>
                <c:pt idx="216">
                  <c:v>-1.71</c:v>
                </c:pt>
                <c:pt idx="217">
                  <c:v>-1.53</c:v>
                </c:pt>
                <c:pt idx="218">
                  <c:v>-1.84</c:v>
                </c:pt>
                <c:pt idx="219">
                  <c:v>-2.28</c:v>
                </c:pt>
                <c:pt idx="220">
                  <c:v>-0.58</c:v>
                </c:pt>
                <c:pt idx="221">
                  <c:v>-3.33</c:v>
                </c:pt>
                <c:pt idx="222">
                  <c:v>-5.85</c:v>
                </c:pt>
                <c:pt idx="223">
                  <c:v>-2.55</c:v>
                </c:pt>
                <c:pt idx="224">
                  <c:v>-0.96</c:v>
                </c:pt>
                <c:pt idx="225">
                  <c:v>-0.72</c:v>
                </c:pt>
                <c:pt idx="226">
                  <c:v>-0.64</c:v>
                </c:pt>
                <c:pt idx="227">
                  <c:v>-0.89</c:v>
                </c:pt>
                <c:pt idx="228">
                  <c:v>-0.63</c:v>
                </c:pt>
                <c:pt idx="229">
                  <c:v>-1.32</c:v>
                </c:pt>
                <c:pt idx="230">
                  <c:v>-1.05</c:v>
                </c:pt>
                <c:pt idx="231">
                  <c:v>-0.63</c:v>
                </c:pt>
                <c:pt idx="232">
                  <c:v>-0.56</c:v>
                </c:pt>
                <c:pt idx="233">
                  <c:v>-4.55</c:v>
                </c:pt>
                <c:pt idx="234">
                  <c:v>-3.21</c:v>
                </c:pt>
                <c:pt idx="235">
                  <c:v>-1.36</c:v>
                </c:pt>
                <c:pt idx="236">
                  <c:v>-1.62</c:v>
                </c:pt>
                <c:pt idx="237">
                  <c:v>-1.69</c:v>
                </c:pt>
                <c:pt idx="238">
                  <c:v>-0.98</c:v>
                </c:pt>
                <c:pt idx="239">
                  <c:v>-2.15</c:v>
                </c:pt>
              </c:numCache>
            </c:numRef>
          </c:val>
        </c:ser>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tickLblSkip val="36"/>
      </c:catAx>
      <c:valAx>
        <c:axId val="2094734552"/>
        <c:scaling>
          <c:orientation val="minMax"/>
          <c:max val="0"/>
          <c:min val="-16"/>
        </c:scaling>
        <c:delete val="0"/>
        <c:axPos val="l"/>
        <c:majorGridlines>
          <c:spPr>
            <a:ln w="6350" cap="flat">
              <a:solidFill>
                <a:srgbClr val="E3E6EA"/>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4F"/>
                </a:solidFill>
                <a:latin typeface="Calibri"/>
              </a:defRPr>
            </a:pPr>
            <a:r>
              <a:rPr sz="1300" b="0" i="0" u="none" strike="noStrike">
                <a:solidFill>
                  <a:srgbClr val="14304F"/>
                </a:solidFill>
                <a:latin typeface="Calibri"/>
              </a:rPr>
              <a:t>Nombre de fins de mois, par rendement sur un an (%)</a:t>
            </a:r>
          </a:p>
        </c:rich>
      </c:tx>
      <c:layout/>
      <c:overlay val="0"/>
    </c:title>
    <c:autoTitleDeleted val="0"/>
    <c:plotArea>
      <c:layout/>
      <c:barChart>
        <c:barDir val="col"/>
        <c:grouping val="clustered"/>
        <c:varyColors val="0"/>
        <c:ser>
          <c:idx val="0"/>
          <c:order val="0"/>
          <c:tx>
            <c:strRef>
              <c:f>Sheet1!$B$1</c:f>
              <c:strCache>
                <c:ptCount val="1"/>
                <c:pt idx="0">
                  <c:v>Fins de mois</c:v>
                </c:pt>
              </c:strCache>
            </c:strRef>
          </c:tx>
          <c:spPr>
            <a:solidFill>
              <a:srgbClr val="2A78D6"/>
            </a:solidFill>
            <a:effectLst/>
          </c:spPr>
          <c:invertIfNegative val="0"/>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cat>
            <c:multiLvlStrRef>
              <c:f>Sheet1!$A$2:$A$35</c:f>
              <c:multiLvlStrCache>
                <c:ptCount val="34"/>
                <c:lvl>
                  <c:pt idx="0">
                    <c:v>-13</c:v>
                  </c:pt>
                  <c:pt idx="1">
                    <c:v>-12</c:v>
                  </c:pt>
                  <c:pt idx="2">
                    <c:v>-11</c:v>
                  </c:pt>
                  <c:pt idx="3">
                    <c:v>-10</c:v>
                  </c:pt>
                  <c:pt idx="4">
                    <c:v>-9</c:v>
                  </c:pt>
                  <c:pt idx="5">
                    <c:v>-8</c:v>
                  </c:pt>
                  <c:pt idx="6">
                    <c:v>-7</c:v>
                  </c:pt>
                  <c:pt idx="7">
                    <c:v>-6</c:v>
                  </c:pt>
                  <c:pt idx="8">
                    <c:v>-5</c:v>
                  </c:pt>
                  <c:pt idx="9">
                    <c:v>-4</c:v>
                  </c:pt>
                  <c:pt idx="10">
                    <c:v>-3</c:v>
                  </c:pt>
                  <c:pt idx="11">
                    <c:v>-2</c:v>
                  </c:pt>
                  <c:pt idx="12">
                    <c:v>-1</c:v>
                  </c:pt>
                  <c:pt idx="13">
                    <c:v>0</c:v>
                  </c:pt>
                  <c:pt idx="14">
                    <c:v>1</c:v>
                  </c:pt>
                  <c:pt idx="15">
                    <c:v>2</c:v>
                  </c:pt>
                  <c:pt idx="16">
                    <c:v>3</c:v>
                  </c:pt>
                  <c:pt idx="17">
                    <c:v>4</c:v>
                  </c:pt>
                  <c:pt idx="18">
                    <c:v>5</c:v>
                  </c:pt>
                  <c:pt idx="19">
                    <c:v>6</c:v>
                  </c:pt>
                  <c:pt idx="20">
                    <c:v>7</c:v>
                  </c:pt>
                  <c:pt idx="21">
                    <c:v>8</c:v>
                  </c:pt>
                  <c:pt idx="22">
                    <c:v>9</c:v>
                  </c:pt>
                  <c:pt idx="23">
                    <c:v>10</c:v>
                  </c:pt>
                  <c:pt idx="24">
                    <c:v>11</c:v>
                  </c:pt>
                  <c:pt idx="25">
                    <c:v>12</c:v>
                  </c:pt>
                  <c:pt idx="26">
                    <c:v>13</c:v>
                  </c:pt>
                  <c:pt idx="27">
                    <c:v>14</c:v>
                  </c:pt>
                  <c:pt idx="28">
                    <c:v>15</c:v>
                  </c:pt>
                  <c:pt idx="29">
                    <c:v>16</c:v>
                  </c:pt>
                  <c:pt idx="30">
                    <c:v>17</c:v>
                  </c:pt>
                  <c:pt idx="31">
                    <c:v>18</c:v>
                  </c:pt>
                  <c:pt idx="32">
                    <c:v>19</c:v>
                  </c:pt>
                  <c:pt idx="33">
                    <c:v>20</c:v>
                  </c:pt>
                </c:lvl>
              </c:multiLvlStrCache>
            </c:multiLvlStrRef>
          </c:cat>
          <c:val>
            <c:numRef>
              <c:f>Sheet1!$B$2:$B$35</c:f>
              <c:numCache>
                <c:formatCode>General</c:formatCode>
                <c:ptCount val="34"/>
                <c:pt idx="0">
                  <c:v>0</c:v>
                </c:pt>
                <c:pt idx="1">
                  <c:v>1</c:v>
                </c:pt>
                <c:pt idx="2">
                  <c:v>0</c:v>
                </c:pt>
                <c:pt idx="3">
                  <c:v>3</c:v>
                </c:pt>
                <c:pt idx="4">
                  <c:v>1</c:v>
                </c:pt>
                <c:pt idx="5">
                  <c:v>6</c:v>
                </c:pt>
                <c:pt idx="6">
                  <c:v>2</c:v>
                </c:pt>
                <c:pt idx="7">
                  <c:v>3</c:v>
                </c:pt>
                <c:pt idx="8">
                  <c:v>2</c:v>
                </c:pt>
                <c:pt idx="9">
                  <c:v>3</c:v>
                </c:pt>
                <c:pt idx="10">
                  <c:v>6</c:v>
                </c:pt>
                <c:pt idx="11">
                  <c:v>8</c:v>
                </c:pt>
                <c:pt idx="12">
                  <c:v>7</c:v>
                </c:pt>
                <c:pt idx="13">
                  <c:v>7</c:v>
                </c:pt>
                <c:pt idx="14">
                  <c:v>13</c:v>
                </c:pt>
                <c:pt idx="15">
                  <c:v>18</c:v>
                </c:pt>
                <c:pt idx="16">
                  <c:v>13</c:v>
                </c:pt>
                <c:pt idx="17">
                  <c:v>15</c:v>
                </c:pt>
                <c:pt idx="18">
                  <c:v>20</c:v>
                </c:pt>
                <c:pt idx="19">
                  <c:v>21</c:v>
                </c:pt>
                <c:pt idx="20">
                  <c:v>15</c:v>
                </c:pt>
                <c:pt idx="21">
                  <c:v>14</c:v>
                </c:pt>
                <c:pt idx="22">
                  <c:v>18</c:v>
                </c:pt>
                <c:pt idx="23">
                  <c:v>9</c:v>
                </c:pt>
                <c:pt idx="24">
                  <c:v>6</c:v>
                </c:pt>
                <c:pt idx="25">
                  <c:v>4</c:v>
                </c:pt>
                <c:pt idx="26">
                  <c:v>7</c:v>
                </c:pt>
                <c:pt idx="27">
                  <c:v>2</c:v>
                </c:pt>
                <c:pt idx="28">
                  <c:v>2</c:v>
                </c:pt>
                <c:pt idx="29">
                  <c:v>0</c:v>
                </c:pt>
                <c:pt idx="30">
                  <c:v>0</c:v>
                </c:pt>
                <c:pt idx="31">
                  <c:v>1</c:v>
                </c:pt>
                <c:pt idx="32">
                  <c:v>1</c:v>
                </c:pt>
                <c:pt idx="33">
                  <c:v>0</c:v>
                </c:pt>
              </c:numCache>
            </c:numRef>
          </c:val>
        </c:ser>
        <c:dLbls>
          <c:numFmt formatCode="#,##0" sourceLinked="0"/>
          <c:txPr>
            <a:bodyPr/>
            <a:lstStyle/>
            <a:p>
              <a:pPr>
                <a:defRPr b="0" i="0" strike="noStrike" sz="1000" u="none">
                  <a:solidFill>
                    <a:srgbClr val="1F2937"/>
                  </a:solidFill>
                  <a:latin typeface="Calibri"/>
                </a:defRPr>
              </a:pPr>
            </a:p>
          </c:txPr>
          <c:showLegendKey val="0"/>
          <c:showVal val="0"/>
          <c:showCatName val="0"/>
          <c:showSerName val="0"/>
          <c:showPercent val="0"/>
          <c:showBubbleSize val="0"/>
          <c:showLeaderLines val="0"/>
        </c:dLbls>
        <c:gapWidth val="1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tickLblSkip val="2"/>
      </c:catAx>
      <c:valAx>
        <c:axId val="2094734552"/>
        <c:scaling>
          <c:orientation val="minMax"/>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la proposition de gestion que nous avons construite pour M. Lauren. En une phrase : faire en sorte que ses 100 millions gardent leur pouvoir d'achat face à une inflation de 4 %, sans qu'il voie jamais son patrimoine baisser de plus de 15 %. Je vais vous montrer comment on y arrive, étape par étape, et pourquoi chaque choix a été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client : 60 ans, il vient de vendre sa société, il a 100 millions en cash. Il a construit sa fortune en prenant beaucoup de risque ; aujourd'hui il veut la garder. Deux exigences qui tirent en sens inverse : rapporter au moins 4 % par an, sinon l'inflation l'appauvrit, et ne jamais perdre plus de 15 %. Plus on vise de rendement, plus on prend de risque. Toute la présentation répond à une question : existe-t-il un portefeuille qui tienne les deux ? La fiscalité et la transmission font partie du cas mais sont hors du périmètre de cet exercice.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suivi le processus d'un fonds multi-actifs institutionnel, en cinq étapes. On part de ce que demande le client, puis de l'état de l'économie, on descend jusqu'au choix de chaque titre, on décide des proportions, et on vérifie le résultat sur vingt ans d'histoire. Chaque étape utilise ce que la précédente a produit : aucun chiffre n'apparaît avant l'étape qui le calcule. Tout est disponible dans une application en ligne, que je pourrai ouvrir si vous voulez creuser un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comprendre la demande avant de chercher des réponses. Cette étape ne calcule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ligne de l'énoncé a une traduction concrète. Les 10 millions à décaisser ne doivent pas être exposés au risque. L'inflation de 4 %, c'est le seuil à battre : en dessous, le client s'appauvrit. La limite de 15 % fixe la part d'actifs risqués qu'on peut se permettre. Les exclusions touchent les entreprises, pas les États ni l'or. Et l'inquiétude sur l'Europe et les États-Unis plaide pour une vraie diversification. Portrait qui s'en dégage : un entrepreneur qui ne cherche plus à faire fortune mais à la garder, et qui attend qu'on lui explique pourquoi, pas seulement quoi.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L'énoncé laisse plusieurs questions ouvertes, qu'il faudrait poser au client. Faute de réponse, nous avons retenu à chaque fois la lecture la plus exigeante. La plus importante : les 15 %, on les mesure depuis le plus haut jamais atteint, sans limite de durée. C'est ce que le client ressentira : l'écart entre ce qu'il a eu et ce qu'il a. Pour les 10 millions, faute de calendrier, on suppose quatre versements égaux sur deux ans. Pour la crypto, on montrera à l'étape 4 pourquoi nous n'en mettons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 l'analyse macro. On part de ce que le marché paie, de l'état de l'économie, pour en tirer un rendement espéré par classe d'actifs.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constat, et il est net : aucune obligation classique ne protège contre 4 % d'inflation. Le monétaire rapporte 2,44 %, les emprunts d'État de la zone euro 3,77 %. Les taux américains paraissent plus élevés, mais un client qui vit en euros doit couvrir le change, et cette couverture coûte environ 1,7 % par an : le supplément disparaît. Les seules obligations au-dessus du seuil de façon certaine sont les indexées sur l'inflation. Le haut rendement affiche plus, mais c'est un rendement avant défauts. Conclusion : pour atteindre 4 %, il faudra des actions et des actifs réels. Question technique possible : pourquoi le taux à l'achat suffit ? Parce que pour une obligation gardée jusqu'à l'échéance, c'est exactement ce qu'elle rapportera, sans aucune prévision.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lecture : le cycle. On lit une chaîne : l'activité fait l'emploi, l'emploi et l'énergie font l'inflation, l'inflation décide de la banque centrale, qui entraîne les taux. Aujourd'hui, des deux côtés de l'Atlantique, l'inflation totale remonte alors que l'inflation hors énergie ne bouge pas : c'est un choc énergétique. La BCE a déjà remonté son taux, le marché en attend d'autres, et aux États-Unis le taux à 2 ans annonce des hausses de la Fed. C'est précisément le scénario que redoute M. Lauren. Ce contexte pèse sur les obligations à taux fixe, et favorise les indexées et les actifs réels.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lecture : le crédit, c'est-à-dire prêter aux entreprises. L'écart entre ce que paie une entreprise et ce que paie un État s'appelle la prime de crédit. Sur quarante ans, elle n'a été plus basse qu'aujourd'hui que 2 % du temps. Une prime basse n'annonce pas une crise, mais elle laisse très peu de marge : si elle remonte simplement d'un point, le crédit européen perd environ 4,3 %, plus d'une année de rendement. En 2008, elle a été multipliée par quatre. Risque asymétrique : on reste sur des entreprises bien notées et des durées courtes.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lecture : les marchés, qui montrent en temps réel où va l'argent. L'énergie mène très largement, ce qui confirme que l'inflation vient de là, et la consommation recule. Les émergents ont monté, mais pas la Chine ni l'Inde : il faut les regarder pays par pays. Attention cependant : la dynamique dit ce qui monte, pas ce qui est bon marché. Un marché qui a pris 30 % est aussi devenu plus cher. C'est l'objet de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L'aboutissement de l'étape 2 : un rendement espéré par classe d'actifs, sur dix ans, en euros, à 4 % d'inflation. Pour les obligations, on lit simplement le taux du marché : ce sont les chiffres les plus solides. Pour les actions, on estime ce que rapportent les bénéfices achetés aujourd'hui. Résultat : seules les actions et les obligations indexées dépassent nettement le seuil. Préserver le pouvoir d'achat impose donc une part importante d'actions ; la limite de 15 % dira jusqu'où aller. Vous remarquerez que l'Europe est attendue au-dessus des États-Unis : j'y reviens sur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fréquente : pourquoi l'Europe rapporterait-elle plus que les États-Unis ? Uniquement à cause du prix. À un PER de 30, on paie trente ans de bénéfices pour une action américaine, contre 18,5 en Europe : on achète 3,3 % de bénéfices par an d'un côté, 5,4 % de l'autre. Le dividende européen est aussi trois fois plus élevé. Limites que j'assume : on applique la même croissance des bénéfices partout, ce qui pénalise les États-Unis dont la tech croît plus vite ; et J.P. Morgan va dans le même sens mais avec un écart de 0,3 point seulement. Conséquence limitée : la répartition entre zones est fixée à l'avance, elle ne dépend pas de cet écart.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 choisir les supports. Des actions européennes et des obligations d'État en direct, et les meilleurs fonds pour les autres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actions européennes, on part des 600 plus grandes valeurs d'Europe. On retire d'abord les 26 sociétés touchées par les exclusions du client : 20 dans l'armement, 4 dans le tabac, 2 dans le charbon, au seuil de 5 % du chiffre d'affaires. On écarte les sociétés d'investissement, que la notation ne sait pas mesurer, et les sociétés de moins de 10 milliards, moins suivies et moins liquides. Il en reste 300, que l'on note. Deux étages ensuite : notre vue sectorielle en écarte 16, la note en retient 30, et les attentes des analystes resserrent ces 30 en 15. Deux questions différentes, dans cet ordre : ce que les sociétés SONT, puis où elles VONT.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société reçoit une note sur cinq piliers à poids égaux, toujours comparée aux sociétés de son propre secteur : c'est ce qui permet de comparer une banque, dont le PER est naturellement bas, à un éditeur de logiciels. Le cinquième pilier, la résistance, est propre à ce mandat : plus la poche d'actions baisse modérément en crise, plus on peut en détenir sous la limite de 15 %. Détail technique si on me le demande : chaque indicateur est mesuré en écarts-types par rapport à la moyenne du secteur, après avoir écarté les données aberrantes. SUR LE PLAFOND DE VOLATILITÉ, il est mesuré DANS le métier et non sur tout l'univers, et c'est une correction du 25 septembre : un plafond unique ne dit pas « ce titre est agité pour son métier », il dit « ce métier est agité », et il interdisait le métier. La technologie disparaissait entièrement de la sélection alors qu'elle pèse 7,4 % de l'indice — ASML sortait pour moins d'un point de volatilité, alors que sa note passait le seuil. Elle est aujourd'hui la première des quinze sur les attentes des analystes. SI ON ME DEMANDE OÙ EST LA VUE SECTORIELLE : elle existe, mais elle n'est pas dans la note — elle a sa propre slide. La note, elle, est aveugle aux secteurs par construction : comparer chaque société à son propre secteur la fait dire qu'une banque est meilleure que les autres banques, jamais s'il faut détenir des banques. Les secteurs de la sélection sont donc un résultat, pas une décision, et notre vue sectorielle agit à côté, en écartant des métiers, pas en pondérant. SI ON ME DEMANDE OÙ AGIT LA MACRO : sur la répartition entre classes d'actifs, et par un seul canal — elle fixe les rendements espérés, et c'est le calcul de l'étape 4 qui les convertit en poids. Elle tranche combien d'actions au total et combien d'indexées ; elle ne tranche ni la zone, figée par la clé 40/35/10/15, ni le secteur. Attention à une formulation que j'ai corrigée : le crédit à zéro n'est PAS une décision macro, c'est une mesure de marché de l'étape 3 — 3,39 % défauts déduits contre 3,63 % pour les emprunts d'État. Tirer EN PLUS des paris sectoriels de la macro reviendrait à miser deux fois sur le même diagnostic. Un portefeuille, un pari.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précision de méthode, et j'insiste dessus parce qu'elle sépare deux choses que l'on confond souvent. Les exclusions tabac, armement et charbon sont des contraintes du client : elles sont subies, non négociables, et leur respect se constate. Ce que vous voyez ici est l'inverse : c'est notre décision de gérant, assumée et révisable, et c'est à nous de la défendre. D'où une slide séparée. POURQUOI UNE EXCLUSION ET NON UN MALUS DANS LA NOTE, si on me le demande : parce que le signe d'un malus n'est pas déterminé. Dire que les gérants sous-pondèrent l'automobile justifie aussi bien de la vendre, si le consensus a raison, que de l'acheter, puisqu'elle est devenue bon marché parce qu'elle est détestée. Nos cinq piliers disent d'ailleurs exactement ces deux choses à la fois : sur les constructeurs, la Dynamique sort à moins 0,58 quand la Valorisation sort à plus 0,62, et la note finale ressort à la médiane de l'univers. La note ne rate donc pas la difficulté du secteur — le momentum médian des constructeurs est à moins 15,9 % quand l'univers est à plus 15,5 % — elle juge qu'elle est DÉJÀ PAYÉE par le prix. Retrancher un malus reviendrait à casser cette compensation sans le dire. Une exclusion déclarée, elle, est datée, motivée, et son coût se mesure. DERNIER POINT, et je le dis avant qu'on me le demande : la colonne de droite dit ce que NOS données pensent de chaque thèse, y compris quand elles la contredisent. Sur la chimie de spécialité, elles la contredisent — quinze titres, milieu de classement. La vue y anticipe une dégradation que les chiffres n'enregistrent pas encore, et c'est aussi le seul cas qui nous coûte un titre. C'est écrit dans le tableau plutôt que caché.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30 titres que la notation retient : ils couvrent 11 secteurs sur 11. Ce n'est PAS encore le portefeuille — c'est le premier étage, celui du constaté : bilan, marges, valorisation, comportement en crise. Tout y est mesuré sur le passé et le présent. La slide suivante pose la question d'après, celle de l'avenir, et resserre ces 30 en 15. La sélection ne ressemble pas à l'indice, et c'est voulu : la note ignore la taille des sociétés, elle ne regarde que leurs qualités face à leurs concurrentes. Je peux ouvrir la fiche de n'importe quel titre dans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étage mesure ce que les sociétés SONT : tout y est constaté, sur le passé et le présent. Ce deuxième étage pose la question d'après — où vont-elles ? C'est une décision de méthode que je revendique : trente lignes, pour du stock picking, c'est beaucoup, et surtout c'est un portefeuille qu'on n'a pas vraiment choisi. QUATRE INDICATEURS, et deux usages distincts. Deux classent : la révision du bénéfice attendu sur 90 jours, et le solde des révisions du mois. Deux éliminent seulement : le potentiel et la dispersion. Pourquoi cette séparation ? Parce que la valeur exacte d'un potentiel n'est pas un signal — l'objectif de cours bouge plus lentement que le cours, donc un fort potentiel signale souvent une chute récente plutôt qu'un bon dossier. Et la dispersion est structurellement sectorielle : une pétrolière dépend d'un prix que personne ne prévoit, donc la noter reviendrait à noter le secteur. TROIS SEUILS QUE J'AI DÛ CORRIGER, et je préfère les dire : le solde était d'abord rapporté au nombre d'analystes, un champ incohérent chez Yahoo, ce qui plaçait argenx première pour cette seule raison ; sans plancher de qualité, la sélection raclait le fond dès qu'un secteur se vidait, et retenait Norsk Hydro avec une révision de moins 17 % ; et sur une ou deux révisions le solde ne peut valoir que moins 100 ou plus 100, ce qui faisait sortir Airtel à moins 100 pour UN analyste. Les trois sont corrigés, et c'est écrit dans le code. DERNIER POINT si on me le demande : le garde-fou du potentiel est CONDITIONNEL. Il excluait d'abord tout titre cotant au-dessus de sa cible, ce qui contredisait mon propre argument. Mesuré : les huit titres concernés avaient TOUS un bénéfice révisé à la hausse. La règle ne sanctionnait pas la cherté, elle sanctionnait la bonne dynamique.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portefeuille d'actions européennes : 15 lignes à parts égales, 9 secteurs et 9 pays. Deux colonnes de note, et c'est tout le propos : « Note » est le premier étage, ce que la société EST ; « Avenir » est le second, où elle VA. Un titre doit passer les deux. ASML est le cas le plus parlant : son bénéfice attendu a été relevé de 24 % en trois mois, le meilleur dossier des trente sur l'avenir — et elle a failli ne jamais entrer dans l'univers, parce que le plafond de volatilité était mesuré sur tout le marché au lieu de l'être sur son métier. SUR LE SURCROÎT DE RISQUE, et il faut le dire avant qu'on me le demande : passer de trente à quinze lignes fait monter la volatilité du panier d'environ 1,3 point. La cause est identifiée : le garde-fou du potentiel frappe les défensives, qui cotent souvent au-dessus de leur objectif quand elles sont chères. Chercher l'avenir coûte de la protection. L'échelle réelle, en revanche, est petite : la poche d'actions européennes vaut 12,2 % du portefeuille, donc l'écart pèse environ 0,16 point au niveau du patrimoine. La limite de moins 15 % n'est pas approchée.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vérifie que la sélection tient mieux en crise que l'indice. C'est le cas en 2022 : −12,7 % contre −18,4 %. En 2020, les deux ont baissé d'environ un tiers. La colonne du milieu est la mesure honnête du resserrement : passer de 30 à 15 lignes coûte de la volatilité, 11,92 % contre 10,59 %, et un peu de 2020. Rapporté au patrimoine, où la poche vaut 12,2 %, cela pèse environ 0,16 point. Message important : un panier d'actions reste un panier d'actions. La limite de 15 % ne se tiendra pas par le choix des titres, mais par le dosage entre actions, obligations et or, à l'étape 4. Précaution d'honnêteté : les titres sont choisis avec les données d'aujourd'hui, donc leur performance passée est flatteuse par construction ; seul leur comportement en crise est informatif.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partie la plus sûre, pas besoin de fonds : on achète directement des obligations d'État. Les 10 millions à décaisser sont placés en quatre obligations allemandes ou néerlandaises qui arrivent à échéance aux dates des versements : il faut investir 9,63 M€ aujourd'hui, à taux garantis, et on économise environ 78 milliers d'euros par rapport au monétaire. Pour le reste de la poche obligataire, une échelle de 2 à 10 ans sur toute la zone euro, qui rapporte 3,63 % et perdrait environ 4,7 % si les taux montaient d'un point. On n'allonge pas au-delà : cela rapporte peu et multiplie le risque, dans un contexte où l'inflation remonte.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autres classes, on passe par des fonds cotés, choisis selon une règle simple : d'abord des exclusions conformes au mandat, puis une taille d'au moins un milliard, pour ne jamais peser plus de 1 % d'un fonds, et enfin les frais les plus bas. Point de vigilance : un filtre ESG dit « Screened » n'exclut pas l'armement conventionnel, alors que nous l'avons exclu des actions en direct ; nous avons donc lu les méthodologies d'indices et retenu des indices plus stricts. Conséquence pour les émergents : le seul fonds conforme s'éloigne nettement du marché, écart que nous annoncerons au client. L'infrastructure a été retirée : aucun fonds n'était à la fois assez gros et conforme. Enfin, en revérifiant l'univers de départ, nous avons trouvé neuf fonds mal libellés, dont un fonds d'actions américaines présenté comme de la dette émergente.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crédit mérite une slide, parce que le résultat est contre-intuitif. Le haut rendement, une fois les défauts déduits, rapporte moins que les États : écarté. Le crédit bien noté court ne rapporte que 0,24 point de plus qu'un État de même échéance, et il a perdu trois fois plus en 2020. Défauts déduits, il rapporte 3,39 %, moins que notre échelle d'emprunts d'État. On le garde dans l'univers, mais on verra à l'étape 4 que le calcul lui donne zéro, à 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le cœur de l'exercice : combien placer sur chaque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calcul a besoin de trois ingrédients. La règle : la perte se mesure depuis le plus haut, sur les 100 millions, et ne doit jamais dépasser 15 % dans les quatre crises de référence. Les rendements espérés : seules les actions et les obligations indexées dépassent 4 %. Tout le reste rapporte moins : chaque euro placé en obligations devra être compensé par des actions. Et le troisième ingrédient, c'est le comportement de chaque support en crise, sur vingt ans. Or la plupart des fonds datent de 2018 : avant, on utilise un remplaçant qui suit le même marché, et pour les États une obligation recalculée sur la courbe de la BCE.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ingrédient : le comportement en crise. Les actions perdent jusqu'à 54 % en 2008. Sans amortisseur, on ne pourrait donc pas en détenir plus de 28 %. Pour aller au-delà, il faut des supports qui montent quand les actions baissent. En 2008, sur la fenêtre de crise, les emprunts d'État gagnent 15,5 % et l'or 22,2 % : ils amortissent. Mais en 2022, crise d'inflation, les obligations baissent avec les actions : plus d'amortisseur. C'est le régime décrit à l'étape 2. L'or est le seul qui tienne partout. Parce que ce lien change d'une crise à l'autre, le calcul ne s'appuie pas sur une corrélation moyenne : il fait traverser à chaque portefeuille les vingt années, jour après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la corrélation, parce que la question vient toujours. À gauche, les semaines ordinaires ; à droite, les seules semaines de crise. Deux chiffres comptent. L'échelle AAA était à −3 face aux actions en temps normal : indépendante. En crise elle passe à −21 : elle monte quand les actions chutent. L'or fait le même chemin, de +12 à −11. Voilà pourquoi on garde de l'or malgré un rendement espéré de 4 % seulement : on ne l'achète pas pour son rendement, on l'achète pour ce qu'il fait ce jour-là. À l'inverse, les matières premières restent à +36 : elles diversifient peu, et c'est pour ça qu'elles ont une place réduite. Et je veux être honnête sur le revers, parce qu'on me le demanderait sinon : la poche défensive, elle, se resserre. Crédit court et indexées passent de +36 à +62 entre eux. Autrement dit les amortisseurs deviennent un seul pari au moment où on compte sur eux. C'est exactement la raison pour laquelle on ne met pas tout le défensif sur la même maturité, et pourquoi le calcul de la page suivante ne travaille pas sur une corrélation moyenne, mais fait traverser au portefeuille les vingt années jour après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laisse d'abord le calcul seul, avec une seule exigence : jamais plus de 15 % de baisse sur les vingt ans. Il propose 55 % d'obligations indexées et 32 % d'actions japonaises, pour 6,47 % sur le papier. Ce n'est pas une proposition : c'est pour montrer ce que fait un optimiseur livré à lui-même. On a vérifié pourquoi il choisit le Japon : pas pour son rendement, car même en le baissant il le garde ; c'est parce que le Japon, grâce au yen, a bien tenu dans ces quatre crises précises. Rien ne garantit que le yen jouera ce rôle la prochaine fois : en 2022, il a perdu 8 % contre l'euro. Le calcul a appris le passé par cœur. D'où des règles.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reprend le calcul et on ajoute les règles une par une, en chiffrant ce que chacune coûte. Réserver les 10 millions en AAA ne coûte presque rien. Imposer la répartition des actions, Europe 40, États-Unis 35, Japon 10, émergents 15, est la règle la plus chère : −0,68 point, c'est le prix du renoncement au pari sur le yen. Les plafonds évitent la concentration ; résultat intéressant, les actions remontent, parce que les États à 2-10 ans amortissaient mieux 2020 que les indexées. Enfin une marge : viser 14 % au lieu de 15, parce que certains remplaçants flattent 2008. Au total, les règles coûtent 1,17 point de rendement espéré : c'est le prix d'un portefeuille robuste. SI ON ME DEMANDE POURQUOI SI PEU D'OR : parce que personne n'a choisi ce chiffre. Le plafond autorise 10 % et le calcul n'en prend que 3,3 % — le plafond n'est pas la contrainte qui mord. L'or a le plus faible rendement espéré du modèle, 4,00 %, à peine au-dessus des 3,63 % des emprunts d'État à 2-10 ans. On ne le détient donc pas pour ce qu'il rapporte mais pour sa tenue en crise. Les chiffres exacts, en euros et sur les fenêtres de crise du dossier : 22,2 % en 2008, 25,6 % en 2011, 11,2 % en 2020, 16,9 % en 2022 — c'est LE SEUL SUPPORT du portefeuille à finir positif sur les quatre, quand la poche d'actions perd 39,3 % en 2008 et les emprunts d'État 8,2 % en 2022. Si on me montre la table des pires baisses, où l'or affiche moins 25,7 % en 2008 : les deux sont vrais et ne mesurent pas la même chose — il a bien reculé de 25,7 % À L'INTÉRIEUR de la fenêtre avant de la finir en hausse. Le calcul en achète juste ce qu'il faut pour laisser la poche actions atteindre 30,4 % sous la limite ; au-delà, chaque euro d'or supplémentaire coûte du rendement sans acheter assez de protection. Et c'est stable : huit tirages aléatoires différents donnent tous 3,3 %.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portefeuille retenu : environ 30 % d'actions, 51 % d'emprunts d'État, 15 % d'obligations indexées et 3 % d'or. Un point de méthode important : le rendement brut est de 5,31 %, mais l'objectif du client est un objectif NET — ce qui doit battre l'inflation, c'est ce qui lui reste. On retire donc les frais des fonds, 0,05 point, et nos frais de mandat, 0,40 point : il reste 4,86 % nets, soit 0,86 point au-dessus de l'inflation de l'énoncé. Si on me demande la fiscalité : elle est hors périmètre de cet exercice et retirerait encore environ 0,30 point. Pire baisse sur vingt ans : 14,0 %. Les actions ne font que 30 % du patrimoine mais apportent près de la moitié du rendement ; les obligations tiennent la limite de perte. Le petit 3,3 % d'or n'est pas un arrondi de confort : c'est un résidu de calcul, détaillé à la slide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en millions d'euros. Environ 12 millions sur les 15 actions européennes, à 1 M€ chacune ; 10 millions sur l'échelle AAA, qui rendront un peu plus que les 10 millions à décaisser ; 41 millions sur l'échelle d'emprunts d'État de 2 à 10 ans ; 15 millions en obligations indexées ; le reste en fonds d'actions américaines, japonaises et émergentes, et 3 millions en or — la seule ligne détenue pour sa tenue en crise et non pour son rendement. Les frais des fonds représentent environ 47 000 euros par an. Sur 2006-2026, ce portefeuille aurait rapporté 4,5 % par an ; ce n'est pas comparable au rendement espéré, parce que le passé comptait dix ans de taux négatifs alors que l'avenir part de taux autour de 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étape : rejouer le portefeuille sur vingt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millions investis en octobre 2006 en vaudraient 239 aujourd'hui, soit 4,47 % par an. Ce chiffre-là, il ne faut pas le comparer aux 4 % de l'énoncé : ces 4 % décrivent un monde à 4 % d'inflation, or la zone euro en a connu 2,18 % par an sur cette période, 53,5 % cumulés. Jugé contre l'inflation réellement constatée, le portefeuille a donc dégagé 2,29 point de rendement réel par an. L'objectif du client a été tenu, et largement. Je dois être honnête en revanche sur ce que ce rejeu prouve : rien sur la limite de perte, puisqu'on a construit le portefeuille pour qu'il ne perde jamais plus de 14 % sur ces mêmes données. Ce que le rejeu apporte, c'est ce que le calcul n'a pas regardé : combien de temps le client reste sous son plus haut, et à quoi ressemble une mauvaise année.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baisses les plus profondes, 2008 et 2020, font la même taille, 14 %, mais pas la même durée : 9 mois pour se remettre du krach de 2020, 23 mois pour 2008. La plus longue, c'est 2022 : 32 mois sous le plus haut, parce que les obligations, qui font les deux tiers du portefeuille, ont baissé avec les actions puis ont mis deux ans à se reconstituer. Pour le client, cela veut dire : la moitié du temps, son patrimoine est un peu sous son meilleur niveau ; une fois sur six, à plus de 5 % ; les pertes proches de la limite sont rares et brèves. C'est ce qu'il faut lui dire avant, pas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question : une mauvaise année. Une année sur vingt, le portefeuille a perdu plus de 6,5 % ; ces années-là, 8,5 % en moyenne. La pire année : −11,4 %. Remarquez l'écart avec la pire baisse de 14 % : les baisses s'accumulent sur plus d'un an, en 2008 comme en 2022. C'est pour cela que nous avons mesuré la limite depuis le plus haut : une limite sur un an aurait laissé passer ces baisses. Un chiffre que je préfère donner moi-même plutôt qu'on me le sorte : 29 % des années glissantes n'ont pas battu l'inflation de leur époque. C'est normal, et c'est important à dire : préserver le pouvoir d'achat est un objectif de moyenne longue, aucun portefeuille tenu à 15 % de perte maximum ne peut le garantir chaque année. Précaution enfin : vingt ans ne contiennent qu'une vingtaine d'années indépendantes ; ces chiffres reposent sur une poignée d'épisodes.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Nous proposons à M. Lauren un portefeuille qui rapporte 4,86 % espérés par an NETS de tous frais, soit 0,86 point au-dessus des 4 % d'inflation, et qui n'aurait jamais perdu plus de 14 % dans les crises des vingt dernières années. Environ 30 % d'actions réparties sur quatre zones, sans pari sur l'une d'elles ; une large poche d'emprunts d'État et d'indexées ; un peu d'or. Les 10 millions dont il a besoin sont sécurisés, à taux garantis.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choses pour terminer. D'abord les limites, que nous dirions franchement au client : la limite de perte tient sur les crises passées, pas forcément sur la prochaine ; certaines mesures anciennes reposent sur des remplaçants ; les rendements espérés sont des moyennes, pas des promesses ; et une baisse peut durer plus de deux ans. Ensuite, les questions que nous lui poserions, car nos hypothèses de travail devront être confirmées. Merci ; je suis à votre disposition pour vos questions, et je peux ouvrir l'application pour montrer n'importe quel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pour les questions techniques sur la méthode d'estimation du rendement des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sur les données : comment l'historique a été reconstitué, et les contrôles appliqués.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sur la notation. Le point à retenir si on me pose la question : ce n'est pas un modèle à facteurs. On n'explique pas un rendement, on classe des titres les uns par rapport aux autres — c'est du stock screening, et ça ne prétend pas prédire. Les trois étapes règlent trois problèmes concrets : mettre tous les indicateurs dans le sens « plus haut = mieux », les ramener sur une échelle commune en les comparant à leur propre secteur, et seulement alors en faire une moyenne. Le choix du secteur plutôt que du marché entier est le plus important : sans lui, on sélectionnerait des secteurs en croyant sélectionner des sociétés. Deux détails si on creuse : les données aberrantes sont supprimées et non corrigées — Yahoo confond les pence et les livres sur certaines valeurs de Londres, ce qui donnait des PER multipliés par cent — et pour les banques on retire l'endettement, le flux de trésorerie et la marge, parce que la dette d'une banque est sa matière première, pas un fardeau.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sur la courbe des taux. Si on me demande d'où viennent les taux que j'utilise pour valoriser les obligations : ils viennent de la courbe zéro-coupon publiée chaque jour par la Banque centrale européenne, calculée avec le modèle de Svensson. L'idée tient en une phrase : plutôt que de relier les points entre les obligations qui existent — ce qui recopie le bruit de cotation — on décrit la forme de la courbe par six nombres. Une courbe de taux a toujours la même allure : un niveau, une pente, une ou deux bosses. Quatre boutons règlent les tailles, deux règlent les positions. C'est comme décrire un visage : on peut lister chaque pixel, ou dire « ovale, yeux écartés, nez droit ». La seconde description est plus robuste, et surtout elle permet de donner le taux à six ans même si aucune obligation ne tombe exactement à six ans. Deux lectures immédiates pour un gérant : le niveau seul donne le très long terme, et le niveau plus la pente donnent le taux au jour le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et c'est la question qu'on me posera en premier. La théorie classique dit : matrice de covariance, minimisation de la variance, frontière efficiente. Je ne l'ai pas fait, pour une raison simple : la contrainte du client n'est pas une volatilité. Il n'a pas demandé une volatilité de six pour cent, il a demandé de ne jamais perdre plus de quinze. L'expérience qui tranche tient en une phrase : prenez les rendements mensuels, mélangez les mois comme un paquet de cartes. La volatilité est identique — elle ne regarde que la dispersion. La pire baisse, elle, change complètement : si les mauvais mois se suivent vous creusez quarante pour cent, s'ils sont éparpillés vous ne descendez jamais sous dix. La volatilité ignore l'ordre, le drawdown ne dépend que de l'ordre. Il n'y a donc pas de formule qui relie la covariance à la perte maximale, sauf sous hypothèse d'indépendance et de normalité — hypothèse fausse exactement dans les crises. Optimiser la variance en espérant que la perte suive aurait été un raccourci non vérifié. Je dois dire le prix de mon choix : la contrainte est mesurée sur une seule trajectoire, celle qui a eu lieu, donc c'est du surapprentissage. C'est précisément pour ça que le résultat brut du calcul libre est rejeté et que j'ajoute des règles dont je chiffre le coût une par une. Sur Black-Litterman enfin : écarté parce que mes opinions sont déjà dans les rendements espérés, qui sortent des valorisations. Dire que l'Europe est moins chère donc rapportera plus, c'est déjà l'opinion. La réinjecter serait la compter deux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sur les mesures obligataires, pour les chiffres de sensibilité cités dans le dossier. La duration, c'est le délai moyen de récupération de l'argent : une obligation à dix ans verse des coupons avant l'échéance, donc elle me rend mon argent en moyenne plus tôt que dans dix ans. La sensibilité, c'est la duration corrigée d'un petit facteur, et elle se lit directement : si les taux montent d'un point, le prix baisse d'à peu près autant de pour cent. C'est de là que vient le chiffre du dossier — l'échelle deux-dix ans perdrait 4,7 % si les taux montaient d'un point. L'intuition est simple : si je détiens du trois pour cent et que le marché se met à payer quatre, personne ne veut du mien à son prix actuel, donc il baisse jusqu'à redevenir compétitif. La convexité est la bonne nouvelle : la relation n'est pas une droite mais une courbe, et elle est courbée en faveur du détenteur — on perd un peu moins que prévu quand les taux montent, on gagne un peu plus quand ils baissent. Un détail de méthode si on me le demande : je ne passe pas par l'approximation sensibilité plus convexité, je revalorise réellement l'obligation avec la courbe décalée d'un point, ce qui est exact plutôt qu'approché et évite de décrocher sur les longues maturités. Enfin, si la courbe ne bouge pas d'un an sur l'autre, je gagne quand même par deux canaux : le portage, c'est-à-dire le coupon, et le glissement — mon obligation à dix ans devient une neuf ans, valorisée avec un taux plus bas sur une courbe montante, donc son prix monte tout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la suite de l'annexe E. E dit pourquoi je n'ai pas fait de Markowitz ; celle-ci dit ce que je fais à la place. On maximise le rendement espéré du portefeuille, c'est-à-dire la moyenne des rendements de chaque support pondérée par son poids. On s'interdit de perdre plus que la limite, et c'est le point important : pour chaque partage essayé, le programme rejoue vingt ans d'histoire — il place cent millions selon ces poids en octobre 2006, les remet à ces mêmes poids chaque mois, suit la valeur semaine après semaine, et mesure la plus forte baisse depuis un sommet. Enfin les poids sont bornés : positifs, somme de cent pour cent, dix pour cent au moins sur l'échelle AAA pour les dix millions à décaisser, la clé actions, et les plafonds. Pourquoi aucune formule ne donne la réponse : la variance de Markowitz est lisse et convexe, elle a une solution fermée. La pire baisse est un minimum sur vingt ans de dates, et déplacer un poids d'un dixième de point peut faire basculer la date qui la donne — deux mille huit devient deux mille vingt, et la contrainte saute d'un coup au lieu de varier doucement. Aucune dérivée fiable. On cherche donc, avec un solveur sous contraintes relancé depuis seize points de départ, et on garde le meilleur résultat admissible. QUATRE PRÉCAUTIONS, si on me demande pourquoi seize et pas un. Premièrement les départs sont admissibles par construction : un tirage au hasard ignore les plafonds, il pose en moyenne quatorze pour cent par support quand les matières premières plafonnent à cinq, et trois tirages sur deux cents seulement respectaient les bornes. Deuxièmement il existe un point de repli certain, un portefeuille très obligataire dont on sait qu'il tient la limite — et le repli naturel, tout en États deux-dix ans, est lui-même inadmissible puisque cent pour cent de ce support perd quinze virgule trois pour cent ; le repli est donc sur l'échelle AAA, qui perd sept virgule un. Troisièmement seize départs, parce qu'avant correction un seul sur seize aboutissait et trois graines sur huit ne trouvaient rien : le résultat tenait à un départ heureux. Quatrièmement on vérifie la limite pour de bon, parce que le solveur l'accepte à cinq pour dix mille près, ce qui laissait passer un portefeuille à moins quatorze virgule zéro cinq pour une limite de moins quatorze. Huit tirages indépendants donnent le même portefeuille : c'est ce qui permet de dire que le résultat n'est pas un accident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sur l'or, et c'est une question qui revient systématiquement. La réponse tient en une phrase : personne n'a choisi ce chiffre. Le plafond autorise 10 % et le calcul n'en prend que 3,3 %, ce qui veut dire que le plafond n'est pas la contrainte qui mord — si on le relevait, rien ne bougerait. L'or a le rendement espéré le plus faible du modèle, 4,00 %, à peine au-dessus des emprunts d'État à deux-dix ans. On ne le détient donc pas pour ce qu'il rapporte mais pour sa tenue en crise, et le tableau de gauche le montre : sur les quatre fenêtres de crise du dossier, en euros, l'or est le seul support du portefeuille à finir positif, quand la poche d'actions perd trente-neuf pour cent en deux mille huit et les emprunts d'État huit pour cent en deux mille vingt-deux. C'est de la protection achetée avec du rendement, et le calcul en prend exactement ce qu'il faut pour que la poche d'actions puisse atteindre trente pour cent sous la limite de perte ; au-delà, chaque euro d'or supplémentaire coûte du rendement sans acheter assez de protection pour financer une action de plus. Si on me montre la table des pires baisses, où l'or affiche moins vingt-cinq virgule sept en deux mille huit : les deux chiffres sont vrais et ne mesurent pas la même chose. Il a reculé de vingt-cinq pour cent à l'intérieur de la fenêtre, avant de la finir en hausse. Et le résultat est stable : huit tirages aléatoires différents donnent tous le même poids.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technique sur le lien entre l'étape 2 et l'étape 4, parce que le dossier annonce que chaque étape nourrit la suivante et qu'il faut pouvoir dire par quel canal. La lecture macro ne choisit aucun poids : elle fixe les rendements espérés de chaque classe, et c'est le calcul qui les convertit en poids sous la limite de perte. La distinction n'est pas cosmétique, elle explique pourquoi une erreur de diagnostic macro ne déforme pas le portefeuille dans les mêmes proportions. Ce qu'elle tranche : combien d'actions au total, par les rendements espérés des quatre zones ; et combien d'obligations indexées, puisque l'inflation de l'énoncé les porte au meilleur rendement obligataire du tableau et que le calcul sature leur plafond de quinze pour cent. Ce qu'elle ne tranche pas : la zone d'actions, figée par la clé quarante trente-cinq dix quinze précisément pour que la vue de zone ne devienne pas un pari ; et le secteur, puisque la note de l'étape trois compare chaque société à son propre secteur et se trouve aveugle aux secteurs par construction. UNE FORMULATION QUE J'AI CORRIGÉE, si elle figure encore quelque part : le crédit à zéro n'est PAS une décision macro. C'est une mesure de marché de l'étape trois — trois virgule trente-neuf pour cent défauts déduits, contre trois virgule soixante-trois pour les emprunts d'État. Enfin, la contrainte qui commande tout le reste n'est pas macro non plus : sur dix bornes du problème, deux seulement mordent, le plancher AAA et le plafond des indexées. L'or s'arrête à trois virgule trois pour cent pour un plafond de dix. Ce qui borne vraiment le portefeuille, c'est la limite de perte, atteinte exactement à la valeur visée.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210312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Mandat Lauren</a:t>
            </a:r>
            <a:endParaRPr lang="en-US" sz="4000" dirty="0"/>
          </a:p>
        </p:txBody>
      </p:sp>
      <p:sp>
        <p:nvSpPr>
          <p:cNvPr id="3" name="Text 1"/>
          <p:cNvSpPr txBox="1"/>
          <p:nvPr/>
        </p:nvSpPr>
        <p:spPr>
          <a:xfrm>
            <a:off x="548640" y="310896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Préserver le pouvoir d'achat de 100 M€ sans jamais perdre plus de 15 %</a:t>
            </a:r>
            <a:endParaRPr lang="en-US" sz="1800" dirty="0"/>
          </a:p>
          <a:p>
            <a:pPr indent="0" marL="0">
              <a:buNone/>
            </a:pPr>
            <a:endParaRPr lang="en-US" sz="1800" dirty="0"/>
          </a:p>
          <a:p>
            <a:pPr indent="0" marL="0">
              <a:buNone/>
            </a:pPr>
            <a:r>
              <a:rPr lang="en-US" sz="1800" dirty="0">
                <a:solidFill>
                  <a:srgbClr val="CADCFC"/>
                </a:solidFill>
                <a:latin typeface="Calibri" pitchFamily="34" charset="0"/>
                <a:ea typeface="Calibri" pitchFamily="34" charset="-122"/>
                <a:cs typeface="Calibri" pitchFamily="34" charset="-120"/>
              </a:rPr>
              <a:t>Proposition de gestion — de l'analyse macro au portefeuille ligne à ligne</a:t>
            </a:r>
            <a:endParaRPr lang="en-US" sz="1800" dirty="0"/>
          </a:p>
        </p:txBody>
      </p:sp>
      <p:sp>
        <p:nvSpPr>
          <p:cNvPr id="4" name="Text 2"/>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Allan Guichard · septembre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cas : M. Lauren, 60 ans, vient de céder sa startup</a:t>
            </a:r>
            <a:endParaRPr lang="en-US" sz="2600" dirty="0"/>
          </a:p>
        </p:txBody>
      </p:sp>
      <p:sp>
        <p:nvSpPr>
          <p:cNvPr id="3" name="Text 1"/>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4" name="Shape 2"/>
          <p:cNvSpPr/>
          <p:nvPr/>
        </p:nvSpPr>
        <p:spPr>
          <a:xfrm>
            <a:off x="548640" y="1325880"/>
            <a:ext cx="5577840" cy="4754880"/>
          </a:xfrm>
          <a:prstGeom prst="roundRect">
            <a:avLst>
              <a:gd name="adj" fmla="val 1538"/>
            </a:avLst>
          </a:prstGeom>
          <a:solidFill>
            <a:srgbClr val="F2F5F9"/>
          </a:solidFill>
          <a:ln w="12700">
            <a:solidFill>
              <a:srgbClr val="F2F5F9"/>
            </a:solidFill>
            <a:prstDash val="solid"/>
          </a:ln>
        </p:spPr>
      </p:sp>
      <p:sp>
        <p:nvSpPr>
          <p:cNvPr id="5" name="Text 3"/>
          <p:cNvSpPr txBox="1"/>
          <p:nvPr/>
        </p:nvSpPr>
        <p:spPr>
          <a:xfrm>
            <a:off x="822960" y="1508760"/>
            <a:ext cx="5029200" cy="4480560"/>
          </a:xfrm>
          <a:prstGeom prst="rect">
            <a:avLst/>
          </a:prstGeom>
          <a:noFill/>
          <a:ln/>
        </p:spPr>
        <p:txBody>
          <a:bodyPr wrap="square" lIns="0" tIns="0" rIns="0" bIns="0" rtlCol="0" anchor="t"/>
          <a:lstStyle/>
          <a:p>
            <a:pPr marL="203200" indent="-203200">
              <a:spcAft>
                <a:spcPts val="1600"/>
              </a:spcAft>
              <a:buSzPct val="100000"/>
              <a:buChar char="•"/>
            </a:pPr>
            <a:r>
              <a:rPr lang="en-US" sz="1900" b="1" dirty="0">
                <a:solidFill>
                  <a:srgbClr val="14304F"/>
                </a:solidFill>
                <a:latin typeface="Calibri" pitchFamily="34" charset="0"/>
                <a:ea typeface="Calibri" pitchFamily="34" charset="-122"/>
                <a:cs typeface="Calibri" pitchFamily="34" charset="-120"/>
              </a:rPr>
              <a:t>100 M€</a:t>
            </a:r>
            <a:pPr indent="0" marL="0">
              <a:spcAft>
                <a:spcPts val="1600"/>
              </a:spcAft>
              <a:buNone/>
            </a:pPr>
            <a:r>
              <a:rPr lang="en-US" sz="1900" dirty="0">
                <a:solidFill>
                  <a:srgbClr val="1F2937"/>
                </a:solidFill>
                <a:latin typeface="Calibri" pitchFamily="34" charset="0"/>
                <a:ea typeface="Calibri" pitchFamily="34" charset="-122"/>
                <a:cs typeface="Calibri" pitchFamily="34" charset="-120"/>
              </a:rPr>
              <a:t> en cash, une feuille blanche</a:t>
            </a:r>
            <a:endParaRPr lang="en-US" sz="1900" dirty="0"/>
          </a:p>
          <a:p>
            <a:pPr marL="203200" indent="-203200">
              <a:spcAft>
                <a:spcPts val="1600"/>
              </a:spcAft>
              <a:buSzPct val="100000"/>
              <a:buChar char="•"/>
            </a:pPr>
            <a:r>
              <a:rPr lang="en-US" sz="1900" b="1" dirty="0">
                <a:solidFill>
                  <a:srgbClr val="14304F"/>
                </a:solidFill>
                <a:latin typeface="Calibri" pitchFamily="34" charset="0"/>
                <a:ea typeface="Calibri" pitchFamily="34" charset="-122"/>
                <a:cs typeface="Calibri" pitchFamily="34" charset="-120"/>
              </a:rPr>
              <a:t>10 M€</a:t>
            </a:r>
            <a:pPr indent="0" marL="0">
              <a:spcAft>
                <a:spcPts val="1600"/>
              </a:spcAft>
              <a:buNone/>
            </a:pPr>
            <a:r>
              <a:rPr lang="en-US" sz="1900" dirty="0">
                <a:solidFill>
                  <a:srgbClr val="1F2937"/>
                </a:solidFill>
                <a:latin typeface="Calibri" pitchFamily="34" charset="0"/>
                <a:ea typeface="Calibri" pitchFamily="34" charset="-122"/>
                <a:cs typeface="Calibri" pitchFamily="34" charset="-120"/>
              </a:rPr>
              <a:t> à décaisser dans les deux ans</a:t>
            </a:r>
            <a:endParaRPr lang="en-US" sz="1900" dirty="0"/>
          </a:p>
          <a:p>
            <a:pPr marL="203200" indent="-203200">
              <a:spcAft>
                <a:spcPts val="1600"/>
              </a:spcAft>
              <a:buSzPct val="100000"/>
              <a:buChar char="•"/>
            </a:pPr>
            <a:r>
              <a:rPr lang="en-US" sz="1900" dirty="0">
                <a:solidFill>
                  <a:srgbClr val="1F2937"/>
                </a:solidFill>
                <a:latin typeface="Calibri" pitchFamily="34" charset="0"/>
                <a:ea typeface="Calibri" pitchFamily="34" charset="-122"/>
                <a:cs typeface="Calibri" pitchFamily="34" charset="-120"/>
              </a:rPr>
              <a:t>Protéger le reste contre une </a:t>
            </a:r>
            <a:pPr indent="0" marL="0">
              <a:spcAft>
                <a:spcPts val="1600"/>
              </a:spcAft>
              <a:buNone/>
            </a:pPr>
            <a:r>
              <a:rPr lang="en-US" sz="1900" b="1" dirty="0">
                <a:solidFill>
                  <a:srgbClr val="14304F"/>
                </a:solidFill>
                <a:latin typeface="Calibri" pitchFamily="34" charset="0"/>
                <a:ea typeface="Calibri" pitchFamily="34" charset="-122"/>
                <a:cs typeface="Calibri" pitchFamily="34" charset="-120"/>
              </a:rPr>
              <a:t>inflation de 4 %</a:t>
            </a:r>
            <a:endParaRPr lang="en-US" sz="1900" dirty="0"/>
          </a:p>
          <a:p>
            <a:pPr marL="203200" indent="-203200">
              <a:spcAft>
                <a:spcPts val="1600"/>
              </a:spcAft>
              <a:buSzPct val="100000"/>
              <a:buChar char="•"/>
            </a:pPr>
            <a:r>
              <a:rPr lang="en-US" sz="1900" dirty="0">
                <a:solidFill>
                  <a:srgbClr val="1F2937"/>
                </a:solidFill>
                <a:latin typeface="Calibri" pitchFamily="34" charset="0"/>
                <a:ea typeface="Calibri" pitchFamily="34" charset="-122"/>
                <a:cs typeface="Calibri" pitchFamily="34" charset="-120"/>
              </a:rPr>
              <a:t>Ne </a:t>
            </a:r>
            <a:pPr indent="0" marL="0">
              <a:spcAft>
                <a:spcPts val="1600"/>
              </a:spcAft>
              <a:buNone/>
            </a:pPr>
            <a:r>
              <a:rPr lang="en-US" sz="1900" b="1" dirty="0">
                <a:solidFill>
                  <a:srgbClr val="14304F"/>
                </a:solidFill>
                <a:latin typeface="Calibri" pitchFamily="34" charset="0"/>
                <a:ea typeface="Calibri" pitchFamily="34" charset="-122"/>
                <a:cs typeface="Calibri" pitchFamily="34" charset="-120"/>
              </a:rPr>
              <a:t>jamais perdre plus de 15 %</a:t>
            </a:r>
            <a:endParaRPr lang="en-US" sz="1900" dirty="0"/>
          </a:p>
          <a:p>
            <a:pPr marL="203200" indent="-203200">
              <a:spcAft>
                <a:spcPts val="1600"/>
              </a:spcAft>
              <a:buSzPct val="100000"/>
              <a:buChar char="•"/>
            </a:pPr>
            <a:r>
              <a:rPr lang="en-US" sz="1900" dirty="0">
                <a:solidFill>
                  <a:srgbClr val="1F2937"/>
                </a:solidFill>
                <a:latin typeface="Calibri" pitchFamily="34" charset="0"/>
                <a:ea typeface="Calibri" pitchFamily="34" charset="-122"/>
                <a:cs typeface="Calibri" pitchFamily="34" charset="-120"/>
              </a:rPr>
              <a:t>Exclure </a:t>
            </a:r>
            <a:pPr indent="0" marL="0">
              <a:spcAft>
                <a:spcPts val="1600"/>
              </a:spcAft>
              <a:buNone/>
            </a:pPr>
            <a:r>
              <a:rPr lang="en-US" sz="1900" b="1" dirty="0">
                <a:solidFill>
                  <a:srgbClr val="14304F"/>
                </a:solidFill>
                <a:latin typeface="Calibri" pitchFamily="34" charset="0"/>
                <a:ea typeface="Calibri" pitchFamily="34" charset="-122"/>
                <a:cs typeface="Calibri" pitchFamily="34" charset="-120"/>
              </a:rPr>
              <a:t>tabac, armement, charbon</a:t>
            </a:r>
            <a:endParaRPr lang="en-US" sz="1900" dirty="0"/>
          </a:p>
          <a:p>
            <a:pPr marL="203200" indent="-203200">
              <a:spcAft>
                <a:spcPts val="1600"/>
              </a:spcAft>
              <a:buSzPct val="100000"/>
              <a:buChar char="•"/>
            </a:pPr>
            <a:r>
              <a:rPr lang="en-US" sz="1900" dirty="0">
                <a:solidFill>
                  <a:srgbClr val="1F2937"/>
                </a:solidFill>
                <a:latin typeface="Calibri" pitchFamily="34" charset="0"/>
                <a:ea typeface="Calibri" pitchFamily="34" charset="-122"/>
                <a:cs typeface="Calibri" pitchFamily="34" charset="-120"/>
              </a:rPr>
              <a:t>Le fils veut de la </a:t>
            </a:r>
            <a:pPr indent="0" marL="0">
              <a:spcAft>
                <a:spcPts val="1600"/>
              </a:spcAft>
              <a:buNone/>
            </a:pPr>
            <a:r>
              <a:rPr lang="en-US" sz="1900" b="1" dirty="0">
                <a:solidFill>
                  <a:srgbClr val="14304F"/>
                </a:solidFill>
                <a:latin typeface="Calibri" pitchFamily="34" charset="0"/>
                <a:ea typeface="Calibri" pitchFamily="34" charset="-122"/>
                <a:cs typeface="Calibri" pitchFamily="34" charset="-120"/>
              </a:rPr>
              <a:t>crypto</a:t>
            </a:r>
            <a:pPr indent="0" marL="0">
              <a:spcAft>
                <a:spcPts val="1600"/>
              </a:spcAft>
              <a:buNone/>
            </a:pPr>
            <a:r>
              <a:rPr lang="en-US" sz="1900" dirty="0">
                <a:solidFill>
                  <a:srgbClr val="1F2937"/>
                </a:solidFill>
                <a:latin typeface="Calibri" pitchFamily="34" charset="0"/>
                <a:ea typeface="Calibri" pitchFamily="34" charset="-122"/>
                <a:cs typeface="Calibri" pitchFamily="34" charset="-120"/>
              </a:rPr>
              <a:t>, le père hésite</a:t>
            </a:r>
            <a:endParaRPr lang="en-US" sz="1900" dirty="0"/>
          </a:p>
          <a:p>
            <a:pPr marL="203200" indent="-203200">
              <a:spcAft>
                <a:spcPts val="1600"/>
              </a:spcAft>
              <a:buSzPct val="100000"/>
              <a:buChar char="•"/>
            </a:pPr>
            <a:r>
              <a:rPr lang="en-US" sz="1900" dirty="0">
                <a:solidFill>
                  <a:srgbClr val="1F2937"/>
                </a:solidFill>
                <a:latin typeface="Calibri" pitchFamily="34" charset="0"/>
                <a:ea typeface="Calibri" pitchFamily="34" charset="-122"/>
                <a:cs typeface="Calibri" pitchFamily="34" charset="-120"/>
              </a:rPr>
              <a:t>Inquiet sur </a:t>
            </a:r>
            <a:pPr indent="0" marL="0">
              <a:spcAft>
                <a:spcPts val="1600"/>
              </a:spcAft>
              <a:buNone/>
            </a:pPr>
            <a:r>
              <a:rPr lang="en-US" sz="1900" b="1" dirty="0">
                <a:solidFill>
                  <a:srgbClr val="14304F"/>
                </a:solidFill>
                <a:latin typeface="Calibri" pitchFamily="34" charset="0"/>
                <a:ea typeface="Calibri" pitchFamily="34" charset="-122"/>
                <a:cs typeface="Calibri" pitchFamily="34" charset="-120"/>
              </a:rPr>
              <a:t>l'Europe comme sur les États-Unis</a:t>
            </a:r>
            <a:endParaRPr lang="en-US" sz="1900" dirty="0"/>
          </a:p>
        </p:txBody>
      </p:sp>
      <p:sp>
        <p:nvSpPr>
          <p:cNvPr id="6" name="Text 4"/>
          <p:cNvSpPr txBox="1"/>
          <p:nvPr/>
        </p:nvSpPr>
        <p:spPr>
          <a:xfrm>
            <a:off x="6583680" y="1371600"/>
            <a:ext cx="5029200" cy="365760"/>
          </a:xfrm>
          <a:prstGeom prst="rect">
            <a:avLst/>
          </a:prstGeom>
          <a:noFill/>
          <a:ln/>
        </p:spPr>
        <p:txBody>
          <a:bodyPr wrap="square" lIns="0" tIns="0" rIns="0" bIns="0" rtlCol="0" anchor="ctr"/>
          <a:lstStyle/>
          <a:p>
            <a:pPr indent="0" marL="0">
              <a:buNone/>
            </a:pPr>
            <a:r>
              <a:rPr lang="en-US" sz="1800" b="1" dirty="0">
                <a:solidFill>
                  <a:srgbClr val="14304F"/>
                </a:solidFill>
                <a:latin typeface="Cambria" pitchFamily="34" charset="0"/>
                <a:ea typeface="Cambria" pitchFamily="34" charset="-122"/>
                <a:cs typeface="Cambria" pitchFamily="34" charset="-120"/>
              </a:rPr>
              <a:t>Le cœur du problème</a:t>
            </a:r>
            <a:endParaRPr lang="en-US" sz="1800" dirty="0"/>
          </a:p>
        </p:txBody>
      </p:sp>
      <p:sp>
        <p:nvSpPr>
          <p:cNvPr id="7" name="Text 5"/>
          <p:cNvSpPr txBox="1"/>
          <p:nvPr/>
        </p:nvSpPr>
        <p:spPr>
          <a:xfrm>
            <a:off x="6583680" y="1874520"/>
            <a:ext cx="2377440" cy="640080"/>
          </a:xfrm>
          <a:prstGeom prst="rect">
            <a:avLst/>
          </a:prstGeom>
          <a:noFill/>
          <a:ln/>
        </p:spPr>
        <p:txBody>
          <a:bodyPr wrap="square" lIns="0" tIns="0" rIns="0" bIns="0" rtlCol="0" anchor="b"/>
          <a:lstStyle/>
          <a:p>
            <a:pPr indent="0" marL="0">
              <a:buNone/>
            </a:pPr>
            <a:r>
              <a:rPr lang="en-US" sz="4400" b="1" dirty="0">
                <a:solidFill>
                  <a:srgbClr val="1BAF7A"/>
                </a:solidFill>
                <a:latin typeface="Cambria" pitchFamily="34" charset="0"/>
                <a:ea typeface="Cambria" pitchFamily="34" charset="-122"/>
                <a:cs typeface="Cambria" pitchFamily="34" charset="-120"/>
              </a:rPr>
              <a:t>≥ 4 %</a:t>
            </a:r>
            <a:endParaRPr lang="en-US" sz="4400" dirty="0"/>
          </a:p>
        </p:txBody>
      </p:sp>
      <p:sp>
        <p:nvSpPr>
          <p:cNvPr id="8" name="Text 6"/>
          <p:cNvSpPr txBox="1"/>
          <p:nvPr/>
        </p:nvSpPr>
        <p:spPr>
          <a:xfrm>
            <a:off x="6583680" y="2532888"/>
            <a:ext cx="23774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par an, pour ne pas s'appauvrir</a:t>
            </a:r>
            <a:endParaRPr lang="en-US" sz="1200" dirty="0"/>
          </a:p>
        </p:txBody>
      </p:sp>
      <p:sp>
        <p:nvSpPr>
          <p:cNvPr id="9" name="Text 7"/>
          <p:cNvSpPr txBox="1"/>
          <p:nvPr/>
        </p:nvSpPr>
        <p:spPr>
          <a:xfrm>
            <a:off x="9144000" y="1874520"/>
            <a:ext cx="2468880" cy="640080"/>
          </a:xfrm>
          <a:prstGeom prst="rect">
            <a:avLst/>
          </a:prstGeom>
          <a:noFill/>
          <a:ln/>
        </p:spPr>
        <p:txBody>
          <a:bodyPr wrap="square" lIns="0" tIns="0" rIns="0" bIns="0" rtlCol="0" anchor="b"/>
          <a:lstStyle/>
          <a:p>
            <a:pPr indent="0" marL="0">
              <a:buNone/>
            </a:pPr>
            <a:r>
              <a:rPr lang="en-US" sz="4400" b="1" dirty="0">
                <a:solidFill>
                  <a:srgbClr val="C2410C"/>
                </a:solidFill>
                <a:latin typeface="Cambria" pitchFamily="34" charset="0"/>
                <a:ea typeface="Cambria" pitchFamily="34" charset="-122"/>
                <a:cs typeface="Cambria" pitchFamily="34" charset="-120"/>
              </a:rPr>
              <a:t>≤ 15 %</a:t>
            </a:r>
            <a:endParaRPr lang="en-US" sz="4400" dirty="0"/>
          </a:p>
        </p:txBody>
      </p:sp>
      <p:sp>
        <p:nvSpPr>
          <p:cNvPr id="10" name="Text 8"/>
          <p:cNvSpPr txBox="1"/>
          <p:nvPr/>
        </p:nvSpPr>
        <p:spPr>
          <a:xfrm>
            <a:off x="9144000" y="2532888"/>
            <a:ext cx="246888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baisse, jamais</a:t>
            </a:r>
            <a:endParaRPr lang="en-US" sz="1200" dirty="0"/>
          </a:p>
        </p:txBody>
      </p:sp>
      <p:sp>
        <p:nvSpPr>
          <p:cNvPr id="11" name="Shape 9"/>
          <p:cNvSpPr/>
          <p:nvPr/>
        </p:nvSpPr>
        <p:spPr>
          <a:xfrm>
            <a:off x="6583680" y="3657600"/>
            <a:ext cx="5056632" cy="2377440"/>
          </a:xfrm>
          <a:prstGeom prst="roundRect">
            <a:avLst>
              <a:gd name="adj" fmla="val 3077"/>
            </a:avLst>
          </a:prstGeom>
          <a:solidFill>
            <a:srgbClr val="14304F"/>
          </a:solidFill>
          <a:ln w="12700">
            <a:solidFill>
              <a:srgbClr val="14304F"/>
            </a:solidFill>
            <a:prstDash val="solid"/>
          </a:ln>
        </p:spPr>
      </p:sp>
      <p:sp>
        <p:nvSpPr>
          <p:cNvPr id="12" name="Text 10"/>
          <p:cNvSpPr txBox="1"/>
          <p:nvPr/>
        </p:nvSpPr>
        <p:spPr>
          <a:xfrm>
            <a:off x="6812280" y="3794760"/>
            <a:ext cx="4599432" cy="21031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Viser 4 % impose de prendre du risque ; limiter la perte à 15 % en interdit trop. </a:t>
            </a:r>
            <a:pPr indent="0" marL="0">
              <a:buNone/>
            </a:pPr>
            <a:r>
              <a:rPr lang="en-US" sz="1600" b="1" dirty="0">
                <a:solidFill>
                  <a:srgbClr val="F5C969"/>
                </a:solidFill>
                <a:latin typeface="Calibri" pitchFamily="34" charset="0"/>
                <a:ea typeface="Calibri" pitchFamily="34" charset="-122"/>
                <a:cs typeface="Calibri" pitchFamily="34" charset="-120"/>
              </a:rPr>
              <a:t>Tout l'exercice : trouver un portefeuille qui tient les deux à la fois.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Notre démarche : cinq étapes, chacune nourrit la suivante</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Le processus d'un fonds multi-actifs : du plus général au plus détaillé, puis vérification sur le passé</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548640" y="2011680"/>
            <a:ext cx="2011680" cy="3383280"/>
          </a:xfrm>
          <a:prstGeom prst="roundRect">
            <a:avLst>
              <a:gd name="adj" fmla="val 3636"/>
            </a:avLst>
          </a:prstGeom>
          <a:solidFill>
            <a:srgbClr val="F2F5F9"/>
          </a:solidFill>
          <a:ln w="12700">
            <a:solidFill>
              <a:srgbClr val="F2F5F9"/>
            </a:solidFill>
            <a:prstDash val="solid"/>
          </a:ln>
        </p:spPr>
      </p:sp>
      <p:sp>
        <p:nvSpPr>
          <p:cNvPr id="6" name="Shape 4"/>
          <p:cNvSpPr/>
          <p:nvPr/>
        </p:nvSpPr>
        <p:spPr>
          <a:xfrm>
            <a:off x="731520" y="2194560"/>
            <a:ext cx="566928" cy="566928"/>
          </a:xfrm>
          <a:prstGeom prst="ellipse">
            <a:avLst/>
          </a:prstGeom>
          <a:solidFill>
            <a:srgbClr val="14304F"/>
          </a:solidFill>
          <a:ln w="12700">
            <a:solidFill>
              <a:srgbClr val="14304F"/>
            </a:solidFill>
            <a:prstDash val="solid"/>
          </a:ln>
        </p:spPr>
      </p:sp>
      <p:sp>
        <p:nvSpPr>
          <p:cNvPr id="7" name="Text 5"/>
          <p:cNvSpPr txBox="1"/>
          <p:nvPr/>
        </p:nvSpPr>
        <p:spPr>
          <a:xfrm>
            <a:off x="731520" y="2194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731520" y="2926080"/>
            <a:ext cx="1645920" cy="411480"/>
          </a:xfrm>
          <a:prstGeom prst="rect">
            <a:avLst/>
          </a:prstGeom>
          <a:noFill/>
          <a:ln/>
        </p:spPr>
        <p:txBody>
          <a:bodyPr wrap="square" lIns="0" tIns="0" rIns="0" bIns="0" rtlCol="0" anchor="ctr"/>
          <a:lstStyle/>
          <a:p>
            <a:pPr indent="0" marL="0">
              <a:buNone/>
            </a:pPr>
            <a:r>
              <a:rPr lang="en-US" sz="1800" b="1" dirty="0">
                <a:solidFill>
                  <a:srgbClr val="14304F"/>
                </a:solidFill>
                <a:latin typeface="Cambria" pitchFamily="34" charset="0"/>
                <a:ea typeface="Cambria" pitchFamily="34" charset="-122"/>
                <a:cs typeface="Cambria" pitchFamily="34" charset="-120"/>
              </a:rPr>
              <a:t>Paramètres</a:t>
            </a:r>
            <a:endParaRPr lang="en-US" sz="1800" dirty="0"/>
          </a:p>
        </p:txBody>
      </p:sp>
      <p:sp>
        <p:nvSpPr>
          <p:cNvPr id="9" name="Text 7"/>
          <p:cNvSpPr txBox="1"/>
          <p:nvPr/>
        </p:nvSpPr>
        <p:spPr>
          <a:xfrm>
            <a:off x="731520" y="3383280"/>
            <a:ext cx="1645920" cy="822960"/>
          </a:xfrm>
          <a:prstGeom prst="rect">
            <a:avLst/>
          </a:prstGeom>
          <a:noFill/>
          <a:ln/>
        </p:spPr>
        <p:txBody>
          <a:bodyPr wrap="square" lIns="0" tIns="0" rIns="0" bIns="0" rtlCol="0" anchor="t"/>
          <a:lstStyle/>
          <a:p>
            <a:pPr indent="0" marL="0">
              <a:buNone/>
            </a:pPr>
            <a:r>
              <a:rPr lang="en-US" sz="1400" i="1" dirty="0">
                <a:solidFill>
                  <a:srgbClr val="1F2937"/>
                </a:solidFill>
                <a:latin typeface="Calibri" pitchFamily="34" charset="0"/>
                <a:ea typeface="Calibri" pitchFamily="34" charset="-122"/>
                <a:cs typeface="Calibri" pitchFamily="34" charset="-120"/>
              </a:rPr>
              <a:t>Que demande le client ?</a:t>
            </a:r>
            <a:endParaRPr lang="en-US" sz="1400" dirty="0"/>
          </a:p>
        </p:txBody>
      </p:sp>
      <p:sp>
        <p:nvSpPr>
          <p:cNvPr id="10" name="Text 8"/>
          <p:cNvSpPr txBox="1"/>
          <p:nvPr/>
        </p:nvSpPr>
        <p:spPr>
          <a:xfrm>
            <a:off x="731520" y="4480560"/>
            <a:ext cx="1645920" cy="1097280"/>
          </a:xfrm>
          <a:prstGeom prst="rect">
            <a:avLst/>
          </a:prstGeom>
          <a:noFill/>
          <a:ln/>
        </p:spPr>
        <p:txBody>
          <a:bodyPr wrap="square" lIns="0" tIns="0" rIns="0" bIns="0" rtlCol="0" anchor="t"/>
          <a:lstStyle/>
          <a:p>
            <a:pPr indent="0" marL="0">
              <a:buNone/>
            </a:pPr>
            <a:r>
              <a:rPr lang="en-US" sz="1300" b="1" dirty="0">
                <a:solidFill>
                  <a:srgbClr val="C98A1B"/>
                </a:solidFill>
                <a:latin typeface="Calibri" pitchFamily="34" charset="0"/>
                <a:ea typeface="Calibri" pitchFamily="34" charset="-122"/>
                <a:cs typeface="Calibri" pitchFamily="34" charset="-120"/>
              </a:rPr>
              <a:t>→ Contraintes et hypothèses</a:t>
            </a:r>
            <a:endParaRPr lang="en-US" sz="1300" dirty="0"/>
          </a:p>
        </p:txBody>
      </p:sp>
      <p:sp>
        <p:nvSpPr>
          <p:cNvPr id="11" name="Shape 9"/>
          <p:cNvSpPr/>
          <p:nvPr/>
        </p:nvSpPr>
        <p:spPr>
          <a:xfrm>
            <a:off x="2798064" y="2011680"/>
            <a:ext cx="2011680" cy="3383280"/>
          </a:xfrm>
          <a:prstGeom prst="roundRect">
            <a:avLst>
              <a:gd name="adj" fmla="val 3636"/>
            </a:avLst>
          </a:prstGeom>
          <a:solidFill>
            <a:srgbClr val="F2F5F9"/>
          </a:solidFill>
          <a:ln w="12700">
            <a:solidFill>
              <a:srgbClr val="F2F5F9"/>
            </a:solidFill>
            <a:prstDash val="solid"/>
          </a:ln>
        </p:spPr>
      </p:sp>
      <p:sp>
        <p:nvSpPr>
          <p:cNvPr id="12" name="Shape 10"/>
          <p:cNvSpPr/>
          <p:nvPr/>
        </p:nvSpPr>
        <p:spPr>
          <a:xfrm>
            <a:off x="2980944" y="2194560"/>
            <a:ext cx="566928" cy="566928"/>
          </a:xfrm>
          <a:prstGeom prst="ellipse">
            <a:avLst/>
          </a:prstGeom>
          <a:solidFill>
            <a:srgbClr val="14304F"/>
          </a:solidFill>
          <a:ln w="12700">
            <a:solidFill>
              <a:srgbClr val="14304F"/>
            </a:solidFill>
            <a:prstDash val="solid"/>
          </a:ln>
        </p:spPr>
      </p:sp>
      <p:sp>
        <p:nvSpPr>
          <p:cNvPr id="13" name="Text 11"/>
          <p:cNvSpPr txBox="1"/>
          <p:nvPr/>
        </p:nvSpPr>
        <p:spPr>
          <a:xfrm>
            <a:off x="2980944" y="2194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txBox="1"/>
          <p:nvPr/>
        </p:nvSpPr>
        <p:spPr>
          <a:xfrm>
            <a:off x="2980944" y="2926080"/>
            <a:ext cx="1645920" cy="411480"/>
          </a:xfrm>
          <a:prstGeom prst="rect">
            <a:avLst/>
          </a:prstGeom>
          <a:noFill/>
          <a:ln/>
        </p:spPr>
        <p:txBody>
          <a:bodyPr wrap="square" lIns="0" tIns="0" rIns="0" bIns="0" rtlCol="0" anchor="ctr"/>
          <a:lstStyle/>
          <a:p>
            <a:pPr indent="0" marL="0">
              <a:buNone/>
            </a:pPr>
            <a:r>
              <a:rPr lang="en-US" sz="1800" b="1" dirty="0">
                <a:solidFill>
                  <a:srgbClr val="14304F"/>
                </a:solidFill>
                <a:latin typeface="Cambria" pitchFamily="34" charset="0"/>
                <a:ea typeface="Cambria" pitchFamily="34" charset="-122"/>
                <a:cs typeface="Cambria" pitchFamily="34" charset="-120"/>
              </a:rPr>
              <a:t>Macro</a:t>
            </a:r>
            <a:endParaRPr lang="en-US" sz="1800" dirty="0"/>
          </a:p>
        </p:txBody>
      </p:sp>
      <p:sp>
        <p:nvSpPr>
          <p:cNvPr id="15" name="Text 13"/>
          <p:cNvSpPr txBox="1"/>
          <p:nvPr/>
        </p:nvSpPr>
        <p:spPr>
          <a:xfrm>
            <a:off x="2980944" y="3383280"/>
            <a:ext cx="1645920" cy="822960"/>
          </a:xfrm>
          <a:prstGeom prst="rect">
            <a:avLst/>
          </a:prstGeom>
          <a:noFill/>
          <a:ln/>
        </p:spPr>
        <p:txBody>
          <a:bodyPr wrap="square" lIns="0" tIns="0" rIns="0" bIns="0" rtlCol="0" anchor="t"/>
          <a:lstStyle/>
          <a:p>
            <a:pPr indent="0" marL="0">
              <a:buNone/>
            </a:pPr>
            <a:r>
              <a:rPr lang="en-US" sz="1400" i="1" dirty="0">
                <a:solidFill>
                  <a:srgbClr val="1F2937"/>
                </a:solidFill>
                <a:latin typeface="Calibri" pitchFamily="34" charset="0"/>
                <a:ea typeface="Calibri" pitchFamily="34" charset="-122"/>
                <a:cs typeface="Calibri" pitchFamily="34" charset="-120"/>
              </a:rPr>
              <a:t>Où en est l'économie ?</a:t>
            </a:r>
            <a:endParaRPr lang="en-US" sz="1400" dirty="0"/>
          </a:p>
        </p:txBody>
      </p:sp>
      <p:sp>
        <p:nvSpPr>
          <p:cNvPr id="16" name="Text 14"/>
          <p:cNvSpPr txBox="1"/>
          <p:nvPr/>
        </p:nvSpPr>
        <p:spPr>
          <a:xfrm>
            <a:off x="2980944" y="4480560"/>
            <a:ext cx="1645920" cy="1097280"/>
          </a:xfrm>
          <a:prstGeom prst="rect">
            <a:avLst/>
          </a:prstGeom>
          <a:noFill/>
          <a:ln/>
        </p:spPr>
        <p:txBody>
          <a:bodyPr wrap="square" lIns="0" tIns="0" rIns="0" bIns="0" rtlCol="0" anchor="t"/>
          <a:lstStyle/>
          <a:p>
            <a:pPr indent="0" marL="0">
              <a:buNone/>
            </a:pPr>
            <a:r>
              <a:rPr lang="en-US" sz="1300" b="1" dirty="0">
                <a:solidFill>
                  <a:srgbClr val="C98A1B"/>
                </a:solidFill>
                <a:latin typeface="Calibri" pitchFamily="34" charset="0"/>
                <a:ea typeface="Calibri" pitchFamily="34" charset="-122"/>
                <a:cs typeface="Calibri" pitchFamily="34" charset="-120"/>
              </a:rPr>
              <a:t>→ Un rendement espéré par classe</a:t>
            </a:r>
            <a:endParaRPr lang="en-US" sz="1300" dirty="0"/>
          </a:p>
        </p:txBody>
      </p:sp>
      <p:sp>
        <p:nvSpPr>
          <p:cNvPr id="17" name="Shape 15"/>
          <p:cNvSpPr/>
          <p:nvPr/>
        </p:nvSpPr>
        <p:spPr>
          <a:xfrm>
            <a:off x="5047488" y="2011680"/>
            <a:ext cx="2011680" cy="3383280"/>
          </a:xfrm>
          <a:prstGeom prst="roundRect">
            <a:avLst>
              <a:gd name="adj" fmla="val 3636"/>
            </a:avLst>
          </a:prstGeom>
          <a:solidFill>
            <a:srgbClr val="F2F5F9"/>
          </a:solidFill>
          <a:ln w="12700">
            <a:solidFill>
              <a:srgbClr val="F2F5F9"/>
            </a:solidFill>
            <a:prstDash val="solid"/>
          </a:ln>
        </p:spPr>
      </p:sp>
      <p:sp>
        <p:nvSpPr>
          <p:cNvPr id="18" name="Shape 16"/>
          <p:cNvSpPr/>
          <p:nvPr/>
        </p:nvSpPr>
        <p:spPr>
          <a:xfrm>
            <a:off x="5230368" y="2194560"/>
            <a:ext cx="566928" cy="566928"/>
          </a:xfrm>
          <a:prstGeom prst="ellipse">
            <a:avLst/>
          </a:prstGeom>
          <a:solidFill>
            <a:srgbClr val="14304F"/>
          </a:solidFill>
          <a:ln w="12700">
            <a:solidFill>
              <a:srgbClr val="14304F"/>
            </a:solidFill>
            <a:prstDash val="solid"/>
          </a:ln>
        </p:spPr>
      </p:sp>
      <p:sp>
        <p:nvSpPr>
          <p:cNvPr id="19" name="Text 17"/>
          <p:cNvSpPr txBox="1"/>
          <p:nvPr/>
        </p:nvSpPr>
        <p:spPr>
          <a:xfrm>
            <a:off x="5230368" y="2194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txBox="1"/>
          <p:nvPr/>
        </p:nvSpPr>
        <p:spPr>
          <a:xfrm>
            <a:off x="5230368" y="2926080"/>
            <a:ext cx="1645920" cy="411480"/>
          </a:xfrm>
          <a:prstGeom prst="rect">
            <a:avLst/>
          </a:prstGeom>
          <a:noFill/>
          <a:ln/>
        </p:spPr>
        <p:txBody>
          <a:bodyPr wrap="square" lIns="0" tIns="0" rIns="0" bIns="0" rtlCol="0" anchor="ctr"/>
          <a:lstStyle/>
          <a:p>
            <a:pPr indent="0" marL="0">
              <a:buNone/>
            </a:pPr>
            <a:r>
              <a:rPr lang="en-US" sz="1800" b="1" dirty="0">
                <a:solidFill>
                  <a:srgbClr val="14304F"/>
                </a:solidFill>
                <a:latin typeface="Cambria" pitchFamily="34" charset="0"/>
                <a:ea typeface="Cambria" pitchFamily="34" charset="-122"/>
                <a:cs typeface="Cambria" pitchFamily="34" charset="-120"/>
              </a:rPr>
              <a:t>Ligne à ligne</a:t>
            </a:r>
            <a:endParaRPr lang="en-US" sz="1800" dirty="0"/>
          </a:p>
        </p:txBody>
      </p:sp>
      <p:sp>
        <p:nvSpPr>
          <p:cNvPr id="21" name="Text 19"/>
          <p:cNvSpPr txBox="1"/>
          <p:nvPr/>
        </p:nvSpPr>
        <p:spPr>
          <a:xfrm>
            <a:off x="5230368" y="3383280"/>
            <a:ext cx="1645920" cy="822960"/>
          </a:xfrm>
          <a:prstGeom prst="rect">
            <a:avLst/>
          </a:prstGeom>
          <a:noFill/>
          <a:ln/>
        </p:spPr>
        <p:txBody>
          <a:bodyPr wrap="square" lIns="0" tIns="0" rIns="0" bIns="0" rtlCol="0" anchor="t"/>
          <a:lstStyle/>
          <a:p>
            <a:pPr indent="0" marL="0">
              <a:buNone/>
            </a:pPr>
            <a:r>
              <a:rPr lang="en-US" sz="1400" i="1" dirty="0">
                <a:solidFill>
                  <a:srgbClr val="1F2937"/>
                </a:solidFill>
                <a:latin typeface="Calibri" pitchFamily="34" charset="0"/>
                <a:ea typeface="Calibri" pitchFamily="34" charset="-122"/>
                <a:cs typeface="Calibri" pitchFamily="34" charset="-120"/>
              </a:rPr>
              <a:t>Dans quoi investir ?</a:t>
            </a:r>
            <a:endParaRPr lang="en-US" sz="1400" dirty="0"/>
          </a:p>
        </p:txBody>
      </p:sp>
      <p:sp>
        <p:nvSpPr>
          <p:cNvPr id="22" name="Text 20"/>
          <p:cNvSpPr txBox="1"/>
          <p:nvPr/>
        </p:nvSpPr>
        <p:spPr>
          <a:xfrm>
            <a:off x="5230368" y="4480560"/>
            <a:ext cx="1645920" cy="1097280"/>
          </a:xfrm>
          <a:prstGeom prst="rect">
            <a:avLst/>
          </a:prstGeom>
          <a:noFill/>
          <a:ln/>
        </p:spPr>
        <p:txBody>
          <a:bodyPr wrap="square" lIns="0" tIns="0" rIns="0" bIns="0" rtlCol="0" anchor="t"/>
          <a:lstStyle/>
          <a:p>
            <a:pPr indent="0" marL="0">
              <a:buNone/>
            </a:pPr>
            <a:r>
              <a:rPr lang="en-US" sz="1300" b="1" dirty="0">
                <a:solidFill>
                  <a:srgbClr val="C98A1B"/>
                </a:solidFill>
                <a:latin typeface="Calibri" pitchFamily="34" charset="0"/>
                <a:ea typeface="Calibri" pitchFamily="34" charset="-122"/>
                <a:cs typeface="Calibri" pitchFamily="34" charset="-120"/>
              </a:rPr>
              <a:t>→ Un support par classe</a:t>
            </a:r>
            <a:endParaRPr lang="en-US" sz="1300" dirty="0"/>
          </a:p>
        </p:txBody>
      </p:sp>
      <p:sp>
        <p:nvSpPr>
          <p:cNvPr id="23" name="Shape 21"/>
          <p:cNvSpPr/>
          <p:nvPr/>
        </p:nvSpPr>
        <p:spPr>
          <a:xfrm>
            <a:off x="7296912" y="2011680"/>
            <a:ext cx="2011680" cy="3383280"/>
          </a:xfrm>
          <a:prstGeom prst="roundRect">
            <a:avLst>
              <a:gd name="adj" fmla="val 3636"/>
            </a:avLst>
          </a:prstGeom>
          <a:solidFill>
            <a:srgbClr val="F2F5F9"/>
          </a:solidFill>
          <a:ln w="12700">
            <a:solidFill>
              <a:srgbClr val="F2F5F9"/>
            </a:solidFill>
            <a:prstDash val="solid"/>
          </a:ln>
        </p:spPr>
      </p:sp>
      <p:sp>
        <p:nvSpPr>
          <p:cNvPr id="24" name="Shape 22"/>
          <p:cNvSpPr/>
          <p:nvPr/>
        </p:nvSpPr>
        <p:spPr>
          <a:xfrm>
            <a:off x="7479792" y="2194560"/>
            <a:ext cx="566928" cy="566928"/>
          </a:xfrm>
          <a:prstGeom prst="ellipse">
            <a:avLst/>
          </a:prstGeom>
          <a:solidFill>
            <a:srgbClr val="14304F"/>
          </a:solidFill>
          <a:ln w="12700">
            <a:solidFill>
              <a:srgbClr val="14304F"/>
            </a:solidFill>
            <a:prstDash val="solid"/>
          </a:ln>
        </p:spPr>
      </p:sp>
      <p:sp>
        <p:nvSpPr>
          <p:cNvPr id="25" name="Text 23"/>
          <p:cNvSpPr txBox="1"/>
          <p:nvPr/>
        </p:nvSpPr>
        <p:spPr>
          <a:xfrm>
            <a:off x="7479792" y="2194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4"/>
          <p:cNvSpPr txBox="1"/>
          <p:nvPr/>
        </p:nvSpPr>
        <p:spPr>
          <a:xfrm>
            <a:off x="7479792" y="2926080"/>
            <a:ext cx="1645920" cy="411480"/>
          </a:xfrm>
          <a:prstGeom prst="rect">
            <a:avLst/>
          </a:prstGeom>
          <a:noFill/>
          <a:ln/>
        </p:spPr>
        <p:txBody>
          <a:bodyPr wrap="square" lIns="0" tIns="0" rIns="0" bIns="0" rtlCol="0" anchor="ctr"/>
          <a:lstStyle/>
          <a:p>
            <a:pPr indent="0" marL="0">
              <a:buNone/>
            </a:pPr>
            <a:r>
              <a:rPr lang="en-US" sz="1800" b="1" dirty="0">
                <a:solidFill>
                  <a:srgbClr val="14304F"/>
                </a:solidFill>
                <a:latin typeface="Cambria" pitchFamily="34" charset="0"/>
                <a:ea typeface="Cambria" pitchFamily="34" charset="-122"/>
                <a:cs typeface="Cambria" pitchFamily="34" charset="-120"/>
              </a:rPr>
              <a:t>Allocation</a:t>
            </a:r>
            <a:endParaRPr lang="en-US" sz="1800" dirty="0"/>
          </a:p>
        </p:txBody>
      </p:sp>
      <p:sp>
        <p:nvSpPr>
          <p:cNvPr id="27" name="Text 25"/>
          <p:cNvSpPr txBox="1"/>
          <p:nvPr/>
        </p:nvSpPr>
        <p:spPr>
          <a:xfrm>
            <a:off x="7479792" y="3383280"/>
            <a:ext cx="1645920" cy="822960"/>
          </a:xfrm>
          <a:prstGeom prst="rect">
            <a:avLst/>
          </a:prstGeom>
          <a:noFill/>
          <a:ln/>
        </p:spPr>
        <p:txBody>
          <a:bodyPr wrap="square" lIns="0" tIns="0" rIns="0" bIns="0" rtlCol="0" anchor="t"/>
          <a:lstStyle/>
          <a:p>
            <a:pPr indent="0" marL="0">
              <a:buNone/>
            </a:pPr>
            <a:r>
              <a:rPr lang="en-US" sz="1400" i="1" dirty="0">
                <a:solidFill>
                  <a:srgbClr val="1F2937"/>
                </a:solidFill>
                <a:latin typeface="Calibri" pitchFamily="34" charset="0"/>
                <a:ea typeface="Calibri" pitchFamily="34" charset="-122"/>
                <a:cs typeface="Calibri" pitchFamily="34" charset="-120"/>
              </a:rPr>
              <a:t>Combien sur chacun ?</a:t>
            </a:r>
            <a:endParaRPr lang="en-US" sz="1400" dirty="0"/>
          </a:p>
        </p:txBody>
      </p:sp>
      <p:sp>
        <p:nvSpPr>
          <p:cNvPr id="28" name="Text 26"/>
          <p:cNvSpPr txBox="1"/>
          <p:nvPr/>
        </p:nvSpPr>
        <p:spPr>
          <a:xfrm>
            <a:off x="7479792" y="4480560"/>
            <a:ext cx="1645920" cy="1097280"/>
          </a:xfrm>
          <a:prstGeom prst="rect">
            <a:avLst/>
          </a:prstGeom>
          <a:noFill/>
          <a:ln/>
        </p:spPr>
        <p:txBody>
          <a:bodyPr wrap="square" lIns="0" tIns="0" rIns="0" bIns="0" rtlCol="0" anchor="t"/>
          <a:lstStyle/>
          <a:p>
            <a:pPr indent="0" marL="0">
              <a:buNone/>
            </a:pPr>
            <a:r>
              <a:rPr lang="en-US" sz="1300" b="1" dirty="0">
                <a:solidFill>
                  <a:srgbClr val="C98A1B"/>
                </a:solidFill>
                <a:latin typeface="Calibri" pitchFamily="34" charset="0"/>
                <a:ea typeface="Calibri" pitchFamily="34" charset="-122"/>
                <a:cs typeface="Calibri" pitchFamily="34" charset="-120"/>
              </a:rPr>
              <a:t>→ Le portefeuille en M€</a:t>
            </a:r>
            <a:endParaRPr lang="en-US" sz="1300" dirty="0"/>
          </a:p>
        </p:txBody>
      </p:sp>
      <p:sp>
        <p:nvSpPr>
          <p:cNvPr id="29" name="Shape 27"/>
          <p:cNvSpPr/>
          <p:nvPr/>
        </p:nvSpPr>
        <p:spPr>
          <a:xfrm>
            <a:off x="9546336" y="2011680"/>
            <a:ext cx="2011680" cy="3383280"/>
          </a:xfrm>
          <a:prstGeom prst="roundRect">
            <a:avLst>
              <a:gd name="adj" fmla="val 3636"/>
            </a:avLst>
          </a:prstGeom>
          <a:solidFill>
            <a:srgbClr val="F2F5F9"/>
          </a:solidFill>
          <a:ln w="12700">
            <a:solidFill>
              <a:srgbClr val="F2F5F9"/>
            </a:solidFill>
            <a:prstDash val="solid"/>
          </a:ln>
        </p:spPr>
      </p:sp>
      <p:sp>
        <p:nvSpPr>
          <p:cNvPr id="30" name="Shape 28"/>
          <p:cNvSpPr/>
          <p:nvPr/>
        </p:nvSpPr>
        <p:spPr>
          <a:xfrm>
            <a:off x="9729216" y="2194560"/>
            <a:ext cx="566928" cy="566928"/>
          </a:xfrm>
          <a:prstGeom prst="ellipse">
            <a:avLst/>
          </a:prstGeom>
          <a:solidFill>
            <a:srgbClr val="14304F"/>
          </a:solidFill>
          <a:ln w="12700">
            <a:solidFill>
              <a:srgbClr val="14304F"/>
            </a:solidFill>
            <a:prstDash val="solid"/>
          </a:ln>
        </p:spPr>
      </p:sp>
      <p:sp>
        <p:nvSpPr>
          <p:cNvPr id="31" name="Text 29"/>
          <p:cNvSpPr txBox="1"/>
          <p:nvPr/>
        </p:nvSpPr>
        <p:spPr>
          <a:xfrm>
            <a:off x="9729216" y="2194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2" name="Text 30"/>
          <p:cNvSpPr txBox="1"/>
          <p:nvPr/>
        </p:nvSpPr>
        <p:spPr>
          <a:xfrm>
            <a:off x="9729216" y="2926080"/>
            <a:ext cx="1645920" cy="411480"/>
          </a:xfrm>
          <a:prstGeom prst="rect">
            <a:avLst/>
          </a:prstGeom>
          <a:noFill/>
          <a:ln/>
        </p:spPr>
        <p:txBody>
          <a:bodyPr wrap="square" lIns="0" tIns="0" rIns="0" bIns="0" rtlCol="0" anchor="ctr"/>
          <a:lstStyle/>
          <a:p>
            <a:pPr indent="0" marL="0">
              <a:buNone/>
            </a:pPr>
            <a:r>
              <a:rPr lang="en-US" sz="1800" b="1" dirty="0">
                <a:solidFill>
                  <a:srgbClr val="14304F"/>
                </a:solidFill>
                <a:latin typeface="Cambria" pitchFamily="34" charset="0"/>
                <a:ea typeface="Cambria" pitchFamily="34" charset="-122"/>
                <a:cs typeface="Cambria" pitchFamily="34" charset="-120"/>
              </a:rPr>
              <a:t>Backtests</a:t>
            </a:r>
            <a:endParaRPr lang="en-US" sz="1800" dirty="0"/>
          </a:p>
        </p:txBody>
      </p:sp>
      <p:sp>
        <p:nvSpPr>
          <p:cNvPr id="33" name="Text 31"/>
          <p:cNvSpPr txBox="1"/>
          <p:nvPr/>
        </p:nvSpPr>
        <p:spPr>
          <a:xfrm>
            <a:off x="9729216" y="3383280"/>
            <a:ext cx="1645920" cy="822960"/>
          </a:xfrm>
          <a:prstGeom prst="rect">
            <a:avLst/>
          </a:prstGeom>
          <a:noFill/>
          <a:ln/>
        </p:spPr>
        <p:txBody>
          <a:bodyPr wrap="square" lIns="0" tIns="0" rIns="0" bIns="0" rtlCol="0" anchor="t"/>
          <a:lstStyle/>
          <a:p>
            <a:pPr indent="0" marL="0">
              <a:buNone/>
            </a:pPr>
            <a:r>
              <a:rPr lang="en-US" sz="1400" i="1" dirty="0">
                <a:solidFill>
                  <a:srgbClr val="1F2937"/>
                </a:solidFill>
                <a:latin typeface="Calibri" pitchFamily="34" charset="0"/>
                <a:ea typeface="Calibri" pitchFamily="34" charset="-122"/>
                <a:cs typeface="Calibri" pitchFamily="34" charset="-120"/>
              </a:rPr>
              <a:t>Aurait-il tenu ?</a:t>
            </a:r>
            <a:endParaRPr lang="en-US" sz="1400" dirty="0"/>
          </a:p>
        </p:txBody>
      </p:sp>
      <p:sp>
        <p:nvSpPr>
          <p:cNvPr id="34" name="Text 32"/>
          <p:cNvSpPr txBox="1"/>
          <p:nvPr/>
        </p:nvSpPr>
        <p:spPr>
          <a:xfrm>
            <a:off x="9729216" y="4480560"/>
            <a:ext cx="1645920" cy="1097280"/>
          </a:xfrm>
          <a:prstGeom prst="rect">
            <a:avLst/>
          </a:prstGeom>
          <a:noFill/>
          <a:ln/>
        </p:spPr>
        <p:txBody>
          <a:bodyPr wrap="square" lIns="0" tIns="0" rIns="0" bIns="0" rtlCol="0" anchor="t"/>
          <a:lstStyle/>
          <a:p>
            <a:pPr indent="0" marL="0">
              <a:buNone/>
            </a:pPr>
            <a:r>
              <a:rPr lang="en-US" sz="1300" b="1" dirty="0">
                <a:solidFill>
                  <a:srgbClr val="C98A1B"/>
                </a:solidFill>
                <a:latin typeface="Calibri" pitchFamily="34" charset="0"/>
                <a:ea typeface="Calibri" pitchFamily="34" charset="-122"/>
                <a:cs typeface="Calibri" pitchFamily="34" charset="-120"/>
              </a:rPr>
              <a:t>→ Durée des baisses, mauvaise année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11000" b="1" dirty="0">
                <a:solidFill>
                  <a:srgbClr val="C98A1B"/>
                </a:solidFill>
                <a:latin typeface="Cambria" pitchFamily="34" charset="0"/>
                <a:ea typeface="Cambria" pitchFamily="34" charset="-122"/>
                <a:cs typeface="Cambria" pitchFamily="34" charset="-120"/>
              </a:rPr>
              <a:t>1</a:t>
            </a:r>
            <a:endParaRPr lang="en-US" sz="11000" dirty="0"/>
          </a:p>
        </p:txBody>
      </p:sp>
      <p:sp>
        <p:nvSpPr>
          <p:cNvPr id="3" name="Text 1"/>
          <p:cNvSpPr txBox="1"/>
          <p:nvPr/>
        </p:nvSpPr>
        <p:spPr>
          <a:xfrm>
            <a:off x="548640" y="297180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Paramètres d'entrée</a:t>
            </a:r>
            <a:endParaRPr lang="en-US" sz="4000" dirty="0"/>
          </a:p>
        </p:txBody>
      </p:sp>
      <p:sp>
        <p:nvSpPr>
          <p:cNvPr id="4" name="Text 2"/>
          <p:cNvSpPr txBox="1"/>
          <p:nvPr/>
        </p:nvSpPr>
        <p:spPr>
          <a:xfrm>
            <a:off x="548640" y="397764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Ce que dit l'énoncé, ce qu'il révèle du client, et ce qu'il laisse ouvert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Shape 2"/>
          <p:cNvSpPr/>
          <p:nvPr/>
        </p:nvSpPr>
        <p:spPr>
          <a:xfrm>
            <a:off x="8732520" y="475488"/>
            <a:ext cx="128016" cy="128016"/>
          </a:xfrm>
          <a:prstGeom prst="ellipse">
            <a:avLst/>
          </a:prstGeom>
          <a:solidFill>
            <a:srgbClr val="C98A1B"/>
          </a:solidFill>
          <a:ln w="12700">
            <a:solidFill>
              <a:srgbClr val="C98A1B"/>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Ce que chaque ligne de l'énoncé veut dire</a:t>
            </a:r>
            <a:endParaRPr lang="en-US" sz="2600" dirty="0"/>
          </a:p>
        </p:txBody>
      </p:sp>
      <p:sp>
        <p:nvSpPr>
          <p:cNvPr id="15" name="Text 1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16" name="Shape 14"/>
          <p:cNvSpPr/>
          <p:nvPr/>
        </p:nvSpPr>
        <p:spPr>
          <a:xfrm>
            <a:off x="548640" y="1371600"/>
            <a:ext cx="5440680" cy="1417320"/>
          </a:xfrm>
          <a:prstGeom prst="roundRect">
            <a:avLst>
              <a:gd name="adj" fmla="val 5161"/>
            </a:avLst>
          </a:prstGeom>
          <a:solidFill>
            <a:srgbClr val="F2F5F9"/>
          </a:solidFill>
          <a:ln w="12700">
            <a:solidFill>
              <a:srgbClr val="F2F5F9"/>
            </a:solidFill>
            <a:prstDash val="solid"/>
          </a:ln>
        </p:spPr>
      </p:sp>
      <p:sp>
        <p:nvSpPr>
          <p:cNvPr id="17" name="Text 15"/>
          <p:cNvSpPr txBox="1"/>
          <p:nvPr/>
        </p:nvSpPr>
        <p:spPr>
          <a:xfrm>
            <a:off x="777240" y="150876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10 M€ sous deux ans</a:t>
            </a:r>
            <a:endParaRPr lang="en-US" sz="1600" dirty="0"/>
          </a:p>
        </p:txBody>
      </p:sp>
      <p:sp>
        <p:nvSpPr>
          <p:cNvPr id="18" name="Text 16"/>
          <p:cNvSpPr txBox="1"/>
          <p:nvPr/>
        </p:nvSpPr>
        <p:spPr>
          <a:xfrm>
            <a:off x="777240" y="1920240"/>
            <a:ext cx="50292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Un décaissement quasi certain : cet argent ne doit pas être exposé au risque.</a:t>
            </a:r>
            <a:endParaRPr lang="en-US" sz="1350" dirty="0"/>
          </a:p>
        </p:txBody>
      </p:sp>
      <p:sp>
        <p:nvSpPr>
          <p:cNvPr id="19" name="Shape 17"/>
          <p:cNvSpPr/>
          <p:nvPr/>
        </p:nvSpPr>
        <p:spPr>
          <a:xfrm>
            <a:off x="6172200" y="1371600"/>
            <a:ext cx="5440680" cy="1417320"/>
          </a:xfrm>
          <a:prstGeom prst="roundRect">
            <a:avLst>
              <a:gd name="adj" fmla="val 5161"/>
            </a:avLst>
          </a:prstGeom>
          <a:solidFill>
            <a:srgbClr val="F2F5F9"/>
          </a:solidFill>
          <a:ln w="12700">
            <a:solidFill>
              <a:srgbClr val="F2F5F9"/>
            </a:solidFill>
            <a:prstDash val="solid"/>
          </a:ln>
        </p:spPr>
      </p:sp>
      <p:sp>
        <p:nvSpPr>
          <p:cNvPr id="20" name="Text 18"/>
          <p:cNvSpPr txBox="1"/>
          <p:nvPr/>
        </p:nvSpPr>
        <p:spPr>
          <a:xfrm>
            <a:off x="6400800" y="150876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Inflation de 4 %</a:t>
            </a:r>
            <a:endParaRPr lang="en-US" sz="1600" dirty="0"/>
          </a:p>
        </p:txBody>
      </p:sp>
      <p:sp>
        <p:nvSpPr>
          <p:cNvPr id="21" name="Text 19"/>
          <p:cNvSpPr txBox="1"/>
          <p:nvPr/>
        </p:nvSpPr>
        <p:spPr>
          <a:xfrm>
            <a:off x="6400800" y="1920240"/>
            <a:ext cx="50292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L'objectif n'est pas de s'enrichir mais de ne pas s'appauvrir : 4 % est le seuil à battre.</a:t>
            </a:r>
            <a:endParaRPr lang="en-US" sz="1350" dirty="0"/>
          </a:p>
        </p:txBody>
      </p:sp>
      <p:sp>
        <p:nvSpPr>
          <p:cNvPr id="22" name="Shape 20"/>
          <p:cNvSpPr/>
          <p:nvPr/>
        </p:nvSpPr>
        <p:spPr>
          <a:xfrm>
            <a:off x="548640" y="2971800"/>
            <a:ext cx="5440680" cy="1417320"/>
          </a:xfrm>
          <a:prstGeom prst="roundRect">
            <a:avLst>
              <a:gd name="adj" fmla="val 5161"/>
            </a:avLst>
          </a:prstGeom>
          <a:solidFill>
            <a:srgbClr val="F2F5F9"/>
          </a:solidFill>
          <a:ln w="12700">
            <a:solidFill>
              <a:srgbClr val="F2F5F9"/>
            </a:solidFill>
            <a:prstDash val="solid"/>
          </a:ln>
        </p:spPr>
      </p:sp>
      <p:sp>
        <p:nvSpPr>
          <p:cNvPr id="23" name="Text 21"/>
          <p:cNvSpPr txBox="1"/>
          <p:nvPr/>
        </p:nvSpPr>
        <p:spPr>
          <a:xfrm>
            <a:off x="777240" y="310896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Jamais −15 %</a:t>
            </a:r>
            <a:endParaRPr lang="en-US" sz="1600" dirty="0"/>
          </a:p>
        </p:txBody>
      </p:sp>
      <p:sp>
        <p:nvSpPr>
          <p:cNvPr id="24" name="Text 22"/>
          <p:cNvSpPr txBox="1"/>
          <p:nvPr/>
        </p:nvSpPr>
        <p:spPr>
          <a:xfrm>
            <a:off x="777240" y="3520440"/>
            <a:ext cx="50292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La limite de risque. C'est elle qui fixe la part d'actifs risqués, donc le rendement possible.</a:t>
            </a:r>
            <a:endParaRPr lang="en-US" sz="1350" dirty="0"/>
          </a:p>
        </p:txBody>
      </p:sp>
      <p:sp>
        <p:nvSpPr>
          <p:cNvPr id="25" name="Shape 23"/>
          <p:cNvSpPr/>
          <p:nvPr/>
        </p:nvSpPr>
        <p:spPr>
          <a:xfrm>
            <a:off x="6172200" y="2971800"/>
            <a:ext cx="5440680" cy="1417320"/>
          </a:xfrm>
          <a:prstGeom prst="roundRect">
            <a:avLst>
              <a:gd name="adj" fmla="val 5161"/>
            </a:avLst>
          </a:prstGeom>
          <a:solidFill>
            <a:srgbClr val="F2F5F9"/>
          </a:solidFill>
          <a:ln w="12700">
            <a:solidFill>
              <a:srgbClr val="F2F5F9"/>
            </a:solidFill>
            <a:prstDash val="solid"/>
          </a:ln>
        </p:spPr>
      </p:sp>
      <p:sp>
        <p:nvSpPr>
          <p:cNvPr id="26" name="Text 24"/>
          <p:cNvSpPr txBox="1"/>
          <p:nvPr/>
        </p:nvSpPr>
        <p:spPr>
          <a:xfrm>
            <a:off x="6400800" y="310896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Tabac, armement, charbon</a:t>
            </a:r>
            <a:endParaRPr lang="en-US" sz="1600" dirty="0"/>
          </a:p>
        </p:txBody>
      </p:sp>
      <p:sp>
        <p:nvSpPr>
          <p:cNvPr id="27" name="Text 25"/>
          <p:cNvSpPr txBox="1"/>
          <p:nvPr/>
        </p:nvSpPr>
        <p:spPr>
          <a:xfrm>
            <a:off x="6400800" y="3520440"/>
            <a:ext cx="50292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Des convictions qui réduisent l'univers d'entreprises ; États et or ne sont pas concernés.</a:t>
            </a:r>
            <a:endParaRPr lang="en-US" sz="1350" dirty="0"/>
          </a:p>
        </p:txBody>
      </p:sp>
      <p:sp>
        <p:nvSpPr>
          <p:cNvPr id="28" name="Shape 26"/>
          <p:cNvSpPr/>
          <p:nvPr/>
        </p:nvSpPr>
        <p:spPr>
          <a:xfrm>
            <a:off x="548640" y="4572000"/>
            <a:ext cx="5440680" cy="1417320"/>
          </a:xfrm>
          <a:prstGeom prst="roundRect">
            <a:avLst>
              <a:gd name="adj" fmla="val 5161"/>
            </a:avLst>
          </a:prstGeom>
          <a:solidFill>
            <a:srgbClr val="F2F5F9"/>
          </a:solidFill>
          <a:ln w="12700">
            <a:solidFill>
              <a:srgbClr val="F2F5F9"/>
            </a:solidFill>
            <a:prstDash val="solid"/>
          </a:ln>
        </p:spPr>
      </p:sp>
      <p:sp>
        <p:nvSpPr>
          <p:cNvPr id="29" name="Text 27"/>
          <p:cNvSpPr txBox="1"/>
          <p:nvPr/>
        </p:nvSpPr>
        <p:spPr>
          <a:xfrm>
            <a:off x="777240" y="470916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Crypto</a:t>
            </a:r>
            <a:endParaRPr lang="en-US" sz="1600" dirty="0"/>
          </a:p>
        </p:txBody>
      </p:sp>
      <p:sp>
        <p:nvSpPr>
          <p:cNvPr id="30" name="Text 28"/>
          <p:cNvSpPr txBox="1"/>
          <p:nvPr/>
        </p:nvSpPr>
        <p:spPr>
          <a:xfrm>
            <a:off x="777240" y="5120640"/>
            <a:ext cx="50292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Une question familiale autant que financière : une petite poche, ou rien.</a:t>
            </a:r>
            <a:endParaRPr lang="en-US" sz="1350" dirty="0"/>
          </a:p>
        </p:txBody>
      </p:sp>
      <p:sp>
        <p:nvSpPr>
          <p:cNvPr id="31" name="Shape 29"/>
          <p:cNvSpPr/>
          <p:nvPr/>
        </p:nvSpPr>
        <p:spPr>
          <a:xfrm>
            <a:off x="6172200" y="4572000"/>
            <a:ext cx="5440680" cy="1417320"/>
          </a:xfrm>
          <a:prstGeom prst="roundRect">
            <a:avLst>
              <a:gd name="adj" fmla="val 5161"/>
            </a:avLst>
          </a:prstGeom>
          <a:solidFill>
            <a:srgbClr val="F2F5F9"/>
          </a:solidFill>
          <a:ln w="12700">
            <a:solidFill>
              <a:srgbClr val="F2F5F9"/>
            </a:solidFill>
            <a:prstDash val="solid"/>
          </a:ln>
        </p:spPr>
      </p:sp>
      <p:sp>
        <p:nvSpPr>
          <p:cNvPr id="32" name="Text 30"/>
          <p:cNvSpPr txBox="1"/>
          <p:nvPr/>
        </p:nvSpPr>
        <p:spPr>
          <a:xfrm>
            <a:off x="6400800" y="470916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Inquiet Europe et États-Unis</a:t>
            </a:r>
            <a:endParaRPr lang="en-US" sz="1600" dirty="0"/>
          </a:p>
        </p:txBody>
      </p:sp>
      <p:sp>
        <p:nvSpPr>
          <p:cNvPr id="33" name="Text 31"/>
          <p:cNvSpPr txBox="1"/>
          <p:nvPr/>
        </p:nvSpPr>
        <p:spPr>
          <a:xfrm>
            <a:off x="6400800" y="5120640"/>
            <a:ext cx="50292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Pas de zone refuge : vraie diversification, et des actifs indépendants de toute économie, comme l'or.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Shape 2"/>
          <p:cNvSpPr/>
          <p:nvPr/>
        </p:nvSpPr>
        <p:spPr>
          <a:xfrm>
            <a:off x="8732520" y="475488"/>
            <a:ext cx="128016" cy="128016"/>
          </a:xfrm>
          <a:prstGeom prst="ellipse">
            <a:avLst/>
          </a:prstGeom>
          <a:solidFill>
            <a:srgbClr val="C98A1B"/>
          </a:solidFill>
          <a:ln w="12700">
            <a:solidFill>
              <a:srgbClr val="C98A1B"/>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Questions ouvertes et hypothèses de travail</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Des questions à poser à M. Lauren ; faute de réponse, on retient la lecture la plus exigeante</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572000"/>
                <a:gridCol w="6522415"/>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 laissée ouverte</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Hypothèse retenue</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Les 15 % : mesurés comment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Depuis le plus haut jamais atteint, sur les 100 M€ ensemble, en euros</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 Jamais » : sur quelles crises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Tenir au pire cas historique : 2008, 2011, 2020, 2022</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Les 10 M€ : quand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Quatre versements de 2,5 M€, dans 6, 12, 18 et 24 mois</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L'inflation à 4 % : prévision ou prudence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Une donnée du problème : le seuil à battre</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La crypto : combien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Aucune (elle ne rapporte rien et baisse avec les actions, étape 4)</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Quels supports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Particulier français : fonds européens (UCITS) uniquement</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11000" b="1" dirty="0">
                <a:solidFill>
                  <a:srgbClr val="C98A1B"/>
                </a:solidFill>
                <a:latin typeface="Cambria" pitchFamily="34" charset="0"/>
                <a:ea typeface="Cambria" pitchFamily="34" charset="-122"/>
                <a:cs typeface="Cambria" pitchFamily="34" charset="-120"/>
              </a:rPr>
              <a:t>2</a:t>
            </a:r>
            <a:endParaRPr lang="en-US" sz="11000" dirty="0"/>
          </a:p>
        </p:txBody>
      </p:sp>
      <p:sp>
        <p:nvSpPr>
          <p:cNvPr id="3" name="Text 1"/>
          <p:cNvSpPr txBox="1"/>
          <p:nvPr/>
        </p:nvSpPr>
        <p:spPr>
          <a:xfrm>
            <a:off x="548640" y="297180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Macro top-down</a:t>
            </a:r>
            <a:endParaRPr lang="en-US" sz="4000" dirty="0"/>
          </a:p>
        </p:txBody>
      </p:sp>
      <p:sp>
        <p:nvSpPr>
          <p:cNvPr id="4" name="Text 2"/>
          <p:cNvSpPr txBox="1"/>
          <p:nvPr/>
        </p:nvSpPr>
        <p:spPr>
          <a:xfrm>
            <a:off x="548640" y="397764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Ce que le marché paie aujourd'hui, où en est le cycle, et ce qu'on peut attendre de chaque classe d'actifs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C98A1B"/>
          </a:solidFill>
          <a:ln w="12700">
            <a:solidFill>
              <a:srgbClr val="C98A1B"/>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Aucune obligation classique ne bat 4 %</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Ce que rapportent aujourd'hui les placements de taux, ramenés en euros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Relevé du 18/09/2026 · BCE, FRED, fiches iShares · * rendement avant défauts, un plafond · couverture de change ≈ 1,70 % par an</a:t>
            </a:r>
            <a:endParaRPr lang="en-US" sz="850" dirty="0"/>
          </a:p>
        </p:txBody>
      </p:sp>
      <p:graphicFrame>
        <p:nvGraphicFramePr>
          <p:cNvPr id="18" name="Chart 0" descr=""/>
          <p:cNvGraphicFramePr/>
          <p:nvPr/>
        </p:nvGraphicFramePr>
        <p:xfrm>
          <a:off x="548640" y="137160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7772400" y="1463040"/>
            <a:ext cx="3886200" cy="301752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rgbClr val="14304F"/>
                </a:solidFill>
                <a:latin typeface="Calibri" pitchFamily="34" charset="0"/>
                <a:ea typeface="Calibri" pitchFamily="34" charset="-122"/>
                <a:cs typeface="Calibri" pitchFamily="34" charset="-120"/>
              </a:rPr>
              <a:t>Monétaire 2,44 %</a:t>
            </a:r>
            <a:pPr indent="0" marL="0">
              <a:spcAft>
                <a:spcPts val="900"/>
              </a:spcAft>
              <a:buNone/>
            </a:pPr>
            <a:r>
              <a:rPr lang="en-US" sz="1400" dirty="0">
                <a:solidFill>
                  <a:srgbClr val="1F2937"/>
                </a:solidFill>
                <a:latin typeface="Calibri" pitchFamily="34" charset="0"/>
                <a:ea typeface="Calibri" pitchFamily="34" charset="-122"/>
                <a:cs typeface="Calibri" pitchFamily="34" charset="-120"/>
              </a:rPr>
              <a:t> : sans risque, mais le pouvoir d'achat recule</a:t>
            </a:r>
            <a:endParaRPr lang="en-US" sz="1400" dirty="0"/>
          </a:p>
          <a:p>
            <a:pPr marL="203200" indent="-203200">
              <a:spcAft>
                <a:spcPts val="900"/>
              </a:spcAft>
              <a:buSzPct val="100000"/>
              <a:buChar char="•"/>
            </a:pPr>
            <a:r>
              <a:rPr lang="en-US" sz="1400" b="1" dirty="0">
                <a:solidFill>
                  <a:srgbClr val="14304F"/>
                </a:solidFill>
                <a:latin typeface="Calibri" pitchFamily="34" charset="0"/>
                <a:ea typeface="Calibri" pitchFamily="34" charset="-122"/>
                <a:cs typeface="Calibri" pitchFamily="34" charset="-120"/>
              </a:rPr>
              <a:t>États zone euro 3,77 %</a:t>
            </a:r>
            <a:pPr indent="0" marL="0">
              <a:spcAft>
                <a:spcPts val="900"/>
              </a:spcAft>
              <a:buNone/>
            </a:pPr>
            <a:r>
              <a:rPr lang="en-US" sz="1400" dirty="0">
                <a:solidFill>
                  <a:srgbClr val="1F2937"/>
                </a:solidFill>
                <a:latin typeface="Calibri" pitchFamily="34" charset="0"/>
                <a:ea typeface="Calibri" pitchFamily="34" charset="-122"/>
                <a:cs typeface="Calibri" pitchFamily="34" charset="-120"/>
              </a:rPr>
              <a:t> : sous le seuil</a:t>
            </a:r>
            <a:endParaRPr lang="en-US" sz="1400" dirty="0"/>
          </a:p>
          <a:p>
            <a:pPr marL="203200" indent="-203200">
              <a:spcAft>
                <a:spcPts val="900"/>
              </a:spcAft>
              <a:buSzPct val="100000"/>
              <a:buChar char="•"/>
            </a:pPr>
            <a:r>
              <a:rPr lang="en-US" sz="1400" b="1" dirty="0">
                <a:solidFill>
                  <a:srgbClr val="14304F"/>
                </a:solidFill>
                <a:latin typeface="Calibri" pitchFamily="34" charset="0"/>
                <a:ea typeface="Calibri" pitchFamily="34" charset="-122"/>
                <a:cs typeface="Calibri" pitchFamily="34" charset="-120"/>
              </a:rPr>
              <a:t>Trésor US 5,01 %</a:t>
            </a:r>
            <a:pPr indent="0" marL="0">
              <a:spcAft>
                <a:spcPts val="900"/>
              </a:spcAft>
              <a:buNone/>
            </a:pPr>
            <a:r>
              <a:rPr lang="en-US" sz="1400" dirty="0">
                <a:solidFill>
                  <a:srgbClr val="1F2937"/>
                </a:solidFill>
                <a:latin typeface="Calibri" pitchFamily="34" charset="0"/>
                <a:ea typeface="Calibri" pitchFamily="34" charset="-122"/>
                <a:cs typeface="Calibri" pitchFamily="34" charset="-120"/>
              </a:rPr>
              <a:t>… mais 3,31 % une fois le change couvert</a:t>
            </a:r>
            <a:endParaRPr lang="en-US" sz="1400" dirty="0"/>
          </a:p>
          <a:p>
            <a:pPr marL="203200" indent="-203200">
              <a:spcAft>
                <a:spcPts val="900"/>
              </a:spcAft>
              <a:buSzPct val="100000"/>
              <a:buChar char="•"/>
            </a:pPr>
            <a:r>
              <a:rPr lang="en-US" sz="1400" b="1" dirty="0">
                <a:solidFill>
                  <a:srgbClr val="14304F"/>
                </a:solidFill>
                <a:latin typeface="Calibri" pitchFamily="34" charset="0"/>
                <a:ea typeface="Calibri" pitchFamily="34" charset="-122"/>
                <a:cs typeface="Calibri" pitchFamily="34" charset="-120"/>
              </a:rPr>
              <a:t>Indexées ≈ 5,43 %</a:t>
            </a:r>
            <a:pPr indent="0" marL="0">
              <a:spcAft>
                <a:spcPts val="900"/>
              </a:spcAft>
              <a:buNone/>
            </a:pPr>
            <a:r>
              <a:rPr lang="en-US" sz="1400" dirty="0">
                <a:solidFill>
                  <a:srgbClr val="1F2937"/>
                </a:solidFill>
                <a:latin typeface="Calibri" pitchFamily="34" charset="0"/>
                <a:ea typeface="Calibri" pitchFamily="34" charset="-122"/>
                <a:cs typeface="Calibri" pitchFamily="34" charset="-120"/>
              </a:rPr>
              <a:t> : les seules qui suivent l'inflation par construction</a:t>
            </a:r>
            <a:endParaRPr lang="en-US" sz="1400" dirty="0"/>
          </a:p>
        </p:txBody>
      </p:sp>
      <p:sp>
        <p:nvSpPr>
          <p:cNvPr id="20" name="Shape 17"/>
          <p:cNvSpPr/>
          <p:nvPr/>
        </p:nvSpPr>
        <p:spPr>
          <a:xfrm>
            <a:off x="7772400" y="4572000"/>
            <a:ext cx="3886200" cy="1645920"/>
          </a:xfrm>
          <a:prstGeom prst="roundRect">
            <a:avLst>
              <a:gd name="adj" fmla="val 4444"/>
            </a:avLst>
          </a:prstGeom>
          <a:solidFill>
            <a:srgbClr val="14304F"/>
          </a:solidFill>
          <a:ln w="12700">
            <a:solidFill>
              <a:srgbClr val="14304F"/>
            </a:solidFill>
            <a:prstDash val="solid"/>
          </a:ln>
        </p:spPr>
      </p:sp>
      <p:sp>
        <p:nvSpPr>
          <p:cNvPr id="21" name="Text 18"/>
          <p:cNvSpPr txBox="1"/>
          <p:nvPr/>
        </p:nvSpPr>
        <p:spPr>
          <a:xfrm>
            <a:off x="8001000" y="4709160"/>
            <a:ext cx="3429000" cy="13716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Pour le reste de l'objectif, il faudra des actifs dont le rendement n'est </a:t>
            </a:r>
            <a:pPr indent="0" marL="0">
              <a:buNone/>
            </a:pPr>
            <a:r>
              <a:rPr lang="en-US" sz="1400" b="1" dirty="0">
                <a:solidFill>
                  <a:srgbClr val="F5C969"/>
                </a:solidFill>
                <a:latin typeface="Calibri" pitchFamily="34" charset="0"/>
                <a:ea typeface="Calibri" pitchFamily="34" charset="-122"/>
                <a:cs typeface="Calibri" pitchFamily="34" charset="-120"/>
              </a:rPr>
              <a:t>pas fixé d'avance</a:t>
            </a:r>
            <a:pPr indent="0" marL="0">
              <a:buNone/>
            </a:pPr>
            <a:r>
              <a:rPr lang="en-US" sz="1400" dirty="0">
                <a:solidFill>
                  <a:srgbClr val="FFFFFF"/>
                </a:solidFill>
                <a:latin typeface="Calibri" pitchFamily="34" charset="0"/>
                <a:ea typeface="Calibri" pitchFamily="34" charset="-122"/>
                <a:cs typeface="Calibri" pitchFamily="34" charset="-120"/>
              </a:rPr>
              <a:t> : actions, actifs réels.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C98A1B"/>
          </a:solidFill>
          <a:ln w="12700">
            <a:solidFill>
              <a:srgbClr val="C98A1B"/>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cycle : un choc d'inflation venu de l'énergie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Des banques centrales qui resserrent : le scénario que redoute le client</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FRED, BCE, Eurostat, FMI, OCDE · relevé du 18/09/2026 · « avant » : six mois plus tôt (un an pour la croissance)</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914400"/>
        </p:xfrm>
        <a:graphic>
          <a:graphicData uri="http://schemas.openxmlformats.org/drawingml/2006/table">
            <a:tbl>
              <a:tblPr/>
              <a:tblGrid>
                <a:gridCol w="2743200"/>
                <a:gridCol w="2240280"/>
                <a:gridCol w="2240280"/>
              </a:tblGrid>
              <a:tr h="475488">
                <a:tc>
                  <a:txBody>
                    <a:bodyPr/>
                    <a:lstStyle/>
                    <a:p>
                      <a:pPr indent="0" marL="0">
                        <a:buNone/>
                      </a:pP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États-Unis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Zone euro</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Croissance (PIB sur un an)</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2,1 % →  (avant 2,1 %)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1,2 % ↘  (avant 1,4 %)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Chômage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4,1 % ↘  (avant 4,4 %)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6,4 % →  (avant 6,4 %)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Inflation totale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3,7 % ↗  (avant 2,7 %)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3,3 % ↗  (avant 1,9 %)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Inflation hors énergie et alim.</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2,8 % →  (avant 2,7 %)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2,4 % →  (avant 2,4 %)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Taux de la banque centrale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3,63 % →  (avant 3,64 %)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2,50 % ↗  (avant 2,00 %)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Taux à 2 ans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4,74 % ↗  (avant 3,68 %)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3,17 % ↗  (avant 2,34 %)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7548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Taux à 10 ans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5,01 % ↗  (avant 4,23 %)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3,53 % ↗  (avant 2,99 %)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9" name="Text 16"/>
          <p:cNvSpPr txBox="1"/>
          <p:nvPr/>
        </p:nvSpPr>
        <p:spPr>
          <a:xfrm>
            <a:off x="8092440" y="1463040"/>
            <a:ext cx="3566160" cy="2743200"/>
          </a:xfrm>
          <a:prstGeom prst="rect">
            <a:avLst/>
          </a:prstGeom>
          <a:noFill/>
          <a:ln/>
        </p:spPr>
        <p:txBody>
          <a:bodyPr wrap="square" lIns="0" tIns="0" rIns="0" bIns="0" rtlCol="0" anchor="t"/>
          <a:lstStyle/>
          <a:p>
            <a:pPr marL="203200" indent="-203200">
              <a:spcAft>
                <a:spcPts val="900"/>
              </a:spcAft>
              <a:buSzPct val="100000"/>
              <a:buChar char="•"/>
            </a:pPr>
            <a:r>
              <a:rPr lang="en-US" sz="1350" b="1" dirty="0">
                <a:solidFill>
                  <a:srgbClr val="14304F"/>
                </a:solidFill>
                <a:latin typeface="Calibri" pitchFamily="34" charset="0"/>
                <a:ea typeface="Calibri" pitchFamily="34" charset="-122"/>
                <a:cs typeface="Calibri" pitchFamily="34" charset="-120"/>
              </a:rPr>
              <a:t>Inflation totale en hausse</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(1,9 % → 3,3 % en zone euro), </a:t>
            </a:r>
            <a:pPr indent="0" marL="0">
              <a:spcAft>
                <a:spcPts val="900"/>
              </a:spcAft>
              <a:buNone/>
            </a:pPr>
            <a:r>
              <a:rPr lang="en-US" sz="1350" b="1" dirty="0">
                <a:solidFill>
                  <a:srgbClr val="14304F"/>
                </a:solidFill>
                <a:latin typeface="Calibri" pitchFamily="34" charset="0"/>
                <a:ea typeface="Calibri" pitchFamily="34" charset="-122"/>
                <a:cs typeface="Calibri" pitchFamily="34" charset="-120"/>
              </a:rPr>
              <a:t>sous-jacente stable</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 c'est l'énergie</a:t>
            </a:r>
            <a:endParaRPr lang="en-US" sz="1350" dirty="0"/>
          </a:p>
          <a:p>
            <a:pPr marL="203200" indent="-203200">
              <a:spcAft>
                <a:spcPts val="900"/>
              </a:spcAft>
              <a:buSzPct val="100000"/>
              <a:buChar char="•"/>
            </a:pPr>
            <a:r>
              <a:rPr lang="en-US" sz="1350" b="1" dirty="0">
                <a:solidFill>
                  <a:srgbClr val="14304F"/>
                </a:solidFill>
                <a:latin typeface="Calibri" pitchFamily="34" charset="0"/>
                <a:ea typeface="Calibri" pitchFamily="34" charset="-122"/>
                <a:cs typeface="Calibri" pitchFamily="34" charset="-120"/>
              </a:rPr>
              <a:t>BCE</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déjà remontée à 2,50 % ; le </a:t>
            </a:r>
            <a:pPr indent="0" marL="0">
              <a:spcAft>
                <a:spcPts val="900"/>
              </a:spcAft>
              <a:buNone/>
            </a:pPr>
            <a:r>
              <a:rPr lang="en-US" sz="1350" b="1" dirty="0">
                <a:solidFill>
                  <a:srgbClr val="14304F"/>
                </a:solidFill>
                <a:latin typeface="Calibri" pitchFamily="34" charset="0"/>
                <a:ea typeface="Calibri" pitchFamily="34" charset="-122"/>
                <a:cs typeface="Calibri" pitchFamily="34" charset="-120"/>
              </a:rPr>
              <a:t>2 ans</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annonce d'autres hausses</a:t>
            </a:r>
            <a:endParaRPr lang="en-US" sz="1350" dirty="0"/>
          </a:p>
          <a:p>
            <a:pPr marL="203200" indent="-203200">
              <a:spcAft>
                <a:spcPts val="900"/>
              </a:spcAft>
              <a:buSzPct val="100000"/>
              <a:buChar char="•"/>
            </a:pPr>
            <a:r>
              <a:rPr lang="en-US" sz="1350" b="1" dirty="0">
                <a:solidFill>
                  <a:srgbClr val="14304F"/>
                </a:solidFill>
                <a:latin typeface="Calibri" pitchFamily="34" charset="0"/>
                <a:ea typeface="Calibri" pitchFamily="34" charset="-122"/>
                <a:cs typeface="Calibri" pitchFamily="34" charset="-120"/>
              </a:rPr>
              <a:t>Émergents</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 3,9 % de croissance, mais la Chine ralentit quand l'Inde accélère</a:t>
            </a:r>
            <a:endParaRPr lang="en-US" sz="1350" dirty="0"/>
          </a:p>
        </p:txBody>
      </p:sp>
      <p:sp>
        <p:nvSpPr>
          <p:cNvPr id="20" name="Shape 17"/>
          <p:cNvSpPr/>
          <p:nvPr/>
        </p:nvSpPr>
        <p:spPr>
          <a:xfrm>
            <a:off x="8092440" y="4434840"/>
            <a:ext cx="3566160" cy="1783080"/>
          </a:xfrm>
          <a:prstGeom prst="roundRect">
            <a:avLst>
              <a:gd name="adj" fmla="val 4103"/>
            </a:avLst>
          </a:prstGeom>
          <a:solidFill>
            <a:srgbClr val="14304F"/>
          </a:solidFill>
          <a:ln w="12700">
            <a:solidFill>
              <a:srgbClr val="14304F"/>
            </a:solidFill>
            <a:prstDash val="solid"/>
          </a:ln>
        </p:spPr>
      </p:sp>
      <p:sp>
        <p:nvSpPr>
          <p:cNvPr id="21" name="Text 18"/>
          <p:cNvSpPr txBox="1"/>
          <p:nvPr/>
        </p:nvSpPr>
        <p:spPr>
          <a:xfrm>
            <a:off x="8321040" y="4572000"/>
            <a:ext cx="3108960" cy="1508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À surveiller : si l'inflation </a:t>
            </a:r>
            <a:pPr indent="0" marL="0">
              <a:buNone/>
            </a:pPr>
            <a:r>
              <a:rPr lang="en-US" sz="1400" b="1" dirty="0">
                <a:solidFill>
                  <a:srgbClr val="F5C969"/>
                </a:solidFill>
                <a:latin typeface="Calibri" pitchFamily="34" charset="0"/>
                <a:ea typeface="Calibri" pitchFamily="34" charset="-122"/>
                <a:cs typeface="Calibri" pitchFamily="34" charset="-120"/>
              </a:rPr>
              <a:t>hors énergie</a:t>
            </a:r>
            <a:pPr indent="0" marL="0">
              <a:buNone/>
            </a:pPr>
            <a:r>
              <a:rPr lang="en-US" sz="1400" dirty="0">
                <a:solidFill>
                  <a:srgbClr val="FFFFFF"/>
                </a:solidFill>
                <a:latin typeface="Calibri" pitchFamily="34" charset="0"/>
                <a:ea typeface="Calibri" pitchFamily="34" charset="-122"/>
                <a:cs typeface="Calibri" pitchFamily="34" charset="-120"/>
              </a:rPr>
              <a:t> se met à monter, le choc s'installe.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C98A1B"/>
          </a:solidFill>
          <a:ln w="12700">
            <a:solidFill>
              <a:srgbClr val="C98A1B"/>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crédit n'a presque jamais été aussi mal payé</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La prime de crédit : ce qu'une entreprise paie de plus qu'un État</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FRED : Moody's Baa (depuis 1986), ICE BofA US High Yield (depuis 2010) · moyennes trimestrielles</a:t>
            </a:r>
            <a:endParaRPr lang="en-US" sz="850" dirty="0"/>
          </a:p>
        </p:txBody>
      </p:sp>
      <p:graphicFrame>
        <p:nvGraphicFramePr>
          <p:cNvPr id="18" name="Chart 0" descr=""/>
          <p:cNvGraphicFramePr/>
          <p:nvPr/>
        </p:nvGraphicFramePr>
        <p:xfrm>
          <a:off x="548640" y="1371600"/>
          <a:ext cx="7040880" cy="48920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7955280" y="1463040"/>
            <a:ext cx="3657600" cy="640080"/>
          </a:xfrm>
          <a:prstGeom prst="rect">
            <a:avLst/>
          </a:prstGeom>
          <a:noFill/>
          <a:ln/>
        </p:spPr>
        <p:txBody>
          <a:bodyPr wrap="square" lIns="0" tIns="0" rIns="0" bIns="0" rtlCol="0" anchor="b"/>
          <a:lstStyle/>
          <a:p>
            <a:pPr indent="0" marL="0">
              <a:buNone/>
            </a:pPr>
            <a:r>
              <a:rPr lang="en-US" sz="3200" b="1" dirty="0">
                <a:solidFill>
                  <a:srgbClr val="EB6834"/>
                </a:solidFill>
                <a:latin typeface="Cambria" pitchFamily="34" charset="0"/>
                <a:ea typeface="Cambria" pitchFamily="34" charset="-122"/>
                <a:cs typeface="Cambria" pitchFamily="34" charset="-120"/>
              </a:rPr>
              <a:t>2 % du temps</a:t>
            </a:r>
            <a:endParaRPr lang="en-US" sz="3200" dirty="0"/>
          </a:p>
        </p:txBody>
      </p:sp>
      <p:sp>
        <p:nvSpPr>
          <p:cNvPr id="20" name="Text 17"/>
          <p:cNvSpPr txBox="1"/>
          <p:nvPr/>
        </p:nvSpPr>
        <p:spPr>
          <a:xfrm>
            <a:off x="7955280" y="2121408"/>
            <a:ext cx="36576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la prime a été plus basse qu'aujourd'hui, en 40 ans</a:t>
            </a:r>
            <a:endParaRPr lang="en-US" sz="1200" dirty="0"/>
          </a:p>
        </p:txBody>
      </p:sp>
      <p:sp>
        <p:nvSpPr>
          <p:cNvPr id="21" name="Text 18"/>
          <p:cNvSpPr txBox="1"/>
          <p:nvPr/>
        </p:nvSpPr>
        <p:spPr>
          <a:xfrm>
            <a:off x="7955280" y="2743200"/>
            <a:ext cx="3657600" cy="640080"/>
          </a:xfrm>
          <a:prstGeom prst="rect">
            <a:avLst/>
          </a:prstGeom>
          <a:noFill/>
          <a:ln/>
        </p:spPr>
        <p:txBody>
          <a:bodyPr wrap="square" lIns="0" tIns="0" rIns="0" bIns="0" rtlCol="0" anchor="b"/>
          <a:lstStyle/>
          <a:p>
            <a:pPr indent="0" marL="0">
              <a:buNone/>
            </a:pPr>
            <a:r>
              <a:rPr lang="en-US" sz="3200" b="1" dirty="0">
                <a:solidFill>
                  <a:srgbClr val="C2410C"/>
                </a:solidFill>
                <a:latin typeface="Cambria" pitchFamily="34" charset="0"/>
                <a:ea typeface="Cambria" pitchFamily="34" charset="-122"/>
                <a:cs typeface="Cambria" pitchFamily="34" charset="-120"/>
              </a:rPr>
              <a:t>−4,3 %</a:t>
            </a:r>
            <a:endParaRPr lang="en-US" sz="3200" dirty="0"/>
          </a:p>
        </p:txBody>
      </p:sp>
      <p:sp>
        <p:nvSpPr>
          <p:cNvPr id="22" name="Text 19"/>
          <p:cNvSpPr txBox="1"/>
          <p:nvPr/>
        </p:nvSpPr>
        <p:spPr>
          <a:xfrm>
            <a:off x="7955280" y="3401568"/>
            <a:ext cx="36576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pour le crédit euro si la prime remonte d'un point : plus d'un an de rendement</a:t>
            </a:r>
            <a:endParaRPr lang="en-US" sz="1200" dirty="0"/>
          </a:p>
        </p:txBody>
      </p:sp>
      <p:sp>
        <p:nvSpPr>
          <p:cNvPr id="23" name="Shape 20"/>
          <p:cNvSpPr/>
          <p:nvPr/>
        </p:nvSpPr>
        <p:spPr>
          <a:xfrm>
            <a:off x="7955280" y="4206240"/>
            <a:ext cx="3703320" cy="2011680"/>
          </a:xfrm>
          <a:prstGeom prst="roundRect">
            <a:avLst>
              <a:gd name="adj" fmla="val 3636"/>
            </a:avLst>
          </a:prstGeom>
          <a:solidFill>
            <a:srgbClr val="14304F"/>
          </a:solidFill>
          <a:ln w="12700">
            <a:solidFill>
              <a:srgbClr val="14304F"/>
            </a:solidFill>
            <a:prstDash val="solid"/>
          </a:ln>
        </p:spPr>
      </p:sp>
      <p:sp>
        <p:nvSpPr>
          <p:cNvPr id="24" name="Text 21"/>
          <p:cNvSpPr txBox="1"/>
          <p:nvPr/>
        </p:nvSpPr>
        <p:spPr>
          <a:xfrm>
            <a:off x="8183880" y="4343400"/>
            <a:ext cx="3246120" cy="17373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Peu à gagner, beaucoup à perdre. </a:t>
            </a:r>
            <a:pPr indent="0" marL="0">
              <a:buNone/>
            </a:pPr>
            <a:r>
              <a:rPr lang="en-US" sz="1400" b="1" dirty="0">
                <a:solidFill>
                  <a:srgbClr val="F5C969"/>
                </a:solidFill>
                <a:latin typeface="Calibri" pitchFamily="34" charset="0"/>
                <a:ea typeface="Calibri" pitchFamily="34" charset="-122"/>
                <a:cs typeface="Calibri" pitchFamily="34" charset="-120"/>
              </a:rPr>
              <a:t>Le crédit ne mérite pas d'être surpondéré</a:t>
            </a:r>
            <a:pPr indent="0" marL="0">
              <a:buNone/>
            </a:pPr>
            <a:r>
              <a:rPr lang="en-US" sz="1400" dirty="0">
                <a:solidFill>
                  <a:srgbClr val="FFFFFF"/>
                </a:solidFill>
                <a:latin typeface="Calibri" pitchFamily="34" charset="0"/>
                <a:ea typeface="Calibri" pitchFamily="34" charset="-122"/>
                <a:cs typeface="Calibri" pitchFamily="34" charset="-120"/>
              </a:rPr>
              <a:t> : qualité et durées courtes.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C98A1B"/>
          </a:solidFill>
          <a:ln w="12700">
            <a:solidFill>
              <a:srgbClr val="C98A1B"/>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Les marchés confirment : l'énergie mène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Performance sur 12 mois, en euros — ce qu'aurait vécu le client</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ETF cotés à Francfort en euros, dividendes réinvestis · relevé du 18/09/2026</a:t>
            </a:r>
            <a:endParaRPr lang="en-US" sz="850" dirty="0"/>
          </a:p>
        </p:txBody>
      </p:sp>
      <p:graphicFrame>
        <p:nvGraphicFramePr>
          <p:cNvPr id="18" name="Chart 0" descr=""/>
          <p:cNvGraphicFramePr/>
          <p:nvPr/>
        </p:nvGraphicFramePr>
        <p:xfrm>
          <a:off x="548640" y="1371600"/>
          <a:ext cx="475488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Chart 1" descr=""/>
          <p:cNvGraphicFramePr/>
          <p:nvPr/>
        </p:nvGraphicFramePr>
        <p:xfrm>
          <a:off x="5394960" y="1371600"/>
          <a:ext cx="3749040" cy="4937760"/>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txBox="1"/>
          <p:nvPr/>
        </p:nvSpPr>
        <p:spPr>
          <a:xfrm>
            <a:off x="9326880" y="1463040"/>
            <a:ext cx="2331720" cy="4754880"/>
          </a:xfrm>
          <a:prstGeom prst="rect">
            <a:avLst/>
          </a:prstGeom>
          <a:noFill/>
          <a:ln/>
        </p:spPr>
        <p:txBody>
          <a:bodyPr wrap="square" lIns="0" tIns="0" rIns="0" bIns="0" rtlCol="0" anchor="t"/>
          <a:lstStyle/>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Énergie +48 %</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 l'inflation vient de là</a:t>
            </a:r>
            <a:endParaRPr lang="en-US" sz="1250" dirty="0"/>
          </a:p>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Consommation −4 %</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 des ménages que l'énergie pénalise</a:t>
            </a:r>
            <a:endParaRPr lang="en-US" sz="1250" dirty="0"/>
          </a:p>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Chine −15 %, Inde −10 %</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 les émergents se regardent pays par pays</a:t>
            </a:r>
            <a:endParaRPr lang="en-US" sz="1250" dirty="0"/>
          </a:p>
          <a:p>
            <a:pPr marL="203200" indent="-203200">
              <a:spcAft>
                <a:spcPts val="900"/>
              </a:spcAft>
              <a:buSzPct val="100000"/>
              <a:buChar char="•"/>
            </a:pPr>
            <a:r>
              <a:rPr lang="en-US" sz="1250" dirty="0">
                <a:solidFill>
                  <a:srgbClr val="1F2937"/>
                </a:solidFill>
                <a:latin typeface="Calibri" pitchFamily="34" charset="0"/>
                <a:ea typeface="Calibri" pitchFamily="34" charset="-122"/>
                <a:cs typeface="Calibri" pitchFamily="34" charset="-120"/>
              </a:rPr>
              <a:t>La dynamique dit </a:t>
            </a:r>
            <a:pPr indent="0" marL="0">
              <a:spcAft>
                <a:spcPts val="900"/>
              </a:spcAft>
              <a:buNone/>
            </a:pPr>
            <a:r>
              <a:rPr lang="en-US" sz="1250" b="1" dirty="0">
                <a:solidFill>
                  <a:srgbClr val="14304F"/>
                </a:solidFill>
                <a:latin typeface="Calibri" pitchFamily="34" charset="0"/>
                <a:ea typeface="Calibri" pitchFamily="34" charset="-122"/>
                <a:cs typeface="Calibri" pitchFamily="34" charset="-120"/>
              </a:rPr>
              <a:t>ce qui monte</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pas ce qui est bon marché</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C98A1B"/>
          </a:solidFill>
          <a:ln w="12700">
            <a:solidFill>
              <a:srgbClr val="C98A1B"/>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Ce qu'on peut attendre de chaque classe d'actifs</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Rendement annuel espéré sur dix ans, en euros, dans le monde de l'énoncé (4 % d'inflation)</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Obligations : taux lus sur le marché · actions : 1/PER et dividende + croissance des bénéfices · or, matières premières : hypothèse · contrôle J.P. Morgan</a:t>
            </a:r>
            <a:endParaRPr lang="en-US" sz="850" dirty="0"/>
          </a:p>
        </p:txBody>
      </p:sp>
      <p:graphicFrame>
        <p:nvGraphicFramePr>
          <p:cNvPr id="18" name="Chart 0" descr=""/>
          <p:cNvGraphicFramePr/>
          <p:nvPr/>
        </p:nvGraphicFramePr>
        <p:xfrm>
          <a:off x="548640" y="1417320"/>
          <a:ext cx="7132320" cy="48920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8001000" y="1463040"/>
            <a:ext cx="1828800" cy="640080"/>
          </a:xfrm>
          <a:prstGeom prst="rect">
            <a:avLst/>
          </a:prstGeom>
          <a:noFill/>
          <a:ln/>
        </p:spPr>
        <p:txBody>
          <a:bodyPr wrap="square" lIns="0" tIns="0" rIns="0" bIns="0" rtlCol="0" anchor="b"/>
          <a:lstStyle/>
          <a:p>
            <a:pPr indent="0" marL="0">
              <a:buNone/>
            </a:pPr>
            <a:r>
              <a:rPr lang="en-US" sz="3000" b="1" dirty="0">
                <a:solidFill>
                  <a:srgbClr val="2A78D6"/>
                </a:solidFill>
                <a:latin typeface="Cambria" pitchFamily="34" charset="0"/>
                <a:ea typeface="Cambria" pitchFamily="34" charset="-122"/>
                <a:cs typeface="Cambria" pitchFamily="34" charset="-120"/>
              </a:rPr>
              <a:t>9,2 %</a:t>
            </a:r>
            <a:endParaRPr lang="en-US" sz="3000" dirty="0"/>
          </a:p>
        </p:txBody>
      </p:sp>
      <p:sp>
        <p:nvSpPr>
          <p:cNvPr id="20" name="Text 17"/>
          <p:cNvSpPr txBox="1"/>
          <p:nvPr/>
        </p:nvSpPr>
        <p:spPr>
          <a:xfrm>
            <a:off x="8001000" y="2121408"/>
            <a:ext cx="18288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Actions européennes</a:t>
            </a:r>
            <a:endParaRPr lang="en-US" sz="1200" dirty="0"/>
          </a:p>
        </p:txBody>
      </p:sp>
      <p:sp>
        <p:nvSpPr>
          <p:cNvPr id="21" name="Text 18"/>
          <p:cNvSpPr txBox="1"/>
          <p:nvPr/>
        </p:nvSpPr>
        <p:spPr>
          <a:xfrm>
            <a:off x="9875520" y="1463040"/>
            <a:ext cx="1828800" cy="640080"/>
          </a:xfrm>
          <a:prstGeom prst="rect">
            <a:avLst/>
          </a:prstGeom>
          <a:noFill/>
          <a:ln/>
        </p:spPr>
        <p:txBody>
          <a:bodyPr wrap="square" lIns="0" tIns="0" rIns="0" bIns="0" rtlCol="0" anchor="b"/>
          <a:lstStyle/>
          <a:p>
            <a:pPr indent="0" marL="0">
              <a:buNone/>
            </a:pPr>
            <a:r>
              <a:rPr lang="en-US" sz="3000" b="1" dirty="0">
                <a:solidFill>
                  <a:srgbClr val="2A78D6"/>
                </a:solidFill>
                <a:latin typeface="Cambria" pitchFamily="34" charset="0"/>
                <a:ea typeface="Cambria" pitchFamily="34" charset="-122"/>
                <a:cs typeface="Cambria" pitchFamily="34" charset="-120"/>
              </a:rPr>
              <a:t>7,2 %</a:t>
            </a:r>
            <a:endParaRPr lang="en-US" sz="3000" dirty="0"/>
          </a:p>
        </p:txBody>
      </p:sp>
      <p:sp>
        <p:nvSpPr>
          <p:cNvPr id="22" name="Text 19"/>
          <p:cNvSpPr txBox="1"/>
          <p:nvPr/>
        </p:nvSpPr>
        <p:spPr>
          <a:xfrm>
            <a:off x="9875520" y="2121408"/>
            <a:ext cx="18288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Actions américaines</a:t>
            </a:r>
            <a:endParaRPr lang="en-US" sz="1200" dirty="0"/>
          </a:p>
        </p:txBody>
      </p:sp>
      <p:sp>
        <p:nvSpPr>
          <p:cNvPr id="23" name="Text 20"/>
          <p:cNvSpPr txBox="1"/>
          <p:nvPr/>
        </p:nvSpPr>
        <p:spPr>
          <a:xfrm>
            <a:off x="8001000" y="2834640"/>
            <a:ext cx="3657600" cy="1554480"/>
          </a:xfrm>
          <a:prstGeom prst="rect">
            <a:avLst/>
          </a:prstGeom>
          <a:noFill/>
          <a:ln/>
        </p:spPr>
        <p:txBody>
          <a:bodyPr wrap="square" lIns="0" tIns="0" rIns="0" bIns="0" rtlCol="0" anchor="t"/>
          <a:lstStyle/>
          <a:p>
            <a:pPr marL="203200" indent="-203200">
              <a:spcAft>
                <a:spcPts val="700"/>
              </a:spcAft>
              <a:buSzPct val="100000"/>
              <a:buChar char="•"/>
            </a:pPr>
            <a:r>
              <a:rPr lang="en-US" sz="1350" b="1" dirty="0">
                <a:solidFill>
                  <a:srgbClr val="14304F"/>
                </a:solidFill>
                <a:latin typeface="Calibri" pitchFamily="34" charset="0"/>
                <a:ea typeface="Calibri" pitchFamily="34" charset="-122"/>
                <a:cs typeface="Calibri" pitchFamily="34" charset="-120"/>
              </a:rPr>
              <a:t>Actions et indexées</a:t>
            </a:r>
            <a:pPr indent="0" marL="0">
              <a:spcAft>
                <a:spcPts val="700"/>
              </a:spcAft>
              <a:buNone/>
            </a:pPr>
            <a:r>
              <a:rPr lang="en-US" sz="1350" dirty="0">
                <a:solidFill>
                  <a:srgbClr val="1F2937"/>
                </a:solidFill>
                <a:latin typeface="Calibri" pitchFamily="34" charset="0"/>
                <a:ea typeface="Calibri" pitchFamily="34" charset="-122"/>
                <a:cs typeface="Calibri" pitchFamily="34" charset="-120"/>
              </a:rPr>
              <a:t> dépassent nettement 4 %</a:t>
            </a:r>
            <a:endParaRPr lang="en-US" sz="1350" dirty="0"/>
          </a:p>
          <a:p>
            <a:pPr marL="203200" indent="-2032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Obligations à taux fixe </a:t>
            </a:r>
            <a:pPr indent="0" marL="0">
              <a:spcAft>
                <a:spcPts val="700"/>
              </a:spcAft>
              <a:buNone/>
            </a:pPr>
            <a:r>
              <a:rPr lang="en-US" sz="1350" b="1" dirty="0">
                <a:solidFill>
                  <a:srgbClr val="14304F"/>
                </a:solidFill>
                <a:latin typeface="Calibri" pitchFamily="34" charset="0"/>
                <a:ea typeface="Calibri" pitchFamily="34" charset="-122"/>
                <a:cs typeface="Calibri" pitchFamily="34" charset="-120"/>
              </a:rPr>
              <a:t>au niveau ou en dessous</a:t>
            </a:r>
            <a:endParaRPr lang="en-US" sz="1350" dirty="0"/>
          </a:p>
          <a:p>
            <a:pPr marL="203200" indent="-2032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L'Europe et le Japon devant les États-Unis : </a:t>
            </a:r>
            <a:pPr indent="0" marL="0">
              <a:spcAft>
                <a:spcPts val="700"/>
              </a:spcAft>
              <a:buNone/>
            </a:pPr>
            <a:r>
              <a:rPr lang="en-US" sz="1350" b="1" dirty="0">
                <a:solidFill>
                  <a:srgbClr val="14304F"/>
                </a:solidFill>
                <a:latin typeface="Calibri" pitchFamily="34" charset="0"/>
                <a:ea typeface="Calibri" pitchFamily="34" charset="-122"/>
                <a:cs typeface="Calibri" pitchFamily="34" charset="-120"/>
              </a:rPr>
              <a:t>moins chers</a:t>
            </a:r>
            <a:endParaRPr lang="en-US" sz="1350" dirty="0"/>
          </a:p>
        </p:txBody>
      </p:sp>
      <p:sp>
        <p:nvSpPr>
          <p:cNvPr id="24" name="Shape 21"/>
          <p:cNvSpPr/>
          <p:nvPr/>
        </p:nvSpPr>
        <p:spPr>
          <a:xfrm>
            <a:off x="8001000" y="4617720"/>
            <a:ext cx="3657600" cy="1645920"/>
          </a:xfrm>
          <a:prstGeom prst="roundRect">
            <a:avLst>
              <a:gd name="adj" fmla="val 4444"/>
            </a:avLst>
          </a:prstGeom>
          <a:solidFill>
            <a:srgbClr val="14304F"/>
          </a:solidFill>
          <a:ln w="12700">
            <a:solidFill>
              <a:srgbClr val="14304F"/>
            </a:solidFill>
            <a:prstDash val="solid"/>
          </a:ln>
        </p:spPr>
      </p:sp>
      <p:sp>
        <p:nvSpPr>
          <p:cNvPr id="25" name="Text 22"/>
          <p:cNvSpPr txBox="1"/>
          <p:nvPr/>
        </p:nvSpPr>
        <p:spPr>
          <a:xfrm>
            <a:off x="8229600" y="4754880"/>
            <a:ext cx="3200400" cy="13716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Préserver le pouvoir d'achat impose </a:t>
            </a:r>
            <a:pPr indent="0" marL="0">
              <a:buNone/>
            </a:pPr>
            <a:r>
              <a:rPr lang="en-US" sz="1350" b="1" dirty="0">
                <a:solidFill>
                  <a:srgbClr val="F5C969"/>
                </a:solidFill>
                <a:latin typeface="Calibri" pitchFamily="34" charset="0"/>
                <a:ea typeface="Calibri" pitchFamily="34" charset="-122"/>
                <a:cs typeface="Calibri" pitchFamily="34" charset="-120"/>
              </a:rPr>
              <a:t>des actifs de croissance</a:t>
            </a:r>
            <a:pPr indent="0" marL="0">
              <a:buNone/>
            </a:pPr>
            <a:r>
              <a:rPr lang="en-US" sz="1350" dirty="0">
                <a:solidFill>
                  <a:srgbClr val="FFFFFF"/>
                </a:solidFill>
                <a:latin typeface="Calibri" pitchFamily="34" charset="0"/>
                <a:ea typeface="Calibri" pitchFamily="34" charset="-122"/>
                <a:cs typeface="Calibri" pitchFamily="34" charset="-120"/>
              </a:rPr>
              <a:t>. Jusqu'où ? C'est la limite de 15 % qui le dira.</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C98A1B"/>
          </a:solidFill>
          <a:ln w="12700">
            <a:solidFill>
              <a:srgbClr val="C98A1B"/>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Europe devant États-Unis : le prix payé</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Deux estimations du rendement au-delà de l'inflation, moyennées, puis + 4 % d'inflation</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Croissance réelle des bénéfices : 2,0 % par an (S&amp;P 500 depuis 1900, Shiller), la même pour toutes les zones · PER iShares</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949440" cy="914400"/>
        </p:xfrm>
        <a:graphic>
          <a:graphicData uri="http://schemas.openxmlformats.org/drawingml/2006/table">
            <a:tbl>
              <a:tblPr/>
              <a:tblGrid>
                <a:gridCol w="3474720"/>
                <a:gridCol w="1737360"/>
                <a:gridCol w="1737360"/>
              </a:tblGrid>
              <a:tr h="566928">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Europe</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États-Unis</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PER (années de bénéfices payées)</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18,5</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30,0</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① Rendement des bénéfices (1 / PER)</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5,41 %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3,33 %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② Dividende + croissance des bénéfices</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3,07 % + 2,0 %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1,06 % + 2,0 %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Moyenne + 4 % d'inflation</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400" b="1" dirty="0">
                          <a:solidFill>
                            <a:srgbClr val="14304F"/>
                          </a:solidFill>
                          <a:latin typeface="Calibri" pitchFamily="34" charset="0"/>
                          <a:ea typeface="Calibri" pitchFamily="34" charset="-122"/>
                          <a:cs typeface="Calibri" pitchFamily="34" charset="-120"/>
                        </a:rPr>
                        <a:t>9,23 %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400" b="1" dirty="0">
                          <a:solidFill>
                            <a:srgbClr val="14304F"/>
                          </a:solidFill>
                          <a:latin typeface="Calibri" pitchFamily="34" charset="0"/>
                          <a:ea typeface="Calibri" pitchFamily="34" charset="-122"/>
                          <a:cs typeface="Calibri" pitchFamily="34" charset="-120"/>
                        </a:rPr>
                        <a:t>7,19 %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66928">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Repère J.P. Morgan (inflation 2 %)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400" dirty="0">
                          <a:solidFill>
                            <a:srgbClr val="1F2937"/>
                          </a:solidFill>
                          <a:latin typeface="Calibri" pitchFamily="34" charset="0"/>
                          <a:ea typeface="Calibri" pitchFamily="34" charset="-122"/>
                          <a:cs typeface="Calibri" pitchFamily="34" charset="-120"/>
                        </a:rPr>
                        <a:t>6,1 %</a:t>
                      </a:r>
                      <a:endParaRPr lang="en-US" sz="14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9" name="Shape 16"/>
          <p:cNvSpPr/>
          <p:nvPr/>
        </p:nvSpPr>
        <p:spPr>
          <a:xfrm>
            <a:off x="7863840" y="1508760"/>
            <a:ext cx="3794760" cy="2103120"/>
          </a:xfrm>
          <a:prstGeom prst="roundRect">
            <a:avLst>
              <a:gd name="adj" fmla="val 3478"/>
            </a:avLst>
          </a:prstGeom>
          <a:solidFill>
            <a:srgbClr val="14304F"/>
          </a:solidFill>
          <a:ln w="12700">
            <a:solidFill>
              <a:srgbClr val="14304F"/>
            </a:solidFill>
            <a:prstDash val="solid"/>
          </a:ln>
        </p:spPr>
      </p:sp>
      <p:sp>
        <p:nvSpPr>
          <p:cNvPr id="20" name="Text 17"/>
          <p:cNvSpPr txBox="1"/>
          <p:nvPr/>
        </p:nvSpPr>
        <p:spPr>
          <a:xfrm>
            <a:off x="8092440" y="1645920"/>
            <a:ext cx="3337560" cy="18288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L'action américaine est de meilleure qualité, mais </a:t>
            </a:r>
            <a:pPr indent="0" marL="0">
              <a:buNone/>
            </a:pPr>
            <a:r>
              <a:rPr lang="en-US" sz="1450" b="1" dirty="0">
                <a:solidFill>
                  <a:srgbClr val="F5C969"/>
                </a:solidFill>
                <a:latin typeface="Calibri" pitchFamily="34" charset="0"/>
                <a:ea typeface="Calibri" pitchFamily="34" charset="-122"/>
                <a:cs typeface="Calibri" pitchFamily="34" charset="-120"/>
              </a:rPr>
              <a:t>on la paie presque deux fois plus cher</a:t>
            </a:r>
            <a:pPr indent="0" marL="0">
              <a:buNone/>
            </a:pPr>
            <a:r>
              <a:rPr lang="en-US" sz="1450" dirty="0">
                <a:solidFill>
                  <a:srgbClr val="FFFFFF"/>
                </a:solidFill>
                <a:latin typeface="Calibri" pitchFamily="34" charset="0"/>
                <a:ea typeface="Calibri" pitchFamily="34" charset="-122"/>
                <a:cs typeface="Calibri" pitchFamily="34" charset="-120"/>
              </a:rPr>
              <a:t>. À ce prix, elle rapportera probablement moins sur dix ans. »</a:t>
            </a:r>
            <a:endParaRPr lang="en-US" sz="1450" dirty="0"/>
          </a:p>
        </p:txBody>
      </p:sp>
      <p:sp>
        <p:nvSpPr>
          <p:cNvPr id="21" name="Shape 18"/>
          <p:cNvSpPr/>
          <p:nvPr/>
        </p:nvSpPr>
        <p:spPr>
          <a:xfrm>
            <a:off x="7863840" y="3840480"/>
            <a:ext cx="3794760" cy="2377440"/>
          </a:xfrm>
          <a:prstGeom prst="roundRect">
            <a:avLst>
              <a:gd name="adj" fmla="val 3077"/>
            </a:avLst>
          </a:prstGeom>
          <a:solidFill>
            <a:srgbClr val="F2F5F9"/>
          </a:solidFill>
          <a:ln w="12700">
            <a:solidFill>
              <a:srgbClr val="F2F5F9"/>
            </a:solidFill>
            <a:prstDash val="solid"/>
          </a:ln>
        </p:spPr>
      </p:sp>
      <p:sp>
        <p:nvSpPr>
          <p:cNvPr id="22" name="Text 19"/>
          <p:cNvSpPr txBox="1"/>
          <p:nvPr/>
        </p:nvSpPr>
        <p:spPr>
          <a:xfrm>
            <a:off x="8092440" y="3931920"/>
            <a:ext cx="3383280" cy="36576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Limites, assumées</a:t>
            </a:r>
            <a:endParaRPr lang="en-US" sz="1500" dirty="0"/>
          </a:p>
        </p:txBody>
      </p:sp>
      <p:sp>
        <p:nvSpPr>
          <p:cNvPr id="23" name="Text 20"/>
          <p:cNvSpPr txBox="1"/>
          <p:nvPr/>
        </p:nvSpPr>
        <p:spPr>
          <a:xfrm>
            <a:off x="8092440" y="4343400"/>
            <a:ext cx="3383280" cy="182880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Même croissance pour tous : </a:t>
            </a:r>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pénalise les US</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(tech)</a:t>
            </a:r>
            <a:endParaRPr lang="en-US" sz="1250" dirty="0"/>
          </a:p>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PER Yahoo 24,6 au lieu de 30,0 : US ≈ 8,1 %</a:t>
            </a:r>
            <a:endParaRPr lang="en-US" sz="1250" dirty="0"/>
          </a:p>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J.P. Morgan : même sens, écart </a:t>
            </a:r>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bien plus faible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11000" b="1" dirty="0">
                <a:solidFill>
                  <a:srgbClr val="C98A1B"/>
                </a:solidFill>
                <a:latin typeface="Cambria" pitchFamily="34" charset="0"/>
                <a:ea typeface="Cambria" pitchFamily="34" charset="-122"/>
                <a:cs typeface="Cambria" pitchFamily="34" charset="-120"/>
              </a:rPr>
              <a:t>3</a:t>
            </a:r>
            <a:endParaRPr lang="en-US" sz="11000" dirty="0"/>
          </a:p>
        </p:txBody>
      </p:sp>
      <p:sp>
        <p:nvSpPr>
          <p:cNvPr id="3" name="Text 1"/>
          <p:cNvSpPr txBox="1"/>
          <p:nvPr/>
        </p:nvSpPr>
        <p:spPr>
          <a:xfrm>
            <a:off x="548640" y="297180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Analyse ligne à ligne</a:t>
            </a:r>
            <a:endParaRPr lang="en-US" sz="4000" dirty="0"/>
          </a:p>
        </p:txBody>
      </p:sp>
      <p:sp>
        <p:nvSpPr>
          <p:cNvPr id="4" name="Text 2"/>
          <p:cNvSpPr txBox="1"/>
          <p:nvPr/>
        </p:nvSpPr>
        <p:spPr>
          <a:xfrm>
            <a:off x="548640" y="397764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Avec quoi investir : des titres en direct pour les actions européennes et les États, les meilleurs fonds pour le reste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De 600 valeurs européennes à 15 titres</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Point de départ : le STOXX Europe 600 · on ne garde que les grandes capitalisations (10 Md€ et plus)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17" name="Shape 15"/>
          <p:cNvSpPr/>
          <p:nvPr/>
        </p:nvSpPr>
        <p:spPr>
          <a:xfrm>
            <a:off x="655168" y="1389888"/>
            <a:ext cx="10881360" cy="502920"/>
          </a:xfrm>
          <a:prstGeom prst="roundRect">
            <a:avLst>
              <a:gd name="adj" fmla="val 10909"/>
            </a:avLst>
          </a:prstGeom>
          <a:solidFill>
            <a:srgbClr val="14304F"/>
          </a:solidFill>
          <a:ln w="12700">
            <a:solidFill>
              <a:srgbClr val="14304F"/>
            </a:solidFill>
            <a:prstDash val="solid"/>
          </a:ln>
        </p:spPr>
      </p:sp>
      <p:sp>
        <p:nvSpPr>
          <p:cNvPr id="18" name="Text 16"/>
          <p:cNvSpPr txBox="1"/>
          <p:nvPr/>
        </p:nvSpPr>
        <p:spPr>
          <a:xfrm>
            <a:off x="655168" y="1389888"/>
            <a:ext cx="1088136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600  </a:t>
            </a:r>
            <a:pPr algn="ctr" indent="0" marL="0">
              <a:buNone/>
            </a:pPr>
            <a:r>
              <a:rPr lang="en-US" sz="1250" dirty="0">
                <a:solidFill>
                  <a:srgbClr val="FFFFFF"/>
                </a:solidFill>
                <a:latin typeface="Calibri" pitchFamily="34" charset="0"/>
                <a:ea typeface="Calibri" pitchFamily="34" charset="-122"/>
                <a:cs typeface="Calibri" pitchFamily="34" charset="-120"/>
              </a:rPr>
              <a:t>valeurs du STOXX 600</a:t>
            </a:r>
            <a:endParaRPr lang="en-US" sz="1700" dirty="0"/>
          </a:p>
        </p:txBody>
      </p:sp>
      <p:sp>
        <p:nvSpPr>
          <p:cNvPr id="19" name="Shape 17"/>
          <p:cNvSpPr/>
          <p:nvPr/>
        </p:nvSpPr>
        <p:spPr>
          <a:xfrm>
            <a:off x="1194664" y="1965960"/>
            <a:ext cx="9802368" cy="502920"/>
          </a:xfrm>
          <a:prstGeom prst="roundRect">
            <a:avLst>
              <a:gd name="adj" fmla="val 10909"/>
            </a:avLst>
          </a:prstGeom>
          <a:solidFill>
            <a:srgbClr val="3B5A80"/>
          </a:solidFill>
          <a:ln w="12700">
            <a:solidFill>
              <a:srgbClr val="3B5A80"/>
            </a:solidFill>
            <a:prstDash val="solid"/>
          </a:ln>
        </p:spPr>
      </p:sp>
      <p:sp>
        <p:nvSpPr>
          <p:cNvPr id="20" name="Text 18"/>
          <p:cNvSpPr txBox="1"/>
          <p:nvPr/>
        </p:nvSpPr>
        <p:spPr>
          <a:xfrm>
            <a:off x="1194664" y="1965960"/>
            <a:ext cx="9802368"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− 26  </a:t>
            </a:r>
            <a:pPr algn="ctr" indent="0" marL="0">
              <a:buNone/>
            </a:pPr>
            <a:r>
              <a:rPr lang="en-US" sz="1250" dirty="0">
                <a:solidFill>
                  <a:srgbClr val="FFFFFF"/>
                </a:solidFill>
                <a:latin typeface="Calibri" pitchFamily="34" charset="0"/>
                <a:ea typeface="Calibri" pitchFamily="34" charset="-122"/>
                <a:cs typeface="Calibri" pitchFamily="34" charset="-120"/>
              </a:rPr>
              <a:t>exclues : tabac, armement, charbon</a:t>
            </a:r>
            <a:endParaRPr lang="en-US" sz="1700" dirty="0"/>
          </a:p>
        </p:txBody>
      </p:sp>
      <p:sp>
        <p:nvSpPr>
          <p:cNvPr id="21" name="Shape 19"/>
          <p:cNvSpPr/>
          <p:nvPr/>
        </p:nvSpPr>
        <p:spPr>
          <a:xfrm>
            <a:off x="1734160" y="2542032"/>
            <a:ext cx="8723376" cy="502920"/>
          </a:xfrm>
          <a:prstGeom prst="roundRect">
            <a:avLst>
              <a:gd name="adj" fmla="val 10909"/>
            </a:avLst>
          </a:prstGeom>
          <a:solidFill>
            <a:srgbClr val="3B5A80"/>
          </a:solidFill>
          <a:ln w="12700">
            <a:solidFill>
              <a:srgbClr val="3B5A80"/>
            </a:solidFill>
            <a:prstDash val="solid"/>
          </a:ln>
        </p:spPr>
      </p:sp>
      <p:sp>
        <p:nvSpPr>
          <p:cNvPr id="22" name="Text 20"/>
          <p:cNvSpPr txBox="1"/>
          <p:nvPr/>
        </p:nvSpPr>
        <p:spPr>
          <a:xfrm>
            <a:off x="1734160" y="2542032"/>
            <a:ext cx="8723376"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− 11  </a:t>
            </a:r>
            <a:pPr algn="ctr" indent="0" marL="0">
              <a:buNone/>
            </a:pPr>
            <a:r>
              <a:rPr lang="en-US" sz="1250" dirty="0">
                <a:solidFill>
                  <a:srgbClr val="FFFFFF"/>
                </a:solidFill>
                <a:latin typeface="Calibri" pitchFamily="34" charset="0"/>
                <a:ea typeface="Calibri" pitchFamily="34" charset="-122"/>
                <a:cs typeface="Calibri" pitchFamily="34" charset="-120"/>
              </a:rPr>
              <a:t>sociétés d'investissement, non notables</a:t>
            </a:r>
            <a:endParaRPr lang="en-US" sz="1700" dirty="0"/>
          </a:p>
        </p:txBody>
      </p:sp>
      <p:sp>
        <p:nvSpPr>
          <p:cNvPr id="23" name="Shape 21"/>
          <p:cNvSpPr/>
          <p:nvPr/>
        </p:nvSpPr>
        <p:spPr>
          <a:xfrm>
            <a:off x="2273656" y="3118104"/>
            <a:ext cx="7644384" cy="502920"/>
          </a:xfrm>
          <a:prstGeom prst="roundRect">
            <a:avLst>
              <a:gd name="adj" fmla="val 10909"/>
            </a:avLst>
          </a:prstGeom>
          <a:solidFill>
            <a:srgbClr val="3B5A80"/>
          </a:solidFill>
          <a:ln w="12700">
            <a:solidFill>
              <a:srgbClr val="3B5A80"/>
            </a:solidFill>
            <a:prstDash val="solid"/>
          </a:ln>
        </p:spPr>
      </p:sp>
      <p:sp>
        <p:nvSpPr>
          <p:cNvPr id="24" name="Text 22"/>
          <p:cNvSpPr txBox="1"/>
          <p:nvPr/>
        </p:nvSpPr>
        <p:spPr>
          <a:xfrm>
            <a:off x="2273656" y="3118104"/>
            <a:ext cx="7644384"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− 262  </a:t>
            </a:r>
            <a:pPr algn="ctr" indent="0" marL="0">
              <a:buNone/>
            </a:pPr>
            <a:r>
              <a:rPr lang="en-US" sz="1250" dirty="0">
                <a:solidFill>
                  <a:srgbClr val="FFFFFF"/>
                </a:solidFill>
                <a:latin typeface="Calibri" pitchFamily="34" charset="0"/>
                <a:ea typeface="Calibri" pitchFamily="34" charset="-122"/>
                <a:cs typeface="Calibri" pitchFamily="34" charset="-120"/>
              </a:rPr>
              <a:t>trop petites (&lt; 10 Md€)</a:t>
            </a:r>
            <a:endParaRPr lang="en-US" sz="1700" dirty="0"/>
          </a:p>
        </p:txBody>
      </p:sp>
      <p:sp>
        <p:nvSpPr>
          <p:cNvPr id="25" name="Shape 23"/>
          <p:cNvSpPr/>
          <p:nvPr/>
        </p:nvSpPr>
        <p:spPr>
          <a:xfrm>
            <a:off x="2813152" y="3694176"/>
            <a:ext cx="6565392" cy="502920"/>
          </a:xfrm>
          <a:prstGeom prst="roundRect">
            <a:avLst>
              <a:gd name="adj" fmla="val 10909"/>
            </a:avLst>
          </a:prstGeom>
          <a:solidFill>
            <a:srgbClr val="3B5A80"/>
          </a:solidFill>
          <a:ln w="12700">
            <a:solidFill>
              <a:srgbClr val="3B5A80"/>
            </a:solidFill>
            <a:prstDash val="solid"/>
          </a:ln>
        </p:spPr>
      </p:sp>
      <p:sp>
        <p:nvSpPr>
          <p:cNvPr id="26" name="Text 24"/>
          <p:cNvSpPr txBox="1"/>
          <p:nvPr/>
        </p:nvSpPr>
        <p:spPr>
          <a:xfrm>
            <a:off x="2813152" y="3694176"/>
            <a:ext cx="6565392"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300  </a:t>
            </a:r>
            <a:pPr algn="ctr" indent="0" marL="0">
              <a:buNone/>
            </a:pPr>
            <a:r>
              <a:rPr lang="en-US" sz="1250" dirty="0">
                <a:solidFill>
                  <a:srgbClr val="FFFFFF"/>
                </a:solidFill>
                <a:latin typeface="Calibri" pitchFamily="34" charset="0"/>
                <a:ea typeface="Calibri" pitchFamily="34" charset="-122"/>
                <a:cs typeface="Calibri" pitchFamily="34" charset="-120"/>
              </a:rPr>
              <a:t>notées sur cinq piliers</a:t>
            </a:r>
            <a:endParaRPr lang="en-US" sz="1700" dirty="0"/>
          </a:p>
        </p:txBody>
      </p:sp>
      <p:sp>
        <p:nvSpPr>
          <p:cNvPr id="27" name="Shape 25"/>
          <p:cNvSpPr/>
          <p:nvPr/>
        </p:nvSpPr>
        <p:spPr>
          <a:xfrm>
            <a:off x="3352648" y="4270248"/>
            <a:ext cx="5486400" cy="502920"/>
          </a:xfrm>
          <a:prstGeom prst="roundRect">
            <a:avLst>
              <a:gd name="adj" fmla="val 10909"/>
            </a:avLst>
          </a:prstGeom>
          <a:solidFill>
            <a:srgbClr val="3B5A80"/>
          </a:solidFill>
          <a:ln w="12700">
            <a:solidFill>
              <a:srgbClr val="3B5A80"/>
            </a:solidFill>
            <a:prstDash val="solid"/>
          </a:ln>
        </p:spPr>
      </p:sp>
      <p:sp>
        <p:nvSpPr>
          <p:cNvPr id="28" name="Text 26"/>
          <p:cNvSpPr txBox="1"/>
          <p:nvPr/>
        </p:nvSpPr>
        <p:spPr>
          <a:xfrm>
            <a:off x="3352648" y="4270248"/>
            <a:ext cx="548640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− 16  </a:t>
            </a:r>
            <a:pPr algn="ctr" indent="0" marL="0">
              <a:buNone/>
            </a:pPr>
            <a:r>
              <a:rPr lang="en-US" sz="1250" dirty="0">
                <a:solidFill>
                  <a:srgbClr val="FFFFFF"/>
                </a:solidFill>
                <a:latin typeface="Calibri" pitchFamily="34" charset="0"/>
                <a:ea typeface="Calibri" pitchFamily="34" charset="-122"/>
                <a:cs typeface="Calibri" pitchFamily="34" charset="-120"/>
              </a:rPr>
              <a:t>écartées par notre vue sectorielle</a:t>
            </a:r>
            <a:endParaRPr lang="en-US" sz="1700" dirty="0"/>
          </a:p>
        </p:txBody>
      </p:sp>
      <p:sp>
        <p:nvSpPr>
          <p:cNvPr id="29" name="Shape 27"/>
          <p:cNvSpPr/>
          <p:nvPr/>
        </p:nvSpPr>
        <p:spPr>
          <a:xfrm>
            <a:off x="3892144" y="4846320"/>
            <a:ext cx="4407408" cy="502920"/>
          </a:xfrm>
          <a:prstGeom prst="roundRect">
            <a:avLst>
              <a:gd name="adj" fmla="val 10909"/>
            </a:avLst>
          </a:prstGeom>
          <a:solidFill>
            <a:srgbClr val="3B5A80"/>
          </a:solidFill>
          <a:ln w="12700">
            <a:solidFill>
              <a:srgbClr val="3B5A80"/>
            </a:solidFill>
            <a:prstDash val="solid"/>
          </a:ln>
        </p:spPr>
      </p:sp>
      <p:sp>
        <p:nvSpPr>
          <p:cNvPr id="30" name="Text 28"/>
          <p:cNvSpPr txBox="1"/>
          <p:nvPr/>
        </p:nvSpPr>
        <p:spPr>
          <a:xfrm>
            <a:off x="3892144" y="4846320"/>
            <a:ext cx="4407408"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30  </a:t>
            </a:r>
            <a:pPr algn="ctr" indent="0" marL="0">
              <a:buNone/>
            </a:pPr>
            <a:r>
              <a:rPr lang="en-US" sz="1250" dirty="0">
                <a:solidFill>
                  <a:srgbClr val="FFFFFF"/>
                </a:solidFill>
                <a:latin typeface="Calibri" pitchFamily="34" charset="0"/>
                <a:ea typeface="Calibri" pitchFamily="34" charset="-122"/>
                <a:cs typeface="Calibri" pitchFamily="34" charset="-120"/>
              </a:rPr>
              <a:t>présélectionnées</a:t>
            </a:r>
            <a:endParaRPr lang="en-US" sz="1700" dirty="0"/>
          </a:p>
        </p:txBody>
      </p:sp>
      <p:sp>
        <p:nvSpPr>
          <p:cNvPr id="31" name="Shape 29"/>
          <p:cNvSpPr/>
          <p:nvPr/>
        </p:nvSpPr>
        <p:spPr>
          <a:xfrm>
            <a:off x="4431640" y="5422392"/>
            <a:ext cx="3328416" cy="502920"/>
          </a:xfrm>
          <a:prstGeom prst="roundRect">
            <a:avLst>
              <a:gd name="adj" fmla="val 10909"/>
            </a:avLst>
          </a:prstGeom>
          <a:solidFill>
            <a:srgbClr val="C98A1B"/>
          </a:solidFill>
          <a:ln w="12700">
            <a:solidFill>
              <a:srgbClr val="C98A1B"/>
            </a:solidFill>
            <a:prstDash val="solid"/>
          </a:ln>
        </p:spPr>
      </p:sp>
      <p:sp>
        <p:nvSpPr>
          <p:cNvPr id="32" name="Text 30"/>
          <p:cNvSpPr txBox="1"/>
          <p:nvPr/>
        </p:nvSpPr>
        <p:spPr>
          <a:xfrm>
            <a:off x="4431640" y="5422392"/>
            <a:ext cx="3328416"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15  </a:t>
            </a:r>
            <a:pPr algn="ctr" indent="0" marL="0">
              <a:buNone/>
            </a:pPr>
            <a:r>
              <a:rPr lang="en-US" sz="1250" dirty="0">
                <a:solidFill>
                  <a:srgbClr val="FFFFFF"/>
                </a:solidFill>
                <a:latin typeface="Calibri" pitchFamily="34" charset="0"/>
                <a:ea typeface="Calibri" pitchFamily="34" charset="-122"/>
                <a:cs typeface="Calibri" pitchFamily="34" charset="-120"/>
              </a:rPr>
              <a:t>retenues sur les attentes des analystes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Cinq piliers, face à son propre secteur</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Une banque est comparée aux banques, un laboratoire aux laboratoires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17" name="Shape 15"/>
          <p:cNvSpPr/>
          <p:nvPr/>
        </p:nvSpPr>
        <p:spPr>
          <a:xfrm>
            <a:off x="548640" y="1536192"/>
            <a:ext cx="548640" cy="548640"/>
          </a:xfrm>
          <a:prstGeom prst="ellipse">
            <a:avLst/>
          </a:prstGeom>
          <a:solidFill>
            <a:srgbClr val="14304F"/>
          </a:solidFill>
          <a:ln w="12700">
            <a:solidFill>
              <a:srgbClr val="14304F"/>
            </a:solidFill>
            <a:prstDash val="solid"/>
          </a:ln>
        </p:spPr>
      </p:sp>
      <p:sp>
        <p:nvSpPr>
          <p:cNvPr id="18" name="Text 16"/>
          <p:cNvSpPr txBox="1"/>
          <p:nvPr/>
        </p:nvSpPr>
        <p:spPr>
          <a:xfrm>
            <a:off x="548640" y="15361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9" name="Text 17"/>
          <p:cNvSpPr txBox="1"/>
          <p:nvPr/>
        </p:nvSpPr>
        <p:spPr>
          <a:xfrm>
            <a:off x="1280160" y="1463040"/>
            <a:ext cx="32004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Valorisation</a:t>
            </a:r>
            <a:endParaRPr lang="en-US" sz="1700" dirty="0"/>
          </a:p>
        </p:txBody>
      </p:sp>
      <p:sp>
        <p:nvSpPr>
          <p:cNvPr id="20" name="Text 18"/>
          <p:cNvSpPr txBox="1"/>
          <p:nvPr/>
        </p:nvSpPr>
        <p:spPr>
          <a:xfrm>
            <a:off x="1280160" y="1828800"/>
            <a:ext cx="3840480" cy="36576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Est-elle bon marché ?</a:t>
            </a:r>
            <a:endParaRPr lang="en-US" sz="1350" dirty="0"/>
          </a:p>
        </p:txBody>
      </p:sp>
      <p:sp>
        <p:nvSpPr>
          <p:cNvPr id="21" name="Shape 19"/>
          <p:cNvSpPr/>
          <p:nvPr/>
        </p:nvSpPr>
        <p:spPr>
          <a:xfrm>
            <a:off x="548640" y="2432304"/>
            <a:ext cx="548640" cy="548640"/>
          </a:xfrm>
          <a:prstGeom prst="ellipse">
            <a:avLst/>
          </a:prstGeom>
          <a:solidFill>
            <a:srgbClr val="14304F"/>
          </a:solidFill>
          <a:ln w="12700">
            <a:solidFill>
              <a:srgbClr val="14304F"/>
            </a:solidFill>
            <a:prstDash val="solid"/>
          </a:ln>
        </p:spPr>
      </p:sp>
      <p:sp>
        <p:nvSpPr>
          <p:cNvPr id="22" name="Text 20"/>
          <p:cNvSpPr txBox="1"/>
          <p:nvPr/>
        </p:nvSpPr>
        <p:spPr>
          <a:xfrm>
            <a:off x="548640" y="24323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3" name="Text 21"/>
          <p:cNvSpPr txBox="1"/>
          <p:nvPr/>
        </p:nvSpPr>
        <p:spPr>
          <a:xfrm>
            <a:off x="1280160" y="2359152"/>
            <a:ext cx="32004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Croissance</a:t>
            </a:r>
            <a:endParaRPr lang="en-US" sz="1700" dirty="0"/>
          </a:p>
        </p:txBody>
      </p:sp>
      <p:sp>
        <p:nvSpPr>
          <p:cNvPr id="24" name="Text 22"/>
          <p:cNvSpPr txBox="1"/>
          <p:nvPr/>
        </p:nvSpPr>
        <p:spPr>
          <a:xfrm>
            <a:off x="1280160" y="2724912"/>
            <a:ext cx="3840480" cy="36576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Ses résultats progressent-ils ?</a:t>
            </a:r>
            <a:endParaRPr lang="en-US" sz="1350" dirty="0"/>
          </a:p>
        </p:txBody>
      </p:sp>
      <p:sp>
        <p:nvSpPr>
          <p:cNvPr id="25" name="Shape 23"/>
          <p:cNvSpPr/>
          <p:nvPr/>
        </p:nvSpPr>
        <p:spPr>
          <a:xfrm>
            <a:off x="548640" y="3328416"/>
            <a:ext cx="548640" cy="548640"/>
          </a:xfrm>
          <a:prstGeom prst="ellipse">
            <a:avLst/>
          </a:prstGeom>
          <a:solidFill>
            <a:srgbClr val="14304F"/>
          </a:solidFill>
          <a:ln w="12700">
            <a:solidFill>
              <a:srgbClr val="14304F"/>
            </a:solidFill>
            <a:prstDash val="solid"/>
          </a:ln>
        </p:spPr>
      </p:sp>
      <p:sp>
        <p:nvSpPr>
          <p:cNvPr id="26" name="Text 24"/>
          <p:cNvSpPr txBox="1"/>
          <p:nvPr/>
        </p:nvSpPr>
        <p:spPr>
          <a:xfrm>
            <a:off x="548640" y="33284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7" name="Text 25"/>
          <p:cNvSpPr txBox="1"/>
          <p:nvPr/>
        </p:nvSpPr>
        <p:spPr>
          <a:xfrm>
            <a:off x="1280160" y="3255264"/>
            <a:ext cx="32004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Dynamique</a:t>
            </a:r>
            <a:endParaRPr lang="en-US" sz="1700" dirty="0"/>
          </a:p>
        </p:txBody>
      </p:sp>
      <p:sp>
        <p:nvSpPr>
          <p:cNvPr id="28" name="Text 26"/>
          <p:cNvSpPr txBox="1"/>
          <p:nvPr/>
        </p:nvSpPr>
        <p:spPr>
          <a:xfrm>
            <a:off x="1280160" y="3621024"/>
            <a:ext cx="3840480" cy="36576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Le marché la soutient-il ?</a:t>
            </a:r>
            <a:endParaRPr lang="en-US" sz="1350" dirty="0"/>
          </a:p>
        </p:txBody>
      </p:sp>
      <p:sp>
        <p:nvSpPr>
          <p:cNvPr id="29" name="Shape 27"/>
          <p:cNvSpPr/>
          <p:nvPr/>
        </p:nvSpPr>
        <p:spPr>
          <a:xfrm>
            <a:off x="548640" y="4224528"/>
            <a:ext cx="548640" cy="548640"/>
          </a:xfrm>
          <a:prstGeom prst="ellipse">
            <a:avLst/>
          </a:prstGeom>
          <a:solidFill>
            <a:srgbClr val="14304F"/>
          </a:solidFill>
          <a:ln w="12700">
            <a:solidFill>
              <a:srgbClr val="14304F"/>
            </a:solidFill>
            <a:prstDash val="solid"/>
          </a:ln>
        </p:spPr>
      </p:sp>
      <p:sp>
        <p:nvSpPr>
          <p:cNvPr id="30" name="Text 28"/>
          <p:cNvSpPr txBox="1"/>
          <p:nvPr/>
        </p:nvSpPr>
        <p:spPr>
          <a:xfrm>
            <a:off x="548640" y="42245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1" name="Text 29"/>
          <p:cNvSpPr txBox="1"/>
          <p:nvPr/>
        </p:nvSpPr>
        <p:spPr>
          <a:xfrm>
            <a:off x="1280160" y="4151376"/>
            <a:ext cx="32004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Qualité</a:t>
            </a:r>
            <a:endParaRPr lang="en-US" sz="1700" dirty="0"/>
          </a:p>
        </p:txBody>
      </p:sp>
      <p:sp>
        <p:nvSpPr>
          <p:cNvPr id="32" name="Text 30"/>
          <p:cNvSpPr txBox="1"/>
          <p:nvPr/>
        </p:nvSpPr>
        <p:spPr>
          <a:xfrm>
            <a:off x="1280160" y="4517136"/>
            <a:ext cx="3840480" cy="36576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Est-elle solide et rentable ?</a:t>
            </a:r>
            <a:endParaRPr lang="en-US" sz="1350" dirty="0"/>
          </a:p>
        </p:txBody>
      </p:sp>
      <p:sp>
        <p:nvSpPr>
          <p:cNvPr id="33" name="Shape 31"/>
          <p:cNvSpPr/>
          <p:nvPr/>
        </p:nvSpPr>
        <p:spPr>
          <a:xfrm>
            <a:off x="548640" y="5120640"/>
            <a:ext cx="548640" cy="548640"/>
          </a:xfrm>
          <a:prstGeom prst="ellipse">
            <a:avLst/>
          </a:prstGeom>
          <a:solidFill>
            <a:srgbClr val="C98A1B"/>
          </a:solidFill>
          <a:ln w="12700">
            <a:solidFill>
              <a:srgbClr val="C98A1B"/>
            </a:solidFill>
            <a:prstDash val="solid"/>
          </a:ln>
        </p:spPr>
      </p:sp>
      <p:sp>
        <p:nvSpPr>
          <p:cNvPr id="34" name="Text 32"/>
          <p:cNvSpPr txBox="1"/>
          <p:nvPr/>
        </p:nvSpPr>
        <p:spPr>
          <a:xfrm>
            <a:off x="548640" y="5120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5" name="Text 33"/>
          <p:cNvSpPr txBox="1"/>
          <p:nvPr/>
        </p:nvSpPr>
        <p:spPr>
          <a:xfrm>
            <a:off x="1280160" y="5047488"/>
            <a:ext cx="32004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Résistance</a:t>
            </a:r>
            <a:endParaRPr lang="en-US" sz="1700" dirty="0"/>
          </a:p>
        </p:txBody>
      </p:sp>
      <p:sp>
        <p:nvSpPr>
          <p:cNvPr id="36" name="Text 34"/>
          <p:cNvSpPr txBox="1"/>
          <p:nvPr/>
        </p:nvSpPr>
        <p:spPr>
          <a:xfrm>
            <a:off x="1280160" y="5413248"/>
            <a:ext cx="3840480" cy="36576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Tient-elle bon quand le marché chute ?</a:t>
            </a:r>
            <a:endParaRPr lang="en-US" sz="1350" dirty="0"/>
          </a:p>
        </p:txBody>
      </p:sp>
      <p:sp>
        <p:nvSpPr>
          <p:cNvPr id="37" name="Shape 35"/>
          <p:cNvSpPr/>
          <p:nvPr/>
        </p:nvSpPr>
        <p:spPr>
          <a:xfrm>
            <a:off x="5760720" y="1463040"/>
            <a:ext cx="5879592" cy="2148840"/>
          </a:xfrm>
          <a:prstGeom prst="roundRect">
            <a:avLst>
              <a:gd name="adj" fmla="val 3404"/>
            </a:avLst>
          </a:prstGeom>
          <a:solidFill>
            <a:srgbClr val="F2F5F9"/>
          </a:solidFill>
          <a:ln w="12700">
            <a:solidFill>
              <a:srgbClr val="F2F5F9"/>
            </a:solidFill>
            <a:prstDash val="solid"/>
          </a:ln>
        </p:spPr>
      </p:sp>
      <p:sp>
        <p:nvSpPr>
          <p:cNvPr id="38" name="Text 36"/>
          <p:cNvSpPr txBox="1"/>
          <p:nvPr/>
        </p:nvSpPr>
        <p:spPr>
          <a:xfrm>
            <a:off x="5989320" y="1572768"/>
            <a:ext cx="54864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Pourquoi « Résistance » ?</a:t>
            </a:r>
            <a:endParaRPr lang="en-US" sz="1600" dirty="0"/>
          </a:p>
        </p:txBody>
      </p:sp>
      <p:sp>
        <p:nvSpPr>
          <p:cNvPr id="39" name="Text 37"/>
          <p:cNvSpPr txBox="1"/>
          <p:nvPr/>
        </p:nvSpPr>
        <p:spPr>
          <a:xfrm>
            <a:off x="5989320" y="1965960"/>
            <a:ext cx="5440680" cy="1554480"/>
          </a:xfrm>
          <a:prstGeom prst="rect">
            <a:avLst/>
          </a:prstGeom>
          <a:noFill/>
          <a:ln/>
        </p:spPr>
        <p:txBody>
          <a:bodyPr wrap="square" lIns="0" tIns="0" rIns="0" bIns="0" rtlCol="0" anchor="t"/>
          <a:lstStyle/>
          <a:p>
            <a:pPr indent="0" marL="0">
              <a:spcAft>
                <a:spcPts val="600"/>
              </a:spcAft>
              <a:buNone/>
            </a:pPr>
            <a:r>
              <a:rPr lang="en-US" sz="1350" dirty="0">
                <a:solidFill>
                  <a:srgbClr val="1F2937"/>
                </a:solidFill>
                <a:latin typeface="Calibri" pitchFamily="34" charset="0"/>
                <a:ea typeface="Calibri" pitchFamily="34" charset="-122"/>
                <a:cs typeface="Calibri" pitchFamily="34" charset="-120"/>
              </a:rPr>
              <a:t>Plus la poche d'actions baisse modérément en crise, plus on peut en détenir sous la limite de 15 %. On note donc aussi </a:t>
            </a:r>
            <a:pPr indent="0" marL="0">
              <a:spcAft>
                <a:spcPts val="600"/>
              </a:spcAft>
              <a:buNone/>
            </a:pPr>
            <a:r>
              <a:rPr lang="en-US" sz="1350" b="1" dirty="0">
                <a:solidFill>
                  <a:srgbClr val="14304F"/>
                </a:solidFill>
                <a:latin typeface="Calibri" pitchFamily="34" charset="0"/>
                <a:ea typeface="Calibri" pitchFamily="34" charset="-122"/>
                <a:cs typeface="Calibri" pitchFamily="34" charset="-120"/>
              </a:rPr>
              <a:t>la volatilité, les pertes de 2020 et 2022, et le bêta</a:t>
            </a:r>
            <a:pPr indent="0" marL="0">
              <a:spcAft>
                <a:spcPts val="600"/>
              </a:spcAft>
              <a:buNone/>
            </a:pPr>
            <a:r>
              <a:rPr lang="en-US" sz="1350" dirty="0">
                <a:solidFill>
                  <a:srgbClr val="1F2937"/>
                </a:solidFill>
                <a:latin typeface="Calibri" pitchFamily="34" charset="0"/>
                <a:ea typeface="Calibri" pitchFamily="34" charset="-122"/>
                <a:cs typeface="Calibri" pitchFamily="34" charset="-120"/>
              </a:rPr>
              <a:t>.</a:t>
            </a:r>
            <a:endParaRPr lang="en-US" sz="1350" dirty="0"/>
          </a:p>
        </p:txBody>
      </p:sp>
      <p:sp>
        <p:nvSpPr>
          <p:cNvPr id="40" name="Shape 38"/>
          <p:cNvSpPr/>
          <p:nvPr/>
        </p:nvSpPr>
        <p:spPr>
          <a:xfrm>
            <a:off x="5760720" y="3794760"/>
            <a:ext cx="5879592" cy="2423160"/>
          </a:xfrm>
          <a:prstGeom prst="roundRect">
            <a:avLst>
              <a:gd name="adj" fmla="val 3019"/>
            </a:avLst>
          </a:prstGeom>
          <a:solidFill>
            <a:srgbClr val="F2F5F9"/>
          </a:solidFill>
          <a:ln w="12700">
            <a:solidFill>
              <a:srgbClr val="F2F5F9"/>
            </a:solidFill>
            <a:prstDash val="solid"/>
          </a:ln>
        </p:spPr>
      </p:sp>
      <p:sp>
        <p:nvSpPr>
          <p:cNvPr id="41" name="Text 39"/>
          <p:cNvSpPr txBox="1"/>
          <p:nvPr/>
        </p:nvSpPr>
        <p:spPr>
          <a:xfrm>
            <a:off x="5989320" y="3904488"/>
            <a:ext cx="54864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Garde-fous de diversification</a:t>
            </a:r>
            <a:endParaRPr lang="en-US" sz="1600" dirty="0"/>
          </a:p>
        </p:txBody>
      </p:sp>
      <p:sp>
        <p:nvSpPr>
          <p:cNvPr id="42" name="Text 40"/>
          <p:cNvSpPr txBox="1"/>
          <p:nvPr/>
        </p:nvSpPr>
        <p:spPr>
          <a:xfrm>
            <a:off x="5989320" y="4315968"/>
            <a:ext cx="5440680" cy="1828800"/>
          </a:xfrm>
          <a:prstGeom prst="rect">
            <a:avLst/>
          </a:prstGeom>
          <a:noFill/>
          <a:ln/>
        </p:spPr>
        <p:txBody>
          <a:bodyPr wrap="square" lIns="0" tIns="0" rIns="0" bIns="0" rtlCol="0" anchor="t"/>
          <a:lstStyle/>
          <a:p>
            <a:pPr marL="203200" indent="-203200">
              <a:spcAft>
                <a:spcPts val="600"/>
              </a:spcAft>
              <a:buSzPct val="100000"/>
              <a:buChar char="•"/>
            </a:pPr>
            <a:r>
              <a:rPr lang="en-US" sz="1250" b="1" dirty="0">
                <a:solidFill>
                  <a:srgbClr val="14304F"/>
                </a:solidFill>
                <a:latin typeface="Calibri" pitchFamily="34" charset="0"/>
                <a:ea typeface="Calibri" pitchFamily="34" charset="-122"/>
                <a:cs typeface="Calibri" pitchFamily="34" charset="-120"/>
              </a:rPr>
              <a:t>4 titres</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au plus par secteur, </a:t>
            </a:r>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6</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par pays</a:t>
            </a:r>
            <a:endParaRPr lang="en-US" sz="1250" dirty="0"/>
          </a:p>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Volatilité plafonnée </a:t>
            </a:r>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dans son métier</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 35,8 % pour tous, jusqu'à 47,1 % là où l'agitation est structurelle</a:t>
            </a:r>
            <a:endParaRPr lang="en-US" sz="1250" dirty="0"/>
          </a:p>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Données aberrantes écartées (un PER de 1 042…)</a:t>
            </a:r>
            <a:endParaRPr lang="en-US" sz="1250" dirty="0"/>
          </a:p>
        </p:txBody>
      </p:sp>
      <p:sp>
        <p:nvSpPr>
          <p:cNvPr id="43" name="Text 41"/>
          <p:cNvSpPr txBox="1"/>
          <p:nvPr/>
        </p:nvSpPr>
        <p:spPr>
          <a:xfrm>
            <a:off x="548640" y="5870448"/>
            <a:ext cx="5029200" cy="502920"/>
          </a:xfrm>
          <a:prstGeom prst="rect">
            <a:avLst/>
          </a:prstGeom>
          <a:noFill/>
          <a:ln/>
        </p:spPr>
        <p:txBody>
          <a:bodyPr wrap="square" lIns="0" tIns="0" rIns="0" bIns="0" rtlCol="0" anchor="t"/>
          <a:lstStyle/>
          <a:p>
            <a:pPr indent="0" marL="0">
              <a:spcAft>
                <a:spcPts val="600"/>
              </a:spcAft>
              <a:buNone/>
            </a:pPr>
            <a:r>
              <a:rPr lang="en-US" sz="1200" b="1" dirty="0">
                <a:solidFill>
                  <a:srgbClr val="14304F"/>
                </a:solidFill>
                <a:latin typeface="Calibri" pitchFamily="34" charset="0"/>
                <a:ea typeface="Calibri" pitchFamily="34" charset="-122"/>
                <a:cs typeface="Calibri" pitchFamily="34" charset="-120"/>
              </a:rPr>
              <a:t>La note ne dit donc rien d'un secteur</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seulement d'une société face à ses concurrentes : la vue macro agit à l'étape 4, pas ici.</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Notre vue sectorielle, et ce qu'elle coûte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Quatre métiers que nous nous interdisons · décision de gestion, pas contrainte du client · depuis le 25/09/2026</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4846320"/>
                <a:gridCol w="45720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Métier écarté</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Pourquoi</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Ce que disent nos données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27432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Auto Manufacturers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Les constructeurs européens font face à une concurrence chinoise qui produit moins cher sur l'électrique, à une transition qui rend obsolète l'outil thermique avant d'être rentable, et à des surcapacités en Europe. Le problème est structurel : il ne se résout pas par un retour de cycle.</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CONFIRMÉE. Momentum médian à 12 mois -15,9 %, le pire des 41 industries d'au moins cinq titres, contre +15,5 % pour l'univers. Et le marché vend malgré des bénéfices en hausse de 10,1 % : il escompte une rupture, pas un creux de cycle.</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432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Auto Parts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Même exposition que les constructeurs, en plus concentrée : un équipementier ne choisit pas ses volumes et subit la pression sur les prix de ses donneurs d'ordre.</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CONFIRMÉE sur l'activité — bénéfices -2,4 %, ventes -2,6 %, les deux négatifs, ce qui n'arrive sur aucune autre industrie de la liste. Le momentum, lui, est positif (+22,1 %) : le marché ne partage pas encore ce diagnostic.</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432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Chemicals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La chimie de base européenne a perdu son avantage de coût de l'énergie depuis 2022 : le gaz y reste structurellement plus cher qu'aux États-Unis, et c'est le premier poste d'un craqueur. L'écart ne se referme pas par la conjoncture.</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NON VÉRIFIABLE sur nos données : l'industrie ne compte que trois sociétés dans l'univers, une seule notée. Le bénéfice médian y recule de 34,3 % mais sur trois titres ce chiffre ne veut rien dire — c'est le même piège que les soldes de révision sur une seule révision, déjà documenté dans core/outlook.py.</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432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Specialty Chemicals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Même désavantage énergétique, une marche plus haut dans la chaîne. La spécialité protège les marges plus longtemps que la chimie de base, mais elle achète les mêmes intrants.</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CONTREDITE par nos mesures, et c'est assumé. Sur quinze titres, l'industrie est au milieu du classement de difficulté : bénéfices +1,9 %, ventes +1,3 %, momentum +7,5 %. La vue anticipe donc une dégradation que les chiffres n'enregistrent pas encore. C'EST LE SEUL CAS DE LA LISTE OÙ NOUS ALLONS CONTRE NOS PROPRES DONNÉES, et c'est aussi le seul qui coûte un titre (voir `cout`).</a:t>
                      </a:r>
                      <a:endParaRPr lang="en-US" sz="9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bl>
          </a:graphicData>
        </a:graphic>
      </p:graphicFrame>
      <p:sp>
        <p:nvSpPr>
          <p:cNvPr id="18" name="Shape 15"/>
          <p:cNvSpPr/>
          <p:nvPr/>
        </p:nvSpPr>
        <p:spPr>
          <a:xfrm>
            <a:off x="548640" y="5074920"/>
            <a:ext cx="11094415" cy="1143000"/>
          </a:xfrm>
          <a:prstGeom prst="roundRect">
            <a:avLst>
              <a:gd name="adj" fmla="val 6400"/>
            </a:avLst>
          </a:prstGeom>
          <a:solidFill>
            <a:srgbClr val="F2F5F9"/>
          </a:solidFill>
          <a:ln w="12700">
            <a:solidFill>
              <a:srgbClr val="F2F5F9"/>
            </a:solidFill>
            <a:prstDash val="solid"/>
          </a:ln>
        </p:spPr>
      </p:sp>
      <p:sp>
        <p:nvSpPr>
          <p:cNvPr id="19" name="Text 16"/>
          <p:cNvSpPr txBox="1"/>
          <p:nvPr/>
        </p:nvSpPr>
        <p:spPr>
          <a:xfrm>
            <a:off x="777240" y="5184648"/>
            <a:ext cx="5486400" cy="32004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Ce que la décision coûte</a:t>
            </a:r>
            <a:endParaRPr lang="en-US" sz="1500" dirty="0"/>
          </a:p>
        </p:txBody>
      </p:sp>
      <p:sp>
        <p:nvSpPr>
          <p:cNvPr id="20" name="Text 17"/>
          <p:cNvSpPr txBox="1"/>
          <p:nvPr/>
        </p:nvSpPr>
        <p:spPr>
          <a:xfrm>
            <a:off x="777240" y="5532120"/>
            <a:ext cx="10637215" cy="594360"/>
          </a:xfrm>
          <a:prstGeom prst="rect">
            <a:avLst/>
          </a:prstGeom>
          <a:noFill/>
          <a:ln/>
        </p:spPr>
        <p:txBody>
          <a:bodyPr wrap="square" lIns="0" tIns="0" rIns="0" bIns="0" rtlCol="0" anchor="t"/>
          <a:lstStyle/>
          <a:p>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16 sociétés notées</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sortent de l'univers. La meilleure d'entre elles, EMS-CHEMIE HOLDING AG, était notée </a:t>
            </a:r>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0,26</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 elle était la dernière des présélectionnés. La sélection finale et le risque du panier sont </a:t>
            </a:r>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inchangés</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 la vue ne coûte qu'un titre, et le dernier.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Les 30 présélectionnés</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Premier étage : ce que les sociétés SONT · note = écart à la moyenne du secteur (+1 = nettement meilleure)</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Composition iShares STOXX Europe 600 · données Yahoo Finance relevées en septembre 2026</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32120" cy="914400"/>
        </p:xfrm>
        <a:graphic>
          <a:graphicData uri="http://schemas.openxmlformats.org/drawingml/2006/table">
            <a:tbl>
              <a:tblPr/>
              <a:tblGrid>
                <a:gridCol w="320040"/>
                <a:gridCol w="2148840"/>
                <a:gridCol w="1600200"/>
                <a:gridCol w="914400"/>
                <a:gridCol w="548640"/>
              </a:tblGrid>
              <a:tr h="27889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Société</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Secteur</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argenx</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Santé</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Belgique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+0,71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Endesa</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Services aux collectivités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Espagne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+0,65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Evolution AB</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Consommation discrétionnaire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Suède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+0,59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Orion</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Santé</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Finlande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+0,58</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United Utilities Group</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Services aux collectivités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Royaume-Uni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Carrefour</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Consommation de base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Naturgy Energy Group</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Services aux collectivités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Espagne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Aena S.M.E.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Industrie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Espagne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NEXT</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Consommation discrétionnaire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Royaume-Uni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InterContinental Hotels Group</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Consommation discrétionnaire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Royaume-Uni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NN Group</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Finance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Pays-Bas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+0,44</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Rio Tinto</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Matériaux</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Royaume-Uni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+0,44</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Banco de Sabadell</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Finance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Espagne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+0,43</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Vår Energi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Énergie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Norvège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+0,43</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Anheuser-Busch InBev SA/NV</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Consommation de base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Belgique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108192" y="1417320"/>
          <a:ext cx="5532120" cy="914400"/>
        </p:xfrm>
        <a:graphic>
          <a:graphicData uri="http://schemas.openxmlformats.org/drawingml/2006/table">
            <a:tbl>
              <a:tblPr/>
              <a:tblGrid>
                <a:gridCol w="320040"/>
                <a:gridCol w="2148840"/>
                <a:gridCol w="1600200"/>
                <a:gridCol w="914400"/>
                <a:gridCol w="548640"/>
              </a:tblGrid>
              <a:tr h="27889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Société</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Secteur</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Equinor</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Énergie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Norvège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+0,40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17</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Unipol Assicurazioni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Finance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Italie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Norsk Hydro</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Matériaux</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Norvège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BAWAG Group</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Finance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Autriche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+0,38</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Ipsen</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Santé</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Iberdrola</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Services aux collectivités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Espagne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22</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Sanofi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Santé</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Wolters Kluwer</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Industrie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Pays-Bas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+0,34</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Diploma</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Industrie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Royaume-Uni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OMV</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Énergie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Autriche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+0,31</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Airtel Africa</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Télécoms et médias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Royaume-Uni</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ASML Holding</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Technologie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Pays-Bas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+0,30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Industria de Diseño Textil</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Consommation discrétionnaire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Espagne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+0,29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29</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Publicis Groupe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Télécoms et médias</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+0,28</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78892">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Klépierre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Immobilier</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+0,25</a:t>
                      </a:r>
                      <a:endParaRPr lang="en-US" sz="9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Deuxième étage : où vont-elles ?</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Les 30 présélectionnés resserrés en 15 · ce que le consensus des analystes ATTEND, relevé du 25/09/2026</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Objectifs de cours et estimations de bénéfice · Yahoo Finance</a:t>
            </a:r>
            <a:endParaRPr lang="en-US" sz="850" dirty="0"/>
          </a:p>
        </p:txBody>
      </p:sp>
      <p:sp>
        <p:nvSpPr>
          <p:cNvPr id="18" name="Text 16"/>
          <p:cNvSpPr txBox="1"/>
          <p:nvPr/>
        </p:nvSpPr>
        <p:spPr>
          <a:xfrm>
            <a:off x="548640" y="1371600"/>
            <a:ext cx="5486400" cy="347472"/>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Deux mesures qui classent</a:t>
            </a:r>
            <a:endParaRPr lang="en-US" sz="1600" dirty="0"/>
          </a:p>
        </p:txBody>
      </p:sp>
      <p:sp>
        <p:nvSpPr>
          <p:cNvPr id="19" name="Text 17"/>
          <p:cNvSpPr txBox="1"/>
          <p:nvPr/>
        </p:nvSpPr>
        <p:spPr>
          <a:xfrm>
            <a:off x="548640" y="1755648"/>
            <a:ext cx="5394960" cy="1600200"/>
          </a:xfrm>
          <a:prstGeom prst="rect">
            <a:avLst/>
          </a:prstGeom>
          <a:noFill/>
          <a:ln/>
        </p:spPr>
        <p:txBody>
          <a:bodyPr wrap="square" lIns="0" tIns="0" rIns="0" bIns="0" rtlCol="0" anchor="t"/>
          <a:lstStyle/>
          <a:p>
            <a:pPr marL="203200" indent="-203200">
              <a:spcAft>
                <a:spcPts val="700"/>
              </a:spcAft>
              <a:buSzPct val="100000"/>
              <a:buChar char="•"/>
            </a:pPr>
            <a:r>
              <a:rPr lang="en-US" sz="1250" b="1" dirty="0">
                <a:solidFill>
                  <a:srgbClr val="14304F"/>
                </a:solidFill>
                <a:latin typeface="Calibri" pitchFamily="34" charset="0"/>
                <a:ea typeface="Calibri" pitchFamily="34" charset="-122"/>
                <a:cs typeface="Calibri" pitchFamily="34" charset="-120"/>
              </a:rPr>
              <a:t>La révision</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 de combien le bénéfice attendu a bougé en 90 jours. Le SENS dans lequel le consensus se déplace, qui vaut mieux que son niveau</a:t>
            </a:r>
            <a:endParaRPr lang="en-US" sz="1250" dirty="0"/>
          </a:p>
          <a:p>
            <a:pPr marL="203200" indent="-203200">
              <a:spcAft>
                <a:spcPts val="700"/>
              </a:spcAft>
              <a:buSzPct val="100000"/>
              <a:buChar char="•"/>
            </a:pPr>
            <a:r>
              <a:rPr lang="en-US" sz="1250" b="1" dirty="0">
                <a:solidFill>
                  <a:srgbClr val="14304F"/>
                </a:solidFill>
                <a:latin typeface="Calibri" pitchFamily="34" charset="0"/>
                <a:ea typeface="Calibri" pitchFamily="34" charset="-122"/>
                <a:cs typeface="Calibri" pitchFamily="34" charset="-120"/>
              </a:rPr>
              <a:t>Le solde des révisions</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 la part des analystes qui relèvent, moins ceux qui abaissent</a:t>
            </a:r>
            <a:endParaRPr lang="en-US" sz="1250" dirty="0"/>
          </a:p>
        </p:txBody>
      </p:sp>
      <p:sp>
        <p:nvSpPr>
          <p:cNvPr id="20" name="Text 18"/>
          <p:cNvSpPr txBox="1"/>
          <p:nvPr/>
        </p:nvSpPr>
        <p:spPr>
          <a:xfrm>
            <a:off x="548640" y="3474720"/>
            <a:ext cx="5486400" cy="347472"/>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Deux mesures qui éliminent</a:t>
            </a:r>
            <a:endParaRPr lang="en-US" sz="1600" dirty="0"/>
          </a:p>
        </p:txBody>
      </p:sp>
      <p:sp>
        <p:nvSpPr>
          <p:cNvPr id="21" name="Text 19"/>
          <p:cNvSpPr txBox="1"/>
          <p:nvPr/>
        </p:nvSpPr>
        <p:spPr>
          <a:xfrm>
            <a:off x="548640" y="3858768"/>
            <a:ext cx="5394960" cy="1600200"/>
          </a:xfrm>
          <a:prstGeom prst="rect">
            <a:avLst/>
          </a:prstGeom>
          <a:noFill/>
          <a:ln/>
        </p:spPr>
        <p:txBody>
          <a:bodyPr wrap="square" lIns="0" tIns="0" rIns="0" bIns="0" rtlCol="0" anchor="t"/>
          <a:lstStyle/>
          <a:p>
            <a:pPr marL="203200" indent="-203200">
              <a:spcAft>
                <a:spcPts val="700"/>
              </a:spcAft>
              <a:buSzPct val="100000"/>
              <a:buChar char="•"/>
            </a:pPr>
            <a:r>
              <a:rPr lang="en-US" sz="1250" b="1" dirty="0">
                <a:solidFill>
                  <a:srgbClr val="14304F"/>
                </a:solidFill>
                <a:latin typeface="Calibri" pitchFamily="34" charset="0"/>
                <a:ea typeface="Calibri" pitchFamily="34" charset="-122"/>
                <a:cs typeface="Calibri" pitchFamily="34" charset="-120"/>
              </a:rPr>
              <a:t>Le potentiel</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(cours face à l'objectif). Écarte un titre </a:t>
            </a:r>
            <a:pPr indent="0" marL="0">
              <a:spcAft>
                <a:spcPts val="700"/>
              </a:spcAft>
              <a:buNone/>
            </a:pPr>
            <a:r>
              <a:rPr lang="en-US" sz="1250" b="1" dirty="0">
                <a:solidFill>
                  <a:srgbClr val="14304F"/>
                </a:solidFill>
                <a:latin typeface="Calibri" pitchFamily="34" charset="0"/>
                <a:ea typeface="Calibri" pitchFamily="34" charset="-122"/>
                <a:cs typeface="Calibri" pitchFamily="34" charset="-120"/>
              </a:rPr>
              <a:t>seulement</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s'il cote au-dessus de sa cible ET que les bénéfices ne suivent pas</a:t>
            </a:r>
            <a:endParaRPr lang="en-US" sz="1250" dirty="0"/>
          </a:p>
          <a:p>
            <a:pPr marL="203200" indent="-203200">
              <a:spcAft>
                <a:spcPts val="700"/>
              </a:spcAft>
              <a:buSzPct val="100000"/>
              <a:buChar char="•"/>
            </a:pPr>
            <a:r>
              <a:rPr lang="en-US" sz="1250" b="1" dirty="0">
                <a:solidFill>
                  <a:srgbClr val="14304F"/>
                </a:solidFill>
                <a:latin typeface="Calibri" pitchFamily="34" charset="0"/>
                <a:ea typeface="Calibri" pitchFamily="34" charset="-122"/>
                <a:cs typeface="Calibri" pitchFamily="34" charset="-120"/>
              </a:rPr>
              <a:t>La dispersion</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des estimations : au-delà de 49 %, l'avenir de la société est jugé illisible</a:t>
            </a:r>
            <a:endParaRPr lang="en-US" sz="1250" dirty="0"/>
          </a:p>
        </p:txBody>
      </p:sp>
      <p:sp>
        <p:nvSpPr>
          <p:cNvPr id="22" name="Shape 20"/>
          <p:cNvSpPr/>
          <p:nvPr/>
        </p:nvSpPr>
        <p:spPr>
          <a:xfrm>
            <a:off x="6263640" y="1371600"/>
            <a:ext cx="5379415" cy="2286000"/>
          </a:xfrm>
          <a:prstGeom prst="roundRect">
            <a:avLst>
              <a:gd name="adj" fmla="val 3200"/>
            </a:avLst>
          </a:prstGeom>
          <a:solidFill>
            <a:srgbClr val="F2F5F9"/>
          </a:solidFill>
          <a:ln w="12700">
            <a:solidFill>
              <a:srgbClr val="F2F5F9"/>
            </a:solidFill>
            <a:prstDash val="solid"/>
          </a:ln>
        </p:spPr>
      </p:sp>
      <p:sp>
        <p:nvSpPr>
          <p:cNvPr id="23" name="Text 21"/>
          <p:cNvSpPr txBox="1"/>
          <p:nvPr/>
        </p:nvSpPr>
        <p:spPr>
          <a:xfrm>
            <a:off x="6492240" y="1481328"/>
            <a:ext cx="5029200" cy="347472"/>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Les garde-fous, et pourquoi ces seuils</a:t>
            </a:r>
            <a:endParaRPr lang="en-US" sz="1500" dirty="0"/>
          </a:p>
        </p:txBody>
      </p:sp>
      <p:sp>
        <p:nvSpPr>
          <p:cNvPr id="24" name="Text 22"/>
          <p:cNvSpPr txBox="1"/>
          <p:nvPr/>
        </p:nvSpPr>
        <p:spPr>
          <a:xfrm>
            <a:off x="6492240" y="1874520"/>
            <a:ext cx="4922215" cy="1691640"/>
          </a:xfrm>
          <a:prstGeom prst="rect">
            <a:avLst/>
          </a:prstGeom>
          <a:noFill/>
          <a:ln/>
        </p:spPr>
        <p:txBody>
          <a:bodyPr wrap="square" lIns="0" tIns="0" rIns="0" bIns="0" rtlCol="0" anchor="t"/>
          <a:lstStyle/>
          <a:p>
            <a:pPr marL="203200" indent="-2032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Bénéfice attendu coupé de plus de </a:t>
            </a:r>
            <a:pPr indent="0" marL="0">
              <a:spcAft>
                <a:spcPts val="500"/>
              </a:spcAft>
              <a:buNone/>
            </a:pPr>
            <a:r>
              <a:rPr lang="en-US" sz="1150" b="1" dirty="0">
                <a:solidFill>
                  <a:srgbClr val="14304F"/>
                </a:solidFill>
                <a:latin typeface="Calibri" pitchFamily="34" charset="0"/>
                <a:ea typeface="Calibri" pitchFamily="34" charset="-122"/>
                <a:cs typeface="Calibri" pitchFamily="34" charset="-120"/>
              </a:rPr>
              <a:t>5 %</a:t>
            </a:r>
            <a:pPr indent="0" marL="0">
              <a:spcAft>
                <a:spcPts val="500"/>
              </a:spcAft>
              <a:buNone/>
            </a:pPr>
            <a:r>
              <a:rPr lang="en-US" sz="1150" dirty="0">
                <a:solidFill>
                  <a:srgbClr val="1F2937"/>
                </a:solidFill>
                <a:latin typeface="Calibri" pitchFamily="34" charset="0"/>
                <a:ea typeface="Calibri" pitchFamily="34" charset="-122"/>
                <a:cs typeface="Calibri" pitchFamily="34" charset="-120"/>
              </a:rPr>
              <a:t> : écarté. Seuil </a:t>
            </a:r>
            <a:pPr indent="0" marL="0">
              <a:spcAft>
                <a:spcPts val="500"/>
              </a:spcAft>
              <a:buNone/>
            </a:pPr>
            <a:r>
              <a:rPr lang="en-US" sz="1150" b="1" dirty="0">
                <a:solidFill>
                  <a:srgbClr val="14304F"/>
                </a:solidFill>
                <a:latin typeface="Calibri" pitchFamily="34" charset="0"/>
                <a:ea typeface="Calibri" pitchFamily="34" charset="-122"/>
                <a:cs typeface="Calibri" pitchFamily="34" charset="-120"/>
              </a:rPr>
              <a:t>absolu</a:t>
            </a:r>
            <a:pPr indent="0" marL="0">
              <a:spcAft>
                <a:spcPts val="500"/>
              </a:spcAft>
              <a:buNone/>
            </a:pPr>
            <a:r>
              <a:rPr lang="en-US" sz="1150" dirty="0">
                <a:solidFill>
                  <a:srgbClr val="1F2937"/>
                </a:solidFill>
                <a:latin typeface="Calibri" pitchFamily="34" charset="0"/>
                <a:ea typeface="Calibri" pitchFamily="34" charset="-122"/>
                <a:cs typeface="Calibri" pitchFamily="34" charset="-120"/>
              </a:rPr>
              <a:t> et non en percentile — un percentile écarte toujours 10 % des titres, même quand aucun ne va mal</a:t>
            </a:r>
            <a:endParaRPr lang="en-US" sz="1150" dirty="0"/>
          </a:p>
          <a:p>
            <a:pPr marL="203200" indent="-2032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Solde ignoré en dessous de </a:t>
            </a:r>
            <a:pPr indent="0" marL="0">
              <a:spcAft>
                <a:spcPts val="500"/>
              </a:spcAft>
              <a:buNone/>
            </a:pPr>
            <a:r>
              <a:rPr lang="en-US" sz="1150" b="1" dirty="0">
                <a:solidFill>
                  <a:srgbClr val="14304F"/>
                </a:solidFill>
                <a:latin typeface="Calibri" pitchFamily="34" charset="0"/>
                <a:ea typeface="Calibri" pitchFamily="34" charset="-122"/>
                <a:cs typeface="Calibri" pitchFamily="34" charset="-120"/>
              </a:rPr>
              <a:t>3 révisions</a:t>
            </a:r>
            <a:pPr indent="0" marL="0">
              <a:spcAft>
                <a:spcPts val="500"/>
              </a:spcAft>
              <a:buNone/>
            </a:pPr>
            <a:r>
              <a:rPr lang="en-US" sz="1150" dirty="0">
                <a:solidFill>
                  <a:srgbClr val="1F2937"/>
                </a:solidFill>
                <a:latin typeface="Calibri" pitchFamily="34" charset="0"/>
                <a:ea typeface="Calibri" pitchFamily="34" charset="-122"/>
                <a:cs typeface="Calibri" pitchFamily="34" charset="-120"/>
              </a:rPr>
              <a:t> : sur une seule, il ne peut valoir que −100 ou +100</a:t>
            </a:r>
            <a:endParaRPr lang="en-US" sz="1150" dirty="0"/>
          </a:p>
          <a:p>
            <a:pPr marL="203200" indent="-2032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Au plus </a:t>
            </a:r>
            <a:pPr indent="0" marL="0">
              <a:spcAft>
                <a:spcPts val="500"/>
              </a:spcAft>
              <a:buNone/>
            </a:pPr>
            <a:r>
              <a:rPr lang="en-US" sz="1150" b="1" dirty="0">
                <a:solidFill>
                  <a:srgbClr val="14304F"/>
                </a:solidFill>
                <a:latin typeface="Calibri" pitchFamily="34" charset="0"/>
                <a:ea typeface="Calibri" pitchFamily="34" charset="-122"/>
                <a:cs typeface="Calibri" pitchFamily="34" charset="-120"/>
              </a:rPr>
              <a:t>2 titres par secteur</a:t>
            </a:r>
            <a:pPr indent="0" marL="0">
              <a:spcAft>
                <a:spcPts val="500"/>
              </a:spcAft>
              <a:buNone/>
            </a:pPr>
            <a:r>
              <a:rPr lang="en-US" sz="1150" dirty="0">
                <a:solidFill>
                  <a:srgbClr val="1F2937"/>
                </a:solidFill>
                <a:latin typeface="Calibri" pitchFamily="34" charset="0"/>
                <a:ea typeface="Calibri" pitchFamily="34" charset="-122"/>
                <a:cs typeface="Calibri" pitchFamily="34" charset="-120"/>
              </a:rPr>
              <a:t> et </a:t>
            </a:r>
            <a:pPr indent="0" marL="0">
              <a:spcAft>
                <a:spcPts val="500"/>
              </a:spcAft>
              <a:buNone/>
            </a:pPr>
            <a:r>
              <a:rPr lang="en-US" sz="1150" b="1" dirty="0">
                <a:solidFill>
                  <a:srgbClr val="14304F"/>
                </a:solidFill>
                <a:latin typeface="Calibri" pitchFamily="34" charset="0"/>
                <a:ea typeface="Calibri" pitchFamily="34" charset="-122"/>
                <a:cs typeface="Calibri" pitchFamily="34" charset="-120"/>
              </a:rPr>
              <a:t>4 par pays</a:t>
            </a:r>
            <a:pPr indent="0" marL="0">
              <a:spcAft>
                <a:spcPts val="500"/>
              </a:spcAft>
              <a:buNone/>
            </a:pPr>
            <a:r>
              <a:rPr lang="en-US" sz="1150" dirty="0">
                <a:solidFill>
                  <a:srgbClr val="1F2937"/>
                </a:solidFill>
                <a:latin typeface="Calibri" pitchFamily="34" charset="0"/>
                <a:ea typeface="Calibri" pitchFamily="34" charset="-122"/>
                <a:cs typeface="Calibri" pitchFamily="34" charset="-120"/>
              </a:rPr>
              <a:t> : sur 15 lignes, les plafonds du premier étage laisseraient 6 espagnols faire 40 % du panier</a:t>
            </a:r>
            <a:endParaRPr lang="en-US" sz="1150" dirty="0"/>
          </a:p>
        </p:txBody>
      </p:sp>
      <p:sp>
        <p:nvSpPr>
          <p:cNvPr id="25" name="Shape 23"/>
          <p:cNvSpPr/>
          <p:nvPr/>
        </p:nvSpPr>
        <p:spPr>
          <a:xfrm>
            <a:off x="6263640" y="3840480"/>
            <a:ext cx="5379415" cy="1618488"/>
          </a:xfrm>
          <a:prstGeom prst="roundRect">
            <a:avLst>
              <a:gd name="adj" fmla="val 4520"/>
            </a:avLst>
          </a:prstGeom>
          <a:solidFill>
            <a:srgbClr val="F2F5F9"/>
          </a:solidFill>
          <a:ln w="12700">
            <a:solidFill>
              <a:srgbClr val="F2F5F9"/>
            </a:solidFill>
            <a:prstDash val="solid"/>
          </a:ln>
        </p:spPr>
      </p:sp>
      <p:sp>
        <p:nvSpPr>
          <p:cNvPr id="26" name="Text 24"/>
          <p:cNvSpPr txBox="1"/>
          <p:nvPr/>
        </p:nvSpPr>
        <p:spPr>
          <a:xfrm>
            <a:off x="6492240" y="3950208"/>
            <a:ext cx="5029200" cy="347472"/>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Écartés par les garde-fous</a:t>
            </a:r>
            <a:endParaRPr lang="en-US" sz="1500" dirty="0"/>
          </a:p>
        </p:txBody>
      </p:sp>
      <p:sp>
        <p:nvSpPr>
          <p:cNvPr id="27" name="Text 25"/>
          <p:cNvSpPr txBox="1"/>
          <p:nvPr/>
        </p:nvSpPr>
        <p:spPr>
          <a:xfrm>
            <a:off x="6492240" y="4343400"/>
            <a:ext cx="4922215" cy="1005840"/>
          </a:xfrm>
          <a:prstGeom prst="rect">
            <a:avLst/>
          </a:prstGeom>
          <a:noFill/>
          <a:ln/>
        </p:spPr>
        <p:txBody>
          <a:bodyPr wrap="square" lIns="0" tIns="0" rIns="0" bIns="0" rtlCol="0" anchor="t"/>
          <a:lstStyle/>
          <a:p>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Rio</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 prévisions en net recul · avenir illisible  ·  </a:t>
            </a:r>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Equinor</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 avenir illisible  ·  </a:t>
            </a:r>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Norsk</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 prévisions en net recul  ·  </a:t>
            </a:r>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OMV</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 avenir illisible  ·  </a:t>
            </a:r>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Klépierre</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 attentes indisponibles</a:t>
            </a:r>
            <a:endParaRPr lang="en-US" sz="1100" dirty="0"/>
          </a:p>
        </p:txBody>
      </p:sp>
      <p:sp>
        <p:nvSpPr>
          <p:cNvPr id="28" name="Text 26"/>
          <p:cNvSpPr txBox="1"/>
          <p:nvPr/>
        </p:nvSpPr>
        <p:spPr>
          <a:xfrm>
            <a:off x="548640" y="5715000"/>
            <a:ext cx="11094415" cy="548640"/>
          </a:xfrm>
          <a:prstGeom prst="rect">
            <a:avLst/>
          </a:prstGeom>
          <a:noFill/>
          <a:ln/>
        </p:spPr>
        <p:txBody>
          <a:bodyPr wrap="square" lIns="0" tIns="0" rIns="0" bIns="0" rtlCol="0" anchor="t"/>
          <a:lstStyle/>
          <a:p>
            <a:pPr indent="0" marL="0">
              <a:spcAft>
                <a:spcPts val="600"/>
              </a:spcAft>
              <a:buNone/>
            </a:pPr>
            <a:r>
              <a:rPr lang="en-US" sz="1200" b="1" dirty="0">
                <a:solidFill>
                  <a:srgbClr val="14304F"/>
                </a:solidFill>
                <a:latin typeface="Calibri" pitchFamily="34" charset="0"/>
                <a:ea typeface="Calibri" pitchFamily="34" charset="-122"/>
                <a:cs typeface="Calibri" pitchFamily="34" charset="-120"/>
              </a:rPr>
              <a:t>Pourquoi pas l'avis « acheter / conserver / vendre »</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 le biais acheteur est structurel, et l'objectif de cours monte mécaniquement quand un titre baisse. Il manquait en plus sur 6 des 30, dont des sociétés suivies par 14 analystes. Affiché, jamais noté.</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Les 15 titres retenus</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À parts égales · 9 secteurs et 9 pays · note = le constaté, avenir = l'attendu</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Composition iShares STOXX Europe 600 · Yahoo Finance, septembre 2026</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65760"/>
                <a:gridCol w="2743200"/>
                <a:gridCol w="2377440"/>
                <a:gridCol w="1371600"/>
                <a:gridCol w="868680"/>
                <a:gridCol w="868680"/>
                <a:gridCol w="2496312"/>
              </a:tblGrid>
              <a:tr h="28346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Société</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Secteur</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Pays</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Avenir</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Bénéfice attendu, 90 j</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ASML Holding</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Technologie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Pays-Bas</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+1,86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+24,4 %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Unipol Assicurazioni</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Finance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Italie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+0,39</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+1,07</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+5,0 %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Diploma</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Industrie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Royaume-Uni</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+4,5 %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Endesa</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Services aux collectivités</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Espagne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+0,66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+1,8 %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BAWAG Group</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Finance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Autriche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+0,38</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+11,4 %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Naturgy Energy Group</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Services aux collectivités</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Espagne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+0,39</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+2,8 %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argenx</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Santé</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Belgique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+0,71</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+5,6 %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NEXT</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Consommation discrétionnaire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Royaume-Uni</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+0,22</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+1,9 %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Vår Energi</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Énergie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Norvège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+0,43</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+0,16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+7,3 %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InterContinental Hotels Gr</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Consommation discrétionnaire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Royaume-Uni</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+0,45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+0,14</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+0,9 %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Publicis Groupe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Télécoms et médias</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France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+0,28</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+0,08</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+0,2 %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Anheuser-Busch InBev SA/NV</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Consommation de base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Belgique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+0,41</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+0,08</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+2,0 %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Orion</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Santé</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Finlande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+0,04</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+6,4 %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Airtel Africa</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Télécoms et médias</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Royaume-Uni</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+6,1 %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283464">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Aena S.M.E.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Industrie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Espagne</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−0,05</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+0,9 %</a:t>
                      </a:r>
                      <a:endParaRPr lang="en-US" sz="10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9" name="Text 16"/>
          <p:cNvSpPr txBox="1"/>
          <p:nvPr/>
        </p:nvSpPr>
        <p:spPr>
          <a:xfrm>
            <a:off x="548640" y="5998464"/>
            <a:ext cx="11094415" cy="365760"/>
          </a:xfrm>
          <a:prstGeom prst="rect">
            <a:avLst/>
          </a:prstGeom>
          <a:noFill/>
          <a:ln/>
        </p:spPr>
        <p:txBody>
          <a:bodyPr wrap="square" lIns="0" tIns="0" rIns="0" bIns="0" rtlCol="0" anchor="t"/>
          <a:lstStyle/>
          <a:p>
            <a:pPr indent="0" marL="0">
              <a:spcAft>
                <a:spcPts val="600"/>
              </a:spcAft>
              <a:buNone/>
            </a:pPr>
            <a:r>
              <a:rPr lang="en-US" sz="1150" b="1" dirty="0">
                <a:solidFill>
                  <a:srgbClr val="14304F"/>
                </a:solidFill>
                <a:latin typeface="Calibri" pitchFamily="34" charset="0"/>
                <a:ea typeface="Calibri" pitchFamily="34" charset="-122"/>
                <a:cs typeface="Calibri" pitchFamily="34" charset="-120"/>
              </a:rPr>
              <a:t>Le resserrement coûte du risque, et je l'assume</a:t>
            </a:r>
            <a:pPr indent="0" marL="0">
              <a:spcAft>
                <a:spcPts val="600"/>
              </a:spcAft>
              <a:buNone/>
            </a:pPr>
            <a:r>
              <a:rPr lang="en-US" sz="1150" dirty="0">
                <a:solidFill>
                  <a:srgbClr val="1F2937"/>
                </a:solidFill>
                <a:latin typeface="Calibri" pitchFamily="34" charset="0"/>
                <a:ea typeface="Calibri" pitchFamily="34" charset="-122"/>
                <a:cs typeface="Calibri" pitchFamily="34" charset="-120"/>
              </a:rPr>
              <a:t> : volatilité 11,92 % contre 10,59 % à trente — chercher l'avenir coûte de la protection, parce que les défensives cotent souvent au-dessus de leur objectif.</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panier résiste mieux que l'indice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Les 15 titres à parts égales, en euros, face aux 30 présélectionnés et au STOXX Europe 600</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
        <p:nvSpPr>
          <p:cNvPr id="17" name="Shape 15"/>
          <p:cNvSpPr/>
          <p:nvPr/>
        </p:nvSpPr>
        <p:spPr>
          <a:xfrm>
            <a:off x="548640" y="1554480"/>
            <a:ext cx="3520440" cy="2606040"/>
          </a:xfrm>
          <a:prstGeom prst="roundRect">
            <a:avLst>
              <a:gd name="adj" fmla="val 2807"/>
            </a:avLst>
          </a:prstGeom>
          <a:solidFill>
            <a:srgbClr val="F2F5F9"/>
          </a:solidFill>
          <a:ln w="12700">
            <a:solidFill>
              <a:srgbClr val="F2F5F9"/>
            </a:solidFill>
            <a:prstDash val="solid"/>
          </a:ln>
        </p:spPr>
      </p:sp>
      <p:sp>
        <p:nvSpPr>
          <p:cNvPr id="18" name="Text 16"/>
          <p:cNvSpPr txBox="1"/>
          <p:nvPr/>
        </p:nvSpPr>
        <p:spPr>
          <a:xfrm>
            <a:off x="777240" y="1664208"/>
            <a:ext cx="310896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Volatilité sur 3 ans</a:t>
            </a:r>
            <a:endParaRPr lang="en-US" sz="1400" dirty="0"/>
          </a:p>
        </p:txBody>
      </p:sp>
      <p:sp>
        <p:nvSpPr>
          <p:cNvPr id="19" name="Text 17"/>
          <p:cNvSpPr txBox="1"/>
          <p:nvPr/>
        </p:nvSpPr>
        <p:spPr>
          <a:xfrm>
            <a:off x="777240" y="2048256"/>
            <a:ext cx="3108960" cy="777240"/>
          </a:xfrm>
          <a:prstGeom prst="rect">
            <a:avLst/>
          </a:prstGeom>
          <a:noFill/>
          <a:ln/>
        </p:spPr>
        <p:txBody>
          <a:bodyPr wrap="square" lIns="0" tIns="0" rIns="0" bIns="0" rtlCol="0" anchor="ctr"/>
          <a:lstStyle/>
          <a:p>
            <a:pPr indent="0" marL="0">
              <a:buNone/>
            </a:pPr>
            <a:r>
              <a:rPr lang="en-US" sz="3800" b="1" dirty="0">
                <a:solidFill>
                  <a:srgbClr val="14304F"/>
                </a:solidFill>
                <a:latin typeface="Cambria" pitchFamily="34" charset="0"/>
                <a:ea typeface="Cambria" pitchFamily="34" charset="-122"/>
                <a:cs typeface="Cambria" pitchFamily="34" charset="-120"/>
              </a:rPr>
              <a:t>11,9 %</a:t>
            </a:r>
            <a:endParaRPr lang="en-US" sz="3800" dirty="0"/>
          </a:p>
        </p:txBody>
      </p:sp>
      <p:sp>
        <p:nvSpPr>
          <p:cNvPr id="20" name="Text 18"/>
          <p:cNvSpPr txBox="1"/>
          <p:nvPr/>
        </p:nvSpPr>
        <p:spPr>
          <a:xfrm>
            <a:off x="777240" y="2871216"/>
            <a:ext cx="3108960" cy="34747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les 30 : 10,6 %</a:t>
            </a:r>
            <a:endParaRPr lang="en-US" sz="1350" dirty="0"/>
          </a:p>
        </p:txBody>
      </p:sp>
      <p:sp>
        <p:nvSpPr>
          <p:cNvPr id="21" name="Text 19"/>
          <p:cNvSpPr txBox="1"/>
          <p:nvPr/>
        </p:nvSpPr>
        <p:spPr>
          <a:xfrm>
            <a:off x="777240" y="3218688"/>
            <a:ext cx="3108960" cy="347472"/>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indice : 12,8 %</a:t>
            </a:r>
            <a:endParaRPr lang="en-US" sz="1350" dirty="0"/>
          </a:p>
        </p:txBody>
      </p:sp>
      <p:sp>
        <p:nvSpPr>
          <p:cNvPr id="22" name="Shape 20"/>
          <p:cNvSpPr/>
          <p:nvPr/>
        </p:nvSpPr>
        <p:spPr>
          <a:xfrm>
            <a:off x="4297680" y="1554480"/>
            <a:ext cx="3520440" cy="2606040"/>
          </a:xfrm>
          <a:prstGeom prst="roundRect">
            <a:avLst>
              <a:gd name="adj" fmla="val 2807"/>
            </a:avLst>
          </a:prstGeom>
          <a:solidFill>
            <a:srgbClr val="F2F5F9"/>
          </a:solidFill>
          <a:ln w="12700">
            <a:solidFill>
              <a:srgbClr val="F2F5F9"/>
            </a:solidFill>
            <a:prstDash val="solid"/>
          </a:ln>
        </p:spPr>
      </p:sp>
      <p:sp>
        <p:nvSpPr>
          <p:cNvPr id="23" name="Text 21"/>
          <p:cNvSpPr txBox="1"/>
          <p:nvPr/>
        </p:nvSpPr>
        <p:spPr>
          <a:xfrm>
            <a:off x="4526280" y="1664208"/>
            <a:ext cx="310896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Pire baisse en 2020</a:t>
            </a:r>
            <a:endParaRPr lang="en-US" sz="1400" dirty="0"/>
          </a:p>
        </p:txBody>
      </p:sp>
      <p:sp>
        <p:nvSpPr>
          <p:cNvPr id="24" name="Text 22"/>
          <p:cNvSpPr txBox="1"/>
          <p:nvPr/>
        </p:nvSpPr>
        <p:spPr>
          <a:xfrm>
            <a:off x="4526280" y="2048256"/>
            <a:ext cx="3108960" cy="777240"/>
          </a:xfrm>
          <a:prstGeom prst="rect">
            <a:avLst/>
          </a:prstGeom>
          <a:noFill/>
          <a:ln/>
        </p:spPr>
        <p:txBody>
          <a:bodyPr wrap="square" lIns="0" tIns="0" rIns="0" bIns="0" rtlCol="0" anchor="ctr"/>
          <a:lstStyle/>
          <a:p>
            <a:pPr indent="0" marL="0">
              <a:buNone/>
            </a:pPr>
            <a:r>
              <a:rPr lang="en-US" sz="3800" b="1" dirty="0">
                <a:solidFill>
                  <a:srgbClr val="14304F"/>
                </a:solidFill>
                <a:latin typeface="Cambria" pitchFamily="34" charset="0"/>
                <a:ea typeface="Cambria" pitchFamily="34" charset="-122"/>
                <a:cs typeface="Cambria" pitchFamily="34" charset="-120"/>
              </a:rPr>
              <a:t>−36,5 %</a:t>
            </a:r>
            <a:endParaRPr lang="en-US" sz="3800" dirty="0"/>
          </a:p>
        </p:txBody>
      </p:sp>
      <p:sp>
        <p:nvSpPr>
          <p:cNvPr id="25" name="Text 23"/>
          <p:cNvSpPr txBox="1"/>
          <p:nvPr/>
        </p:nvSpPr>
        <p:spPr>
          <a:xfrm>
            <a:off x="4526280" y="2871216"/>
            <a:ext cx="3108960" cy="34747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les 30 : −34,2 %</a:t>
            </a:r>
            <a:endParaRPr lang="en-US" sz="1350" dirty="0"/>
          </a:p>
        </p:txBody>
      </p:sp>
      <p:sp>
        <p:nvSpPr>
          <p:cNvPr id="26" name="Text 24"/>
          <p:cNvSpPr txBox="1"/>
          <p:nvPr/>
        </p:nvSpPr>
        <p:spPr>
          <a:xfrm>
            <a:off x="4526280" y="3218688"/>
            <a:ext cx="3108960" cy="347472"/>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indice : −32,1 %</a:t>
            </a:r>
            <a:endParaRPr lang="en-US" sz="1350" dirty="0"/>
          </a:p>
        </p:txBody>
      </p:sp>
      <p:sp>
        <p:nvSpPr>
          <p:cNvPr id="27" name="Shape 25"/>
          <p:cNvSpPr/>
          <p:nvPr/>
        </p:nvSpPr>
        <p:spPr>
          <a:xfrm>
            <a:off x="8046720" y="1554480"/>
            <a:ext cx="3520440" cy="2606040"/>
          </a:xfrm>
          <a:prstGeom prst="roundRect">
            <a:avLst>
              <a:gd name="adj" fmla="val 2807"/>
            </a:avLst>
          </a:prstGeom>
          <a:solidFill>
            <a:srgbClr val="F2F5F9"/>
          </a:solidFill>
          <a:ln w="12700">
            <a:solidFill>
              <a:srgbClr val="F2F5F9"/>
            </a:solidFill>
            <a:prstDash val="solid"/>
          </a:ln>
        </p:spPr>
      </p:sp>
      <p:sp>
        <p:nvSpPr>
          <p:cNvPr id="28" name="Text 26"/>
          <p:cNvSpPr txBox="1"/>
          <p:nvPr/>
        </p:nvSpPr>
        <p:spPr>
          <a:xfrm>
            <a:off x="8275320" y="1664208"/>
            <a:ext cx="310896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Pire baisse en 2022</a:t>
            </a:r>
            <a:endParaRPr lang="en-US" sz="1400" dirty="0"/>
          </a:p>
        </p:txBody>
      </p:sp>
      <p:sp>
        <p:nvSpPr>
          <p:cNvPr id="29" name="Text 27"/>
          <p:cNvSpPr txBox="1"/>
          <p:nvPr/>
        </p:nvSpPr>
        <p:spPr>
          <a:xfrm>
            <a:off x="8275320" y="2048256"/>
            <a:ext cx="3108960" cy="777240"/>
          </a:xfrm>
          <a:prstGeom prst="rect">
            <a:avLst/>
          </a:prstGeom>
          <a:noFill/>
          <a:ln/>
        </p:spPr>
        <p:txBody>
          <a:bodyPr wrap="square" lIns="0" tIns="0" rIns="0" bIns="0" rtlCol="0" anchor="ctr"/>
          <a:lstStyle/>
          <a:p>
            <a:pPr indent="0" marL="0">
              <a:buNone/>
            </a:pPr>
            <a:r>
              <a:rPr lang="en-US" sz="3800" b="1" dirty="0">
                <a:solidFill>
                  <a:srgbClr val="14304F"/>
                </a:solidFill>
                <a:latin typeface="Cambria" pitchFamily="34" charset="0"/>
                <a:ea typeface="Cambria" pitchFamily="34" charset="-122"/>
                <a:cs typeface="Cambria" pitchFamily="34" charset="-120"/>
              </a:rPr>
              <a:t>−12,7 %</a:t>
            </a:r>
            <a:endParaRPr lang="en-US" sz="3800" dirty="0"/>
          </a:p>
        </p:txBody>
      </p:sp>
      <p:sp>
        <p:nvSpPr>
          <p:cNvPr id="30" name="Text 28"/>
          <p:cNvSpPr txBox="1"/>
          <p:nvPr/>
        </p:nvSpPr>
        <p:spPr>
          <a:xfrm>
            <a:off x="8275320" y="2871216"/>
            <a:ext cx="3108960" cy="34747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les 30 : −12,8 %</a:t>
            </a:r>
            <a:endParaRPr lang="en-US" sz="1350" dirty="0"/>
          </a:p>
        </p:txBody>
      </p:sp>
      <p:sp>
        <p:nvSpPr>
          <p:cNvPr id="31" name="Text 29"/>
          <p:cNvSpPr txBox="1"/>
          <p:nvPr/>
        </p:nvSpPr>
        <p:spPr>
          <a:xfrm>
            <a:off x="8275320" y="3218688"/>
            <a:ext cx="3108960" cy="347472"/>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indice : −18,4 %</a:t>
            </a:r>
            <a:endParaRPr lang="en-US" sz="1350" dirty="0"/>
          </a:p>
        </p:txBody>
      </p:sp>
      <p:sp>
        <p:nvSpPr>
          <p:cNvPr id="32" name="Shape 30"/>
          <p:cNvSpPr/>
          <p:nvPr/>
        </p:nvSpPr>
        <p:spPr>
          <a:xfrm>
            <a:off x="548640" y="4480560"/>
            <a:ext cx="11094415" cy="1463040"/>
          </a:xfrm>
          <a:prstGeom prst="roundRect">
            <a:avLst>
              <a:gd name="adj" fmla="val 5000"/>
            </a:avLst>
          </a:prstGeom>
          <a:solidFill>
            <a:srgbClr val="14304F"/>
          </a:solidFill>
          <a:ln w="12700">
            <a:solidFill>
              <a:srgbClr val="14304F"/>
            </a:solidFill>
            <a:prstDash val="solid"/>
          </a:ln>
        </p:spPr>
      </p:sp>
      <p:sp>
        <p:nvSpPr>
          <p:cNvPr id="33" name="Text 31"/>
          <p:cNvSpPr txBox="1"/>
          <p:nvPr/>
        </p:nvSpPr>
        <p:spPr>
          <a:xfrm>
            <a:off x="777240" y="4617720"/>
            <a:ext cx="10637215" cy="11887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Moins agité que l'indice, nettement mieux tenu en 2022, un peu plus exposé en 2020 que les trente — le prix du resserrement. Mais en crise, un panier d'actions perd </a:t>
            </a:r>
            <a:pPr indent="0" marL="0">
              <a:buNone/>
            </a:pPr>
            <a:r>
              <a:rPr lang="en-US" sz="1450" b="1" dirty="0">
                <a:solidFill>
                  <a:srgbClr val="F5C969"/>
                </a:solidFill>
                <a:latin typeface="Calibri" pitchFamily="34" charset="0"/>
                <a:ea typeface="Calibri" pitchFamily="34" charset="-122"/>
                <a:cs typeface="Calibri" pitchFamily="34" charset="-120"/>
              </a:rPr>
              <a:t>bien plus que 15 %</a:t>
            </a:r>
            <a:pPr indent="0" marL="0">
              <a:buNone/>
            </a:pPr>
            <a:r>
              <a:rPr lang="en-US" sz="1450" dirty="0">
                <a:solidFill>
                  <a:srgbClr val="FFFFFF"/>
                </a:solidFill>
                <a:latin typeface="Calibri" pitchFamily="34" charset="0"/>
                <a:ea typeface="Calibri" pitchFamily="34" charset="-122"/>
                <a:cs typeface="Calibri" pitchFamily="34" charset="-120"/>
              </a:rPr>
              <a:t> : c'est le dosage avec les obligations et l'or, à l'étape 4, qui tiendra la limite.</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Les emprunts d'État, achetés en direct</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Pas de frais de gestion, et la date et le montant de chaque remboursement connus d'avance</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Courbes zéro-coupon de la BCE (modèle de Svensson) au 18/09/2026</a:t>
            </a:r>
            <a:endParaRPr lang="en-US" sz="850" dirty="0"/>
          </a:p>
        </p:txBody>
      </p:sp>
      <p:sp>
        <p:nvSpPr>
          <p:cNvPr id="18" name="Text 16"/>
          <p:cNvSpPr txBox="1"/>
          <p:nvPr/>
        </p:nvSpPr>
        <p:spPr>
          <a:xfrm>
            <a:off x="548640" y="1463040"/>
            <a:ext cx="54864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Les 10 M€ à décaisser : une échelle AAA</a:t>
            </a:r>
            <a:endParaRPr lang="en-US" sz="1700" dirty="0"/>
          </a:p>
        </p:txBody>
      </p:sp>
      <p:sp>
        <p:nvSpPr>
          <p:cNvPr id="19" name="Shape 17"/>
          <p:cNvSpPr/>
          <p:nvPr/>
        </p:nvSpPr>
        <p:spPr>
          <a:xfrm>
            <a:off x="548640" y="1965960"/>
            <a:ext cx="1234440" cy="1143000"/>
          </a:xfrm>
          <a:prstGeom prst="roundRect">
            <a:avLst>
              <a:gd name="adj" fmla="val 4800"/>
            </a:avLst>
          </a:prstGeom>
          <a:solidFill>
            <a:srgbClr val="EB6834"/>
          </a:solidFill>
          <a:ln w="12700">
            <a:solidFill>
              <a:srgbClr val="EB6834"/>
            </a:solidFill>
            <a:prstDash val="solid"/>
          </a:ln>
        </p:spPr>
      </p:sp>
      <p:sp>
        <p:nvSpPr>
          <p:cNvPr id="20" name="Text 18"/>
          <p:cNvSpPr txBox="1"/>
          <p:nvPr/>
        </p:nvSpPr>
        <p:spPr>
          <a:xfrm>
            <a:off x="548640" y="1965960"/>
            <a:ext cx="123444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2,5 M€</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6 mois</a:t>
            </a:r>
            <a:endParaRPr lang="en-US" sz="1700" dirty="0"/>
          </a:p>
          <a:p>
            <a:pPr algn="ctr" indent="0" marL="0">
              <a:buNone/>
            </a:pPr>
            <a:r>
              <a:rPr lang="en-US" sz="1100" dirty="0">
                <a:solidFill>
                  <a:srgbClr val="FFFFFF"/>
                </a:solidFill>
                <a:latin typeface="Calibri" pitchFamily="34" charset="0"/>
                <a:ea typeface="Calibri" pitchFamily="34" charset="-122"/>
                <a:cs typeface="Calibri" pitchFamily="34" charset="-120"/>
              </a:rPr>
              <a:t>2,75 %</a:t>
            </a:r>
            <a:endParaRPr lang="en-US" sz="1700" dirty="0"/>
          </a:p>
        </p:txBody>
      </p:sp>
      <p:sp>
        <p:nvSpPr>
          <p:cNvPr id="21" name="Shape 19"/>
          <p:cNvSpPr/>
          <p:nvPr/>
        </p:nvSpPr>
        <p:spPr>
          <a:xfrm>
            <a:off x="1920240" y="1965960"/>
            <a:ext cx="1234440" cy="1143000"/>
          </a:xfrm>
          <a:prstGeom prst="roundRect">
            <a:avLst>
              <a:gd name="adj" fmla="val 4800"/>
            </a:avLst>
          </a:prstGeom>
          <a:solidFill>
            <a:srgbClr val="EB6834"/>
          </a:solidFill>
          <a:ln w="12700">
            <a:solidFill>
              <a:srgbClr val="EB6834"/>
            </a:solidFill>
            <a:prstDash val="solid"/>
          </a:ln>
        </p:spPr>
      </p:sp>
      <p:sp>
        <p:nvSpPr>
          <p:cNvPr id="22" name="Text 20"/>
          <p:cNvSpPr txBox="1"/>
          <p:nvPr/>
        </p:nvSpPr>
        <p:spPr>
          <a:xfrm>
            <a:off x="1920240" y="1965960"/>
            <a:ext cx="123444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2,5 M€</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12 mois</a:t>
            </a:r>
            <a:endParaRPr lang="en-US" sz="1700" dirty="0"/>
          </a:p>
          <a:p>
            <a:pPr algn="ctr" indent="0" marL="0">
              <a:buNone/>
            </a:pPr>
            <a:r>
              <a:rPr lang="en-US" sz="1100" dirty="0">
                <a:solidFill>
                  <a:srgbClr val="FFFFFF"/>
                </a:solidFill>
                <a:latin typeface="Calibri" pitchFamily="34" charset="0"/>
                <a:ea typeface="Calibri" pitchFamily="34" charset="-122"/>
                <a:cs typeface="Calibri" pitchFamily="34" charset="-120"/>
              </a:rPr>
              <a:t>3,01 %</a:t>
            </a:r>
            <a:endParaRPr lang="en-US" sz="1700" dirty="0"/>
          </a:p>
        </p:txBody>
      </p:sp>
      <p:sp>
        <p:nvSpPr>
          <p:cNvPr id="23" name="Shape 21"/>
          <p:cNvSpPr/>
          <p:nvPr/>
        </p:nvSpPr>
        <p:spPr>
          <a:xfrm>
            <a:off x="3291840" y="1965960"/>
            <a:ext cx="1234440" cy="1143000"/>
          </a:xfrm>
          <a:prstGeom prst="roundRect">
            <a:avLst>
              <a:gd name="adj" fmla="val 4800"/>
            </a:avLst>
          </a:prstGeom>
          <a:solidFill>
            <a:srgbClr val="EB6834"/>
          </a:solidFill>
          <a:ln w="12700">
            <a:solidFill>
              <a:srgbClr val="EB6834"/>
            </a:solidFill>
            <a:prstDash val="solid"/>
          </a:ln>
        </p:spPr>
      </p:sp>
      <p:sp>
        <p:nvSpPr>
          <p:cNvPr id="24" name="Text 22"/>
          <p:cNvSpPr txBox="1"/>
          <p:nvPr/>
        </p:nvSpPr>
        <p:spPr>
          <a:xfrm>
            <a:off x="3291840" y="1965960"/>
            <a:ext cx="123444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2,5 M€</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18 mois</a:t>
            </a:r>
            <a:endParaRPr lang="en-US" sz="1700" dirty="0"/>
          </a:p>
          <a:p>
            <a:pPr algn="ctr" indent="0" marL="0">
              <a:buNone/>
            </a:pPr>
            <a:r>
              <a:rPr lang="en-US" sz="1100" dirty="0">
                <a:solidFill>
                  <a:srgbClr val="FFFFFF"/>
                </a:solidFill>
                <a:latin typeface="Calibri" pitchFamily="34" charset="0"/>
                <a:ea typeface="Calibri" pitchFamily="34" charset="-122"/>
                <a:cs typeface="Calibri" pitchFamily="34" charset="-120"/>
              </a:rPr>
              <a:t>3,15 %</a:t>
            </a:r>
            <a:endParaRPr lang="en-US" sz="1700" dirty="0"/>
          </a:p>
        </p:txBody>
      </p:sp>
      <p:sp>
        <p:nvSpPr>
          <p:cNvPr id="25" name="Shape 23"/>
          <p:cNvSpPr/>
          <p:nvPr/>
        </p:nvSpPr>
        <p:spPr>
          <a:xfrm>
            <a:off x="4663440" y="1965960"/>
            <a:ext cx="1234440" cy="1143000"/>
          </a:xfrm>
          <a:prstGeom prst="roundRect">
            <a:avLst>
              <a:gd name="adj" fmla="val 4800"/>
            </a:avLst>
          </a:prstGeom>
          <a:solidFill>
            <a:srgbClr val="EB6834"/>
          </a:solidFill>
          <a:ln w="12700">
            <a:solidFill>
              <a:srgbClr val="EB6834"/>
            </a:solidFill>
            <a:prstDash val="solid"/>
          </a:ln>
        </p:spPr>
      </p:sp>
      <p:sp>
        <p:nvSpPr>
          <p:cNvPr id="26" name="Text 24"/>
          <p:cNvSpPr txBox="1"/>
          <p:nvPr/>
        </p:nvSpPr>
        <p:spPr>
          <a:xfrm>
            <a:off x="4663440" y="1965960"/>
            <a:ext cx="123444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2,5 M€</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24 mois</a:t>
            </a:r>
            <a:endParaRPr lang="en-US" sz="1700" dirty="0"/>
          </a:p>
          <a:p>
            <a:pPr algn="ctr" indent="0" marL="0">
              <a:buNone/>
            </a:pPr>
            <a:r>
              <a:rPr lang="en-US" sz="1100" dirty="0">
                <a:solidFill>
                  <a:srgbClr val="FFFFFF"/>
                </a:solidFill>
                <a:latin typeface="Calibri" pitchFamily="34" charset="0"/>
                <a:ea typeface="Calibri" pitchFamily="34" charset="-122"/>
                <a:cs typeface="Calibri" pitchFamily="34" charset="-120"/>
              </a:rPr>
              <a:t>3,22 %</a:t>
            </a:r>
            <a:endParaRPr lang="en-US" sz="1700" dirty="0"/>
          </a:p>
        </p:txBody>
      </p:sp>
      <p:sp>
        <p:nvSpPr>
          <p:cNvPr id="27" name="Text 25"/>
          <p:cNvSpPr txBox="1"/>
          <p:nvPr/>
        </p:nvSpPr>
        <p:spPr>
          <a:xfrm>
            <a:off x="548640" y="3383280"/>
            <a:ext cx="2651760" cy="640080"/>
          </a:xfrm>
          <a:prstGeom prst="rect">
            <a:avLst/>
          </a:prstGeom>
          <a:noFill/>
          <a:ln/>
        </p:spPr>
        <p:txBody>
          <a:bodyPr wrap="square" lIns="0" tIns="0" rIns="0" bIns="0" rtlCol="0" anchor="b"/>
          <a:lstStyle/>
          <a:p>
            <a:pPr indent="0" marL="0">
              <a:buNone/>
            </a:pPr>
            <a:r>
              <a:rPr lang="en-US" sz="2800" b="1" dirty="0">
                <a:solidFill>
                  <a:srgbClr val="14304F"/>
                </a:solidFill>
                <a:latin typeface="Cambria" pitchFamily="34" charset="0"/>
                <a:ea typeface="Cambria" pitchFamily="34" charset="-122"/>
                <a:cs typeface="Cambria" pitchFamily="34" charset="-120"/>
              </a:rPr>
              <a:t>9,63 M€</a:t>
            </a:r>
            <a:endParaRPr lang="en-US" sz="2800" dirty="0"/>
          </a:p>
        </p:txBody>
      </p:sp>
      <p:sp>
        <p:nvSpPr>
          <p:cNvPr id="28" name="Text 26"/>
          <p:cNvSpPr txBox="1"/>
          <p:nvPr/>
        </p:nvSpPr>
        <p:spPr>
          <a:xfrm>
            <a:off x="548640" y="4041648"/>
            <a:ext cx="265176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à investir aujourd'hui, à taux garantis (Allemagne, Pays-Bas…)</a:t>
            </a:r>
            <a:endParaRPr lang="en-US" sz="1200" dirty="0"/>
          </a:p>
        </p:txBody>
      </p:sp>
      <p:sp>
        <p:nvSpPr>
          <p:cNvPr id="29" name="Text 27"/>
          <p:cNvSpPr txBox="1"/>
          <p:nvPr/>
        </p:nvSpPr>
        <p:spPr>
          <a:xfrm>
            <a:off x="3291840" y="3383280"/>
            <a:ext cx="2651760" cy="640080"/>
          </a:xfrm>
          <a:prstGeom prst="rect">
            <a:avLst/>
          </a:prstGeom>
          <a:noFill/>
          <a:ln/>
        </p:spPr>
        <p:txBody>
          <a:bodyPr wrap="square" lIns="0" tIns="0" rIns="0" bIns="0" rtlCol="0" anchor="b"/>
          <a:lstStyle/>
          <a:p>
            <a:pPr indent="0" marL="0">
              <a:buNone/>
            </a:pPr>
            <a:r>
              <a:rPr lang="en-US" sz="2800" b="1" dirty="0">
                <a:solidFill>
                  <a:srgbClr val="1BAF7A"/>
                </a:solidFill>
                <a:latin typeface="Cambria" pitchFamily="34" charset="0"/>
                <a:ea typeface="Cambria" pitchFamily="34" charset="-122"/>
                <a:cs typeface="Cambria" pitchFamily="34" charset="-120"/>
              </a:rPr>
              <a:t>78 k€</a:t>
            </a:r>
            <a:endParaRPr lang="en-US" sz="2800" dirty="0"/>
          </a:p>
        </p:txBody>
      </p:sp>
      <p:sp>
        <p:nvSpPr>
          <p:cNvPr id="30" name="Text 28"/>
          <p:cNvSpPr txBox="1"/>
          <p:nvPr/>
        </p:nvSpPr>
        <p:spPr>
          <a:xfrm>
            <a:off x="3291840" y="4041648"/>
            <a:ext cx="265176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économisés face au monétaire</a:t>
            </a:r>
            <a:endParaRPr lang="en-US" sz="1200" dirty="0"/>
          </a:p>
        </p:txBody>
      </p:sp>
      <p:sp>
        <p:nvSpPr>
          <p:cNvPr id="31" name="Shape 29"/>
          <p:cNvSpPr/>
          <p:nvPr/>
        </p:nvSpPr>
        <p:spPr>
          <a:xfrm>
            <a:off x="6263640" y="1463040"/>
            <a:ext cx="5376672" cy="3154680"/>
          </a:xfrm>
          <a:prstGeom prst="roundRect">
            <a:avLst>
              <a:gd name="adj" fmla="val 2319"/>
            </a:avLst>
          </a:prstGeom>
          <a:solidFill>
            <a:srgbClr val="F2F5F9"/>
          </a:solidFill>
          <a:ln w="12700">
            <a:solidFill>
              <a:srgbClr val="F2F5F9"/>
            </a:solidFill>
            <a:prstDash val="solid"/>
          </a:ln>
        </p:spPr>
      </p:sp>
      <p:sp>
        <p:nvSpPr>
          <p:cNvPr id="32" name="Text 30"/>
          <p:cNvSpPr txBox="1"/>
          <p:nvPr/>
        </p:nvSpPr>
        <p:spPr>
          <a:xfrm>
            <a:off x="6492240" y="1600200"/>
            <a:ext cx="493776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La poche longue : une échelle 2-3-5-7-10 ans</a:t>
            </a:r>
            <a:endParaRPr lang="en-US" sz="1700" dirty="0"/>
          </a:p>
        </p:txBody>
      </p:sp>
      <p:sp>
        <p:nvSpPr>
          <p:cNvPr id="33" name="Text 31"/>
          <p:cNvSpPr txBox="1"/>
          <p:nvPr/>
        </p:nvSpPr>
        <p:spPr>
          <a:xfrm>
            <a:off x="6492240" y="2057400"/>
            <a:ext cx="2377440" cy="640080"/>
          </a:xfrm>
          <a:prstGeom prst="rect">
            <a:avLst/>
          </a:prstGeom>
          <a:noFill/>
          <a:ln/>
        </p:spPr>
        <p:txBody>
          <a:bodyPr wrap="square" lIns="0" tIns="0" rIns="0" bIns="0" rtlCol="0" anchor="b"/>
          <a:lstStyle/>
          <a:p>
            <a:pPr indent="0" marL="0">
              <a:buNone/>
            </a:pPr>
            <a:r>
              <a:rPr lang="en-US" sz="3000" b="1" dirty="0">
                <a:solidFill>
                  <a:srgbClr val="14304F"/>
                </a:solidFill>
                <a:latin typeface="Cambria" pitchFamily="34" charset="0"/>
                <a:ea typeface="Cambria" pitchFamily="34" charset="-122"/>
                <a:cs typeface="Cambria" pitchFamily="34" charset="-120"/>
              </a:rPr>
              <a:t>3,63 %</a:t>
            </a:r>
            <a:endParaRPr lang="en-US" sz="3000" dirty="0"/>
          </a:p>
        </p:txBody>
      </p:sp>
      <p:sp>
        <p:nvSpPr>
          <p:cNvPr id="34" name="Text 32"/>
          <p:cNvSpPr txBox="1"/>
          <p:nvPr/>
        </p:nvSpPr>
        <p:spPr>
          <a:xfrm>
            <a:off x="6492240" y="2715768"/>
            <a:ext cx="23774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rendement moyen, toute la zone euro</a:t>
            </a:r>
            <a:endParaRPr lang="en-US" sz="1200" dirty="0"/>
          </a:p>
        </p:txBody>
      </p:sp>
      <p:sp>
        <p:nvSpPr>
          <p:cNvPr id="35" name="Text 33"/>
          <p:cNvSpPr txBox="1"/>
          <p:nvPr/>
        </p:nvSpPr>
        <p:spPr>
          <a:xfrm>
            <a:off x="9052560" y="2057400"/>
            <a:ext cx="2377440" cy="640080"/>
          </a:xfrm>
          <a:prstGeom prst="rect">
            <a:avLst/>
          </a:prstGeom>
          <a:noFill/>
          <a:ln/>
        </p:spPr>
        <p:txBody>
          <a:bodyPr wrap="square" lIns="0" tIns="0" rIns="0" bIns="0" rtlCol="0" anchor="b"/>
          <a:lstStyle/>
          <a:p>
            <a:pPr indent="0" marL="0">
              <a:buNone/>
            </a:pPr>
            <a:r>
              <a:rPr lang="en-US" sz="3000" b="1" dirty="0">
                <a:solidFill>
                  <a:srgbClr val="C2410C"/>
                </a:solidFill>
                <a:latin typeface="Cambria" pitchFamily="34" charset="0"/>
                <a:ea typeface="Cambria" pitchFamily="34" charset="-122"/>
                <a:cs typeface="Cambria" pitchFamily="34" charset="-120"/>
              </a:rPr>
              <a:t>−4,7 %</a:t>
            </a:r>
            <a:endParaRPr lang="en-US" sz="3000" dirty="0"/>
          </a:p>
        </p:txBody>
      </p:sp>
      <p:sp>
        <p:nvSpPr>
          <p:cNvPr id="36" name="Text 34"/>
          <p:cNvSpPr txBox="1"/>
          <p:nvPr/>
        </p:nvSpPr>
        <p:spPr>
          <a:xfrm>
            <a:off x="9052560" y="2715768"/>
            <a:ext cx="23774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si les taux montent d'un point</a:t>
            </a:r>
            <a:endParaRPr lang="en-US" sz="1200" dirty="0"/>
          </a:p>
        </p:txBody>
      </p:sp>
      <p:sp>
        <p:nvSpPr>
          <p:cNvPr id="37" name="Text 35"/>
          <p:cNvSpPr txBox="1"/>
          <p:nvPr/>
        </p:nvSpPr>
        <p:spPr>
          <a:xfrm>
            <a:off x="6492240" y="3520440"/>
            <a:ext cx="4937760" cy="1005840"/>
          </a:xfrm>
          <a:prstGeom prst="rect">
            <a:avLst/>
          </a:prstGeom>
          <a:noFill/>
          <a:ln/>
        </p:spPr>
        <p:txBody>
          <a:bodyPr wrap="square" lIns="0" tIns="0" rIns="0" bIns="0" rtlCol="0" anchor="t"/>
          <a:lstStyle/>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Allonger au-delà de 10 ans rapporte peu et </a:t>
            </a:r>
            <a:pPr indent="0" marL="0">
              <a:spcAft>
                <a:spcPts val="600"/>
              </a:spcAft>
              <a:buNone/>
            </a:pPr>
            <a:r>
              <a:rPr lang="en-US" sz="1300" b="1" dirty="0">
                <a:solidFill>
                  <a:srgbClr val="14304F"/>
                </a:solidFill>
                <a:latin typeface="Calibri" pitchFamily="34" charset="0"/>
                <a:ea typeface="Calibri" pitchFamily="34" charset="-122"/>
                <a:cs typeface="Calibri" pitchFamily="34" charset="-120"/>
              </a:rPr>
              <a:t>multiplie la perte</a:t>
            </a:r>
            <a:pPr indent="0" marL="0">
              <a:spcAft>
                <a:spcPts val="600"/>
              </a:spcAft>
              <a:buNone/>
            </a:pPr>
            <a:r>
              <a:rPr lang="en-US" sz="1300" dirty="0">
                <a:solidFill>
                  <a:srgbClr val="1F2937"/>
                </a:solidFill>
                <a:latin typeface="Calibri" pitchFamily="34" charset="0"/>
                <a:ea typeface="Calibri" pitchFamily="34" charset="-122"/>
                <a:cs typeface="Calibri" pitchFamily="34" charset="-120"/>
              </a:rPr>
              <a:t> en cas de hausse des taux : avec une inflation qui remonte, on n'allonge pas.</a:t>
            </a:r>
            <a:endParaRPr lang="en-US" sz="1300" dirty="0"/>
          </a:p>
        </p:txBody>
      </p:sp>
      <p:sp>
        <p:nvSpPr>
          <p:cNvPr id="38" name="Shape 36"/>
          <p:cNvSpPr/>
          <p:nvPr/>
        </p:nvSpPr>
        <p:spPr>
          <a:xfrm>
            <a:off x="548640" y="4892040"/>
            <a:ext cx="11094415" cy="1280160"/>
          </a:xfrm>
          <a:prstGeom prst="roundRect">
            <a:avLst>
              <a:gd name="adj" fmla="val 5714"/>
            </a:avLst>
          </a:prstGeom>
          <a:solidFill>
            <a:srgbClr val="14304F"/>
          </a:solidFill>
          <a:ln w="12700">
            <a:solidFill>
              <a:srgbClr val="14304F"/>
            </a:solidFill>
            <a:prstDash val="solid"/>
          </a:ln>
        </p:spPr>
      </p:sp>
      <p:sp>
        <p:nvSpPr>
          <p:cNvPr id="39" name="Text 37"/>
          <p:cNvSpPr txBox="1"/>
          <p:nvPr/>
        </p:nvSpPr>
        <p:spPr>
          <a:xfrm>
            <a:off x="777240" y="5029200"/>
            <a:ext cx="10637215"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AAA pour l'argent attendu </a:t>
            </a:r>
            <a:pPr indent="0" marL="0">
              <a:buNone/>
            </a:pPr>
            <a:r>
              <a:rPr lang="en-US" sz="1450" b="1" dirty="0">
                <a:solidFill>
                  <a:srgbClr val="F5C969"/>
                </a:solidFill>
                <a:latin typeface="Calibri" pitchFamily="34" charset="0"/>
                <a:ea typeface="Calibri" pitchFamily="34" charset="-122"/>
                <a:cs typeface="Calibri" pitchFamily="34" charset="-120"/>
              </a:rPr>
              <a:t>à date fixe</a:t>
            </a:r>
            <a:pPr indent="0" marL="0">
              <a:buNone/>
            </a:pPr>
            <a:r>
              <a:rPr lang="en-US" sz="1450" dirty="0">
                <a:solidFill>
                  <a:srgbClr val="FFFFFF"/>
                </a:solidFill>
                <a:latin typeface="Calibri" pitchFamily="34" charset="0"/>
                <a:ea typeface="Calibri" pitchFamily="34" charset="-122"/>
                <a:cs typeface="Calibri" pitchFamily="34" charset="-120"/>
              </a:rPr>
              <a:t> ; toute la zone euro, diversifiée, pour la poche longue (tous « investment grade », près d'un demi-point de plus à 10 ans).</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Les autres classes : les meilleurs fonds</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Exclusions conformes au mandat  →  taille d'au moins 1 Md€  →  frais les plus bas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justETF, Yahoo, méthodologies MSCI lues le 18/09/2026 · « Screened » écarté : il n'exclut pas l'armement conventionnel</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589520" cy="914400"/>
        </p:xfrm>
        <a:graphic>
          <a:graphicData uri="http://schemas.openxmlformats.org/drawingml/2006/table">
            <a:tbl>
              <a:tblPr/>
              <a:tblGrid>
                <a:gridCol w="2377440"/>
                <a:gridCol w="3566160"/>
                <a:gridCol w="822960"/>
                <a:gridCol w="822960"/>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Classe</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Fonds retenu</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Frais / an</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Taille</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Actions États-Unis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XZMU · Xtrackers MSCI USA ESG</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0,15 %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7,6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Actions Japon</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XZMJ · Xtrackers MSCI Japan ESG</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0,20 %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2,7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Actions émergentes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XZEM · Xtrackers MSCI Emerging Markets ESG</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0,25 %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1,3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Obligations indexées sur l'inflation</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IBCI · iShares € Inflation Linked Govt Bond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0,09 %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1,9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Or</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4GLD · Xetra-Gold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0,00 %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21,3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Matières premières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SXRS · iShares Diversified Commodity Swap</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0,19 %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2,2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38912">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Crédit euro bien noté, court</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QDVL · iShares € Corp Bond 0-3yr ESG SRI</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0,12 %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4,2 Md€</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9" name="Text 16"/>
          <p:cNvSpPr txBox="1"/>
          <p:nvPr/>
        </p:nvSpPr>
        <p:spPr>
          <a:xfrm>
            <a:off x="8412480" y="1463040"/>
            <a:ext cx="3246120" cy="4754880"/>
          </a:xfrm>
          <a:prstGeom prst="rect">
            <a:avLst/>
          </a:prstGeom>
          <a:noFill/>
          <a:ln/>
        </p:spPr>
        <p:txBody>
          <a:bodyPr wrap="square" lIns="0" tIns="0" rIns="0" bIns="0" rtlCol="0" anchor="t"/>
          <a:lstStyle/>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États-Unis et Japon séparés</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plutôt qu'un fonds Monde qui recompterait l'Europe</a:t>
            </a:r>
            <a:endParaRPr lang="en-US" sz="1250" dirty="0"/>
          </a:p>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Émergents</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 le seul fonds conforme s'écarte du marché (−4,0 % par an sur 7 ans) — écart annoncé au client</a:t>
            </a:r>
            <a:endParaRPr lang="en-US" sz="1250" dirty="0"/>
          </a:p>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Infrastructure retirée</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 aucun fonds à la fois assez gros et conforme</a:t>
            </a:r>
            <a:endParaRPr lang="en-US" sz="1250" dirty="0"/>
          </a:p>
          <a:p>
            <a:pPr marL="203200" indent="-203200">
              <a:spcAft>
                <a:spcPts val="900"/>
              </a:spcAft>
              <a:buSzPct val="100000"/>
              <a:buChar char="•"/>
            </a:pPr>
            <a:r>
              <a:rPr lang="en-US" sz="1250" b="1" dirty="0">
                <a:solidFill>
                  <a:srgbClr val="14304F"/>
                </a:solidFill>
                <a:latin typeface="Calibri" pitchFamily="34" charset="0"/>
                <a:ea typeface="Calibri" pitchFamily="34" charset="-122"/>
                <a:cs typeface="Calibri" pitchFamily="34" charset="-120"/>
              </a:rPr>
              <a:t>Neuf libellés faux</a:t>
            </a:r>
            <a:pPr indent="0" marL="0">
              <a:spcAft>
                <a:spcPts val="900"/>
              </a:spcAft>
              <a:buNone/>
            </a:pPr>
            <a:r>
              <a:rPr lang="en-US" sz="1250" dirty="0">
                <a:solidFill>
                  <a:srgbClr val="1F2937"/>
                </a:solidFill>
                <a:latin typeface="Calibri" pitchFamily="34" charset="0"/>
                <a:ea typeface="Calibri" pitchFamily="34" charset="-122"/>
                <a:cs typeface="Calibri" pitchFamily="34" charset="-120"/>
              </a:rPr>
              <a:t> corrigés dans l'univers de départ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C98A1B"/>
          </a:solidFill>
          <a:ln w="12700">
            <a:solidFill>
              <a:srgbClr val="C98A1B"/>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crédit court rapporte à peine plus que l'État</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Fonds retenu : QDVL, obligations d'entreprises bien notées, durée 1,4 an</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Fiches iShares · courbe BCE (État de même échéance) · pertes sur défauts : Moody's</a:t>
            </a:r>
            <a:endParaRPr lang="en-US" sz="850" dirty="0"/>
          </a:p>
        </p:txBody>
      </p:sp>
      <p:sp>
        <p:nvSpPr>
          <p:cNvPr id="18" name="Text 16"/>
          <p:cNvSpPr txBox="1"/>
          <p:nvPr/>
        </p:nvSpPr>
        <p:spPr>
          <a:xfrm>
            <a:off x="548640" y="1645920"/>
            <a:ext cx="3474720" cy="640080"/>
          </a:xfrm>
          <a:prstGeom prst="rect">
            <a:avLst/>
          </a:prstGeom>
          <a:noFill/>
          <a:ln/>
        </p:spPr>
        <p:txBody>
          <a:bodyPr wrap="square" lIns="0" tIns="0" rIns="0" bIns="0" rtlCol="0" anchor="b"/>
          <a:lstStyle/>
          <a:p>
            <a:pPr indent="0" marL="0">
              <a:buNone/>
            </a:pPr>
            <a:r>
              <a:rPr lang="en-US" sz="4400" b="1" dirty="0">
                <a:solidFill>
                  <a:srgbClr val="EB6834"/>
                </a:solidFill>
                <a:latin typeface="Cambria" pitchFamily="34" charset="0"/>
                <a:ea typeface="Cambria" pitchFamily="34" charset="-122"/>
                <a:cs typeface="Cambria" pitchFamily="34" charset="-120"/>
              </a:rPr>
              <a:t>+0,24 pt</a:t>
            </a:r>
            <a:endParaRPr lang="en-US" sz="4400" dirty="0"/>
          </a:p>
        </p:txBody>
      </p:sp>
      <p:sp>
        <p:nvSpPr>
          <p:cNvPr id="19" name="Text 17"/>
          <p:cNvSpPr txBox="1"/>
          <p:nvPr/>
        </p:nvSpPr>
        <p:spPr>
          <a:xfrm>
            <a:off x="548640" y="2304288"/>
            <a:ext cx="347472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plus qu'un État de même échéance (0,13 pt après défauts)</a:t>
            </a:r>
            <a:endParaRPr lang="en-US" sz="1200" dirty="0"/>
          </a:p>
        </p:txBody>
      </p:sp>
      <p:sp>
        <p:nvSpPr>
          <p:cNvPr id="20" name="Text 18"/>
          <p:cNvSpPr txBox="1"/>
          <p:nvPr/>
        </p:nvSpPr>
        <p:spPr>
          <a:xfrm>
            <a:off x="4343400" y="1645920"/>
            <a:ext cx="3474720" cy="640080"/>
          </a:xfrm>
          <a:prstGeom prst="rect">
            <a:avLst/>
          </a:prstGeom>
          <a:noFill/>
          <a:ln/>
        </p:spPr>
        <p:txBody>
          <a:bodyPr wrap="square" lIns="0" tIns="0" rIns="0" bIns="0" rtlCol="0" anchor="b"/>
          <a:lstStyle/>
          <a:p>
            <a:pPr indent="0" marL="0">
              <a:buNone/>
            </a:pPr>
            <a:r>
              <a:rPr lang="en-US" sz="4400" b="1" dirty="0">
                <a:solidFill>
                  <a:srgbClr val="C2410C"/>
                </a:solidFill>
                <a:latin typeface="Cambria" pitchFamily="34" charset="0"/>
                <a:ea typeface="Cambria" pitchFamily="34" charset="-122"/>
                <a:cs typeface="Cambria" pitchFamily="34" charset="-120"/>
              </a:rPr>
              <a:t>−3,5 %</a:t>
            </a:r>
            <a:endParaRPr lang="en-US" sz="4400" dirty="0"/>
          </a:p>
        </p:txBody>
      </p:sp>
      <p:sp>
        <p:nvSpPr>
          <p:cNvPr id="21" name="Text 19"/>
          <p:cNvSpPr txBox="1"/>
          <p:nvPr/>
        </p:nvSpPr>
        <p:spPr>
          <a:xfrm>
            <a:off x="4343400" y="2304288"/>
            <a:ext cx="347472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en 2020, contre −1,1 % pour l'État de même durée</a:t>
            </a:r>
            <a:endParaRPr lang="en-US" sz="1200" dirty="0"/>
          </a:p>
        </p:txBody>
      </p:sp>
      <p:sp>
        <p:nvSpPr>
          <p:cNvPr id="22" name="Text 20"/>
          <p:cNvSpPr txBox="1"/>
          <p:nvPr/>
        </p:nvSpPr>
        <p:spPr>
          <a:xfrm>
            <a:off x="8138160" y="1645920"/>
            <a:ext cx="3474720" cy="640080"/>
          </a:xfrm>
          <a:prstGeom prst="rect">
            <a:avLst/>
          </a:prstGeom>
          <a:noFill/>
          <a:ln/>
        </p:spPr>
        <p:txBody>
          <a:bodyPr wrap="square" lIns="0" tIns="0" rIns="0" bIns="0" rtlCol="0" anchor="b"/>
          <a:lstStyle/>
          <a:p>
            <a:pPr indent="0" marL="0">
              <a:buNone/>
            </a:pPr>
            <a:r>
              <a:rPr lang="en-US" sz="4400" b="1" dirty="0">
                <a:solidFill>
                  <a:srgbClr val="14304F"/>
                </a:solidFill>
                <a:latin typeface="Cambria" pitchFamily="34" charset="0"/>
                <a:ea typeface="Cambria" pitchFamily="34" charset="-122"/>
                <a:cs typeface="Cambria" pitchFamily="34" charset="-120"/>
              </a:rPr>
              <a:t>3,39 %</a:t>
            </a:r>
            <a:endParaRPr lang="en-US" sz="4400" dirty="0"/>
          </a:p>
        </p:txBody>
      </p:sp>
      <p:sp>
        <p:nvSpPr>
          <p:cNvPr id="23" name="Text 21"/>
          <p:cNvSpPr txBox="1"/>
          <p:nvPr/>
        </p:nvSpPr>
        <p:spPr>
          <a:xfrm>
            <a:off x="8138160" y="2304288"/>
            <a:ext cx="347472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rendement retenu pour l'étape 4, défauts déduits</a:t>
            </a:r>
            <a:endParaRPr lang="en-US" sz="1200" dirty="0"/>
          </a:p>
        </p:txBody>
      </p:sp>
      <p:graphicFrame>
        <p:nvGraphicFramePr>
          <p:cNvPr id="24" name="Chart 0" descr=""/>
          <p:cNvGraphicFramePr/>
          <p:nvPr/>
        </p:nvGraphicFramePr>
        <p:xfrm>
          <a:off x="548640" y="3429000"/>
          <a:ext cx="6583680" cy="283464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7498080" y="3566160"/>
            <a:ext cx="4142232" cy="2651760"/>
          </a:xfrm>
          <a:prstGeom prst="roundRect">
            <a:avLst>
              <a:gd name="adj" fmla="val 2759"/>
            </a:avLst>
          </a:prstGeom>
          <a:solidFill>
            <a:srgbClr val="14304F"/>
          </a:solidFill>
          <a:ln w="12700">
            <a:solidFill>
              <a:srgbClr val="14304F"/>
            </a:solidFill>
            <a:prstDash val="solid"/>
          </a:ln>
        </p:spPr>
      </p:sp>
      <p:sp>
        <p:nvSpPr>
          <p:cNvPr id="26" name="Text 23"/>
          <p:cNvSpPr txBox="1"/>
          <p:nvPr/>
        </p:nvSpPr>
        <p:spPr>
          <a:xfrm>
            <a:off x="7726680" y="3703320"/>
            <a:ext cx="3685032" cy="23774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Le haut rendement rapporte, défauts déduits, </a:t>
            </a:r>
            <a:pPr indent="0" marL="0">
              <a:buNone/>
            </a:pPr>
            <a:r>
              <a:rPr lang="en-US" sz="1500" b="1" dirty="0">
                <a:solidFill>
                  <a:srgbClr val="F5C969"/>
                </a:solidFill>
                <a:latin typeface="Calibri" pitchFamily="34" charset="0"/>
                <a:ea typeface="Calibri" pitchFamily="34" charset="-122"/>
                <a:cs typeface="Calibri" pitchFamily="34" charset="-120"/>
              </a:rPr>
              <a:t>moins que les États</a:t>
            </a:r>
            <a:pPr indent="0" marL="0">
              <a:buNone/>
            </a:pPr>
            <a:r>
              <a:rPr lang="en-US" sz="1500" dirty="0">
                <a:solidFill>
                  <a:srgbClr val="FFFFFF"/>
                </a:solidFill>
                <a:latin typeface="Calibri" pitchFamily="34" charset="0"/>
                <a:ea typeface="Calibri" pitchFamily="34" charset="-122"/>
                <a:cs typeface="Calibri" pitchFamily="34" charset="-120"/>
              </a:rPr>
              <a:t>. Le crédit court, </a:t>
            </a:r>
            <a:pPr indent="0" marL="0">
              <a:buNone/>
            </a:pPr>
            <a:r>
              <a:rPr lang="en-US" sz="1500" b="1" dirty="0">
                <a:solidFill>
                  <a:srgbClr val="F5C969"/>
                </a:solidFill>
                <a:latin typeface="Calibri" pitchFamily="34" charset="0"/>
                <a:ea typeface="Calibri" pitchFamily="34" charset="-122"/>
                <a:cs typeface="Calibri" pitchFamily="34" charset="-120"/>
              </a:rPr>
              <a:t>moins que l'échelle d'États 2-10 ans</a:t>
            </a:r>
            <a:pPr indent="0" marL="0">
              <a:buNone/>
            </a:pPr>
            <a:r>
              <a:rPr lang="en-US" sz="1500" dirty="0">
                <a:solidFill>
                  <a:srgbClr val="FFFFFF"/>
                </a:solidFill>
                <a:latin typeface="Calibri" pitchFamily="34" charset="0"/>
                <a:ea typeface="Calibri" pitchFamily="34" charset="-122"/>
                <a:cs typeface="Calibri" pitchFamily="34" charset="-120"/>
              </a:rPr>
              <a:t> : sa place sera au mieux modeste.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11000" b="1" dirty="0">
                <a:solidFill>
                  <a:srgbClr val="C98A1B"/>
                </a:solidFill>
                <a:latin typeface="Cambria" pitchFamily="34" charset="0"/>
                <a:ea typeface="Cambria" pitchFamily="34" charset="-122"/>
                <a:cs typeface="Cambria" pitchFamily="34" charset="-120"/>
              </a:rPr>
              <a:t>4</a:t>
            </a:r>
            <a:endParaRPr lang="en-US" sz="11000" dirty="0"/>
          </a:p>
        </p:txBody>
      </p:sp>
      <p:sp>
        <p:nvSpPr>
          <p:cNvPr id="3" name="Text 1"/>
          <p:cNvSpPr txBox="1"/>
          <p:nvPr/>
        </p:nvSpPr>
        <p:spPr>
          <a:xfrm>
            <a:off x="548640" y="297180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Allocation</a:t>
            </a:r>
            <a:endParaRPr lang="en-US" sz="4000" dirty="0"/>
          </a:p>
        </p:txBody>
      </p:sp>
      <p:sp>
        <p:nvSpPr>
          <p:cNvPr id="4" name="Text 2"/>
          <p:cNvSpPr txBox="1"/>
          <p:nvPr/>
        </p:nvSpPr>
        <p:spPr>
          <a:xfrm>
            <a:off x="548640" y="397764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Combien placer sur chaque support pour rapporter au moins 4 % sans jamais perdre plus de 15 %</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Seules les actions et les indexées dépassent 4 %</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Rendement espéré de chaque support : étape 2, corrigé de ce que l'étape 3 a appris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Actions européennes : rendement de l'indice (le panier n'est pas supposé battre son marché)</a:t>
            </a:r>
            <a:endParaRPr lang="en-US" sz="850" dirty="0"/>
          </a:p>
        </p:txBody>
      </p:sp>
      <p:graphicFrame>
        <p:nvGraphicFramePr>
          <p:cNvPr id="18" name="Chart 0" descr=""/>
          <p:cNvGraphicFramePr/>
          <p:nvPr/>
        </p:nvGraphicFramePr>
        <p:xfrm>
          <a:off x="548640" y="1417320"/>
          <a:ext cx="6766560" cy="489204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7589520" y="1463040"/>
            <a:ext cx="4050792" cy="2651760"/>
          </a:xfrm>
          <a:prstGeom prst="roundRect">
            <a:avLst>
              <a:gd name="adj" fmla="val 2759"/>
            </a:avLst>
          </a:prstGeom>
          <a:solidFill>
            <a:srgbClr val="F2F5F9"/>
          </a:solidFill>
          <a:ln w="12700">
            <a:solidFill>
              <a:srgbClr val="F2F5F9"/>
            </a:solidFill>
            <a:prstDash val="solid"/>
          </a:ln>
        </p:spPr>
      </p:sp>
      <p:sp>
        <p:nvSpPr>
          <p:cNvPr id="20" name="Text 17"/>
          <p:cNvSpPr txBox="1"/>
          <p:nvPr/>
        </p:nvSpPr>
        <p:spPr>
          <a:xfrm>
            <a:off x="7818120" y="1572768"/>
            <a:ext cx="36576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La règle de perte</a:t>
            </a:r>
            <a:endParaRPr lang="en-US" sz="1600" dirty="0"/>
          </a:p>
        </p:txBody>
      </p:sp>
      <p:sp>
        <p:nvSpPr>
          <p:cNvPr id="21" name="Text 18"/>
          <p:cNvSpPr txBox="1"/>
          <p:nvPr/>
        </p:nvSpPr>
        <p:spPr>
          <a:xfrm>
            <a:off x="7818120" y="1965960"/>
            <a:ext cx="3657600" cy="21031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Mesurée </a:t>
            </a:r>
            <a:pPr indent="0" marL="0">
              <a:spcAft>
                <a:spcPts val="600"/>
              </a:spcAft>
              <a:buNone/>
            </a:pPr>
            <a:r>
              <a:rPr lang="en-US" sz="1350" b="1" dirty="0">
                <a:solidFill>
                  <a:srgbClr val="14304F"/>
                </a:solidFill>
                <a:latin typeface="Calibri" pitchFamily="34" charset="0"/>
                <a:ea typeface="Calibri" pitchFamily="34" charset="-122"/>
                <a:cs typeface="Calibri" pitchFamily="34" charset="-120"/>
              </a:rPr>
              <a:t>depuis le plus haut</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Sur </a:t>
            </a:r>
            <a:pPr indent="0" marL="0">
              <a:spcAft>
                <a:spcPts val="600"/>
              </a:spcAft>
              <a:buNone/>
            </a:pPr>
            <a:r>
              <a:rPr lang="en-US" sz="1350" b="1" dirty="0">
                <a:solidFill>
                  <a:srgbClr val="14304F"/>
                </a:solidFill>
                <a:latin typeface="Calibri" pitchFamily="34" charset="0"/>
                <a:ea typeface="Calibri" pitchFamily="34" charset="-122"/>
                <a:cs typeface="Calibri" pitchFamily="34" charset="-120"/>
              </a:rPr>
              <a:t>les 100 M€</a:t>
            </a:r>
            <a:pPr indent="0" marL="0">
              <a:spcAft>
                <a:spcPts val="600"/>
              </a:spcAft>
              <a:buNone/>
            </a:pPr>
            <a:r>
              <a:rPr lang="en-US" sz="1350" dirty="0">
                <a:solidFill>
                  <a:srgbClr val="1F2937"/>
                </a:solidFill>
                <a:latin typeface="Calibri" pitchFamily="34" charset="0"/>
                <a:ea typeface="Calibri" pitchFamily="34" charset="-122"/>
                <a:cs typeface="Calibri" pitchFamily="34" charset="-120"/>
              </a:rPr>
              <a:t> ensemble</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Jamais au-delà de 15 % dans </a:t>
            </a:r>
            <a:pPr indent="0" marL="0">
              <a:spcAft>
                <a:spcPts val="600"/>
              </a:spcAft>
              <a:buNone/>
            </a:pPr>
            <a:r>
              <a:rPr lang="en-US" sz="1350" b="1" dirty="0">
                <a:solidFill>
                  <a:srgbClr val="14304F"/>
                </a:solidFill>
                <a:latin typeface="Calibri" pitchFamily="34" charset="0"/>
                <a:ea typeface="Calibri" pitchFamily="34" charset="-122"/>
                <a:cs typeface="Calibri" pitchFamily="34" charset="-120"/>
              </a:rPr>
              <a:t>2008, 2011, 2020, 2022</a:t>
            </a:r>
            <a:endParaRPr lang="en-US" sz="1350" dirty="0"/>
          </a:p>
          <a:p>
            <a:pPr marL="203200" indent="-203200">
              <a:spcAft>
                <a:spcPts val="600"/>
              </a:spcAft>
              <a:buSzPct val="100000"/>
              <a:buChar char="•"/>
            </a:pPr>
            <a:r>
              <a:rPr lang="en-US" sz="1350" b="1" dirty="0">
                <a:solidFill>
                  <a:srgbClr val="14304F"/>
                </a:solidFill>
                <a:latin typeface="Calibri" pitchFamily="34" charset="0"/>
                <a:ea typeface="Calibri" pitchFamily="34" charset="-122"/>
                <a:cs typeface="Calibri" pitchFamily="34" charset="-120"/>
              </a:rPr>
              <a:t>Pas de crypto</a:t>
            </a:r>
            <a:endParaRPr lang="en-US" sz="1350" dirty="0"/>
          </a:p>
        </p:txBody>
      </p:sp>
      <p:sp>
        <p:nvSpPr>
          <p:cNvPr id="22" name="Shape 19"/>
          <p:cNvSpPr/>
          <p:nvPr/>
        </p:nvSpPr>
        <p:spPr>
          <a:xfrm>
            <a:off x="7589520" y="4343400"/>
            <a:ext cx="4050792" cy="1874520"/>
          </a:xfrm>
          <a:prstGeom prst="roundRect">
            <a:avLst>
              <a:gd name="adj" fmla="val 3902"/>
            </a:avLst>
          </a:prstGeom>
          <a:solidFill>
            <a:srgbClr val="14304F"/>
          </a:solidFill>
          <a:ln w="12700">
            <a:solidFill>
              <a:srgbClr val="14304F"/>
            </a:solidFill>
            <a:prstDash val="solid"/>
          </a:ln>
        </p:spPr>
      </p:sp>
      <p:sp>
        <p:nvSpPr>
          <p:cNvPr id="23" name="Text 20"/>
          <p:cNvSpPr txBox="1"/>
          <p:nvPr/>
        </p:nvSpPr>
        <p:spPr>
          <a:xfrm>
            <a:off x="7818120" y="4480560"/>
            <a:ext cx="3593592" cy="1600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Chaque euro placé en obligations ou en or devra être </a:t>
            </a:r>
            <a:pPr indent="0" marL="0">
              <a:buNone/>
            </a:pPr>
            <a:r>
              <a:rPr lang="en-US" sz="1400" b="1" dirty="0">
                <a:solidFill>
                  <a:srgbClr val="F5C969"/>
                </a:solidFill>
                <a:latin typeface="Calibri" pitchFamily="34" charset="0"/>
                <a:ea typeface="Calibri" pitchFamily="34" charset="-122"/>
                <a:cs typeface="Calibri" pitchFamily="34" charset="-120"/>
              </a:rPr>
              <a:t>compensé par des actions</a:t>
            </a:r>
            <a:pPr indent="0" marL="0">
              <a:buNone/>
            </a:pPr>
            <a:r>
              <a:rPr lang="en-US" sz="1400" dirty="0">
                <a:solidFill>
                  <a:srgbClr val="FFFFFF"/>
                </a:solidFill>
                <a:latin typeface="Calibri" pitchFamily="34" charset="0"/>
                <a:ea typeface="Calibri" pitchFamily="34" charset="-122"/>
                <a:cs typeface="Calibri" pitchFamily="34" charset="-120"/>
              </a:rPr>
              <a:t> : c'est la tension entre 4 % et 15 %.</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En crise, qui amortit ? Ça dépend de la crise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Variation de chaque support pendant que les actions baissaient, du sommet au creux</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Séries quotidiennes en euros depuis octobre 2006 · vrai support dès qu'il existe, remplaçant avant · crises datées à l'avance</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2560320"/>
                <a:gridCol w="1234440"/>
                <a:gridCol w="1234440"/>
                <a:gridCol w="1234440"/>
                <a:gridCol w="1234440"/>
              </a:tblGrid>
              <a:tr h="566928">
                <a:tc>
                  <a:txBody>
                    <a:bodyPr/>
                    <a:lstStyle/>
                    <a:p>
                      <a:pPr indent="0" marL="0">
                        <a:buNone/>
                      </a:pP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2008 · Crise financière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2011 · Crise des dettes de la zone euro</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2020 · Covid</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2022 · Retour de l'inflation</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56692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Poche actions (40/35/10/15)</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−54 %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−22 %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−33 %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−19 %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États zone euro 2-10 ans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+14 %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−2 %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−14 %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6692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Obligations indexées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+13 %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+2 %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−12 %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Or</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+39 %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+19 %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+4 %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6692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Matières premières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−38 %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−15 %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−19 %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250" b="1" dirty="0">
                          <a:solidFill>
                            <a:srgbClr val="0F7A55"/>
                          </a:solidFill>
                          <a:latin typeface="Calibri" pitchFamily="34" charset="0"/>
                          <a:ea typeface="Calibri" pitchFamily="34" charset="-122"/>
                          <a:cs typeface="Calibri" pitchFamily="34" charset="-120"/>
                        </a:rPr>
                        <a:t>+30 %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66928">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Bitcoin</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−33 %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250" b="1" dirty="0">
                          <a:solidFill>
                            <a:srgbClr val="C2410C"/>
                          </a:solidFill>
                          <a:latin typeface="Calibri" pitchFamily="34" charset="0"/>
                          <a:ea typeface="Calibri" pitchFamily="34" charset="-122"/>
                          <a:cs typeface="Calibri" pitchFamily="34" charset="-120"/>
                        </a:rPr>
                        <a:t>−63 %</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bl>
          </a:graphicData>
        </a:graphic>
      </p:graphicFrame>
      <p:sp>
        <p:nvSpPr>
          <p:cNvPr id="19" name="Text 16"/>
          <p:cNvSpPr txBox="1"/>
          <p:nvPr/>
        </p:nvSpPr>
        <p:spPr>
          <a:xfrm>
            <a:off x="8412480" y="1463040"/>
            <a:ext cx="3246120" cy="640080"/>
          </a:xfrm>
          <a:prstGeom prst="rect">
            <a:avLst/>
          </a:prstGeom>
          <a:noFill/>
          <a:ln/>
        </p:spPr>
        <p:txBody>
          <a:bodyPr wrap="square" lIns="0" tIns="0" rIns="0" bIns="0" rtlCol="0" anchor="b"/>
          <a:lstStyle/>
          <a:p>
            <a:pPr indent="0" marL="0">
              <a:buNone/>
            </a:pPr>
            <a:r>
              <a:rPr lang="en-US" sz="3400" b="1" dirty="0">
                <a:solidFill>
                  <a:srgbClr val="14304F"/>
                </a:solidFill>
                <a:latin typeface="Cambria" pitchFamily="34" charset="0"/>
                <a:ea typeface="Cambria" pitchFamily="34" charset="-122"/>
                <a:cs typeface="Cambria" pitchFamily="34" charset="-120"/>
              </a:rPr>
              <a:t>≤ 28 %</a:t>
            </a:r>
            <a:endParaRPr lang="en-US" sz="3400" dirty="0"/>
          </a:p>
        </p:txBody>
      </p:sp>
      <p:sp>
        <p:nvSpPr>
          <p:cNvPr id="20" name="Text 17"/>
          <p:cNvSpPr txBox="1"/>
          <p:nvPr/>
        </p:nvSpPr>
        <p:spPr>
          <a:xfrm>
            <a:off x="8412480" y="2121408"/>
            <a:ext cx="324612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d'actions au plus sans amortisseur (15 ÷ 54)</a:t>
            </a:r>
            <a:endParaRPr lang="en-US" sz="1200" dirty="0"/>
          </a:p>
        </p:txBody>
      </p:sp>
      <p:sp>
        <p:nvSpPr>
          <p:cNvPr id="21" name="Text 18"/>
          <p:cNvSpPr txBox="1"/>
          <p:nvPr/>
        </p:nvSpPr>
        <p:spPr>
          <a:xfrm>
            <a:off x="8412480" y="2926080"/>
            <a:ext cx="3246120" cy="3291840"/>
          </a:xfrm>
          <a:prstGeom prst="rect">
            <a:avLst/>
          </a:prstGeom>
          <a:noFill/>
          <a:ln/>
        </p:spPr>
        <p:txBody>
          <a:bodyPr wrap="square" lIns="0" tIns="0" rIns="0" bIns="0" rtlCol="0" anchor="t"/>
          <a:lstStyle/>
          <a:p>
            <a:pPr marL="203200" indent="-203200">
              <a:spcAft>
                <a:spcPts val="900"/>
              </a:spcAft>
              <a:buSzPct val="100000"/>
              <a:buChar char="•"/>
            </a:pPr>
            <a:r>
              <a:rPr lang="en-US" sz="1350" b="1" dirty="0">
                <a:solidFill>
                  <a:srgbClr val="14304F"/>
                </a:solidFill>
                <a:latin typeface="Calibri" pitchFamily="34" charset="0"/>
                <a:ea typeface="Calibri" pitchFamily="34" charset="-122"/>
                <a:cs typeface="Calibri" pitchFamily="34" charset="-120"/>
              </a:rPr>
              <a:t>Récession</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(2008, 2011) : les États montent</a:t>
            </a:r>
            <a:endParaRPr lang="en-US" sz="1350" dirty="0"/>
          </a:p>
          <a:p>
            <a:pPr marL="203200" indent="-203200">
              <a:spcAft>
                <a:spcPts val="900"/>
              </a:spcAft>
              <a:buSzPct val="100000"/>
              <a:buChar char="•"/>
            </a:pPr>
            <a:r>
              <a:rPr lang="en-US" sz="1350" b="1" dirty="0">
                <a:solidFill>
                  <a:srgbClr val="14304F"/>
                </a:solidFill>
                <a:latin typeface="Calibri" pitchFamily="34" charset="0"/>
                <a:ea typeface="Calibri" pitchFamily="34" charset="-122"/>
                <a:cs typeface="Calibri" pitchFamily="34" charset="-120"/>
              </a:rPr>
              <a:t>Inflation</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(2022) : tout baisse ensemble</a:t>
            </a:r>
            <a:endParaRPr lang="en-US" sz="1350" dirty="0"/>
          </a:p>
          <a:p>
            <a:pPr marL="203200" indent="-203200">
              <a:spcAft>
                <a:spcPts val="900"/>
              </a:spcAft>
              <a:buSzPct val="100000"/>
              <a:buChar char="•"/>
            </a:pPr>
            <a:r>
              <a:rPr lang="en-US" sz="1350" b="1" dirty="0">
                <a:solidFill>
                  <a:srgbClr val="14304F"/>
                </a:solidFill>
                <a:latin typeface="Calibri" pitchFamily="34" charset="0"/>
                <a:ea typeface="Calibri" pitchFamily="34" charset="-122"/>
                <a:cs typeface="Calibri" pitchFamily="34" charset="-120"/>
              </a:rPr>
              <a:t>L'or</a:t>
            </a:r>
            <a:pPr indent="0" marL="0">
              <a:spcAft>
                <a:spcPts val="900"/>
              </a:spcAft>
              <a:buNone/>
            </a:pPr>
            <a:r>
              <a:rPr lang="en-US" sz="1350" dirty="0">
                <a:solidFill>
                  <a:srgbClr val="1F2937"/>
                </a:solidFill>
                <a:latin typeface="Calibri" pitchFamily="34" charset="0"/>
                <a:ea typeface="Calibri" pitchFamily="34" charset="-122"/>
                <a:cs typeface="Calibri" pitchFamily="34" charset="-120"/>
              </a:rPr>
              <a:t> tient dans les quatre crises</a:t>
            </a:r>
            <a:endParaRPr lang="en-US" sz="1350" dirty="0"/>
          </a:p>
          <a:p>
            <a:pPr marL="203200" indent="-203200">
              <a:spcAft>
                <a:spcPts val="900"/>
              </a:spcAft>
              <a:buSzPct val="100000"/>
              <a:buChar char="•"/>
            </a:pPr>
            <a:r>
              <a:rPr lang="en-US" sz="1350" dirty="0">
                <a:solidFill>
                  <a:srgbClr val="1F2937"/>
                </a:solidFill>
                <a:latin typeface="Calibri" pitchFamily="34" charset="0"/>
                <a:ea typeface="Calibri" pitchFamily="34" charset="-122"/>
                <a:cs typeface="Calibri" pitchFamily="34" charset="-120"/>
              </a:rPr>
              <a:t>Matières premières et bitcoin : </a:t>
            </a:r>
            <a:pPr indent="0" marL="0">
              <a:spcAft>
                <a:spcPts val="900"/>
              </a:spcAft>
              <a:buNone/>
            </a:pPr>
            <a:r>
              <a:rPr lang="en-US" sz="1350" b="1" dirty="0">
                <a:solidFill>
                  <a:srgbClr val="14304F"/>
                </a:solidFill>
                <a:latin typeface="Calibri" pitchFamily="34" charset="0"/>
                <a:ea typeface="Calibri" pitchFamily="34" charset="-122"/>
                <a:cs typeface="Calibri" pitchFamily="34" charset="-120"/>
              </a:rPr>
              <a:t>aucun amortisseur</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Les mêmes supports, mais quand ça tangue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Corrélation des variations hebdomadaires : 100 = ils font la même chose, 0 = indépendants, négatif = l'un monte quand l'autre baisse</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Séries quotidiennes en euros, octobre 2006 - septembre 2026 · crises : les quatre fenêtres datées · bitcoin écarté (cotations depuis 2014 seulement)</a:t>
            </a:r>
            <a:endParaRPr lang="en-US" sz="850" dirty="0"/>
          </a:p>
        </p:txBody>
      </p:sp>
      <p:sp>
        <p:nvSpPr>
          <p:cNvPr id="18" name="Text 16"/>
          <p:cNvSpPr txBox="1"/>
          <p:nvPr/>
        </p:nvSpPr>
        <p:spPr>
          <a:xfrm>
            <a:off x="548640" y="1389888"/>
            <a:ext cx="5394960" cy="274320"/>
          </a:xfrm>
          <a:prstGeom prst="rect">
            <a:avLst/>
          </a:prstGeom>
          <a:noFill/>
          <a:ln/>
        </p:spPr>
        <p:txBody>
          <a:bodyPr wrap="square" lIns="0" tIns="0" rIns="0" bIns="0" rtlCol="0" anchor="ctr"/>
          <a:lstStyle/>
          <a:p>
            <a:pPr indent="0" marL="0">
              <a:buNone/>
            </a:pPr>
            <a:r>
              <a:rPr lang="en-US" sz="1350" b="1" dirty="0">
                <a:solidFill>
                  <a:srgbClr val="14304F"/>
                </a:solidFill>
                <a:latin typeface="Calibri" pitchFamily="34" charset="0"/>
                <a:ea typeface="Calibri" pitchFamily="34" charset="-122"/>
                <a:cs typeface="Calibri" pitchFamily="34" charset="-120"/>
              </a:rPr>
              <a:t>Hors crise</a:t>
            </a:r>
            <a:pPr indent="0" marL="0">
              <a:buNone/>
            </a:pPr>
            <a:r>
              <a:rPr lang="en-US" sz="1100" dirty="0">
                <a:solidFill>
                  <a:srgbClr val="6B7280"/>
                </a:solidFill>
                <a:latin typeface="Calibri" pitchFamily="34" charset="0"/>
                <a:ea typeface="Calibri" pitchFamily="34" charset="-122"/>
                <a:cs typeface="Calibri" pitchFamily="34" charset="-120"/>
              </a:rPr>
              <a:t>   737 semaines</a:t>
            </a:r>
            <a:endParaRPr lang="en-US" sz="13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394960" cy="914400"/>
        </p:xfrm>
        <a:graphic>
          <a:graphicData uri="http://schemas.openxmlformats.org/drawingml/2006/table">
            <a:tbl>
              <a:tblPr/>
              <a:tblGrid>
                <a:gridCol w="1554480"/>
                <a:gridCol w="548640"/>
                <a:gridCol w="548640"/>
                <a:gridCol w="548640"/>
                <a:gridCol w="548640"/>
                <a:gridCol w="548640"/>
                <a:gridCol w="548640"/>
                <a:gridCol w="548640"/>
              </a:tblGrid>
              <a:tr h="365760">
                <a:tc>
                  <a:txBody>
                    <a:bodyPr/>
                    <a:lstStyle/>
                    <a:p>
                      <a:pP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Act.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AAA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2-10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Créd.</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Idx.</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Or</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Mat.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Poche actions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9EBE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2D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CCB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D2C4"/>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CD2"/>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AF95"/>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Échelle AAA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9EBEC"/>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9C7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9B7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C2A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C2A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DE3EB"/>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États 2-10 ans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2D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9C7C"/>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9673"/>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F7E53"/>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7C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CAD8EA"/>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Crédit court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CCB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9B7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9673"/>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59E"/>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FD6"/>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4E8EB"/>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Obligations indexées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D2C4"/>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C2A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F7E53"/>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59E"/>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7C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4DD"/>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Or</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CD2"/>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C2A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7C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FD6"/>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7CB"/>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CA6"/>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Matières premières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AF95"/>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DE3E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CAD8E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4E8E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4DD"/>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CA6"/>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bl>
          </a:graphicData>
        </a:graphic>
      </p:graphicFrame>
      <p:sp>
        <p:nvSpPr>
          <p:cNvPr id="20" name="Text 17"/>
          <p:cNvSpPr txBox="1"/>
          <p:nvPr/>
        </p:nvSpPr>
        <p:spPr>
          <a:xfrm>
            <a:off x="6245352" y="1389888"/>
            <a:ext cx="5394960" cy="274320"/>
          </a:xfrm>
          <a:prstGeom prst="rect">
            <a:avLst/>
          </a:prstGeom>
          <a:noFill/>
          <a:ln/>
        </p:spPr>
        <p:txBody>
          <a:bodyPr wrap="square" lIns="0" tIns="0" rIns="0" bIns="0" rtlCol="0" anchor="ctr"/>
          <a:lstStyle/>
          <a:p>
            <a:pPr indent="0" marL="0">
              <a:buNone/>
            </a:pPr>
            <a:r>
              <a:rPr lang="en-US" sz="1350" b="1" dirty="0">
                <a:solidFill>
                  <a:srgbClr val="14304F"/>
                </a:solidFill>
                <a:latin typeface="Calibri" pitchFamily="34" charset="0"/>
                <a:ea typeface="Calibri" pitchFamily="34" charset="-122"/>
                <a:cs typeface="Calibri" pitchFamily="34" charset="-120"/>
              </a:rPr>
              <a:t>En crise</a:t>
            </a:r>
            <a:pPr indent="0" marL="0">
              <a:buNone/>
            </a:pPr>
            <a:r>
              <a:rPr lang="en-US" sz="1100" dirty="0">
                <a:solidFill>
                  <a:srgbClr val="6B7280"/>
                </a:solidFill>
                <a:latin typeface="Calibri" pitchFamily="34" charset="0"/>
                <a:ea typeface="Calibri" pitchFamily="34" charset="-122"/>
                <a:cs typeface="Calibri" pitchFamily="34" charset="-120"/>
              </a:rPr>
              <a:t>   300 semaines</a:t>
            </a:r>
            <a:endParaRPr lang="en-US" sz="135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6245352" y="1691640"/>
          <a:ext cx="5394960" cy="914400"/>
        </p:xfrm>
        <a:graphic>
          <a:graphicData uri="http://schemas.openxmlformats.org/drawingml/2006/table">
            <a:tbl>
              <a:tblPr/>
              <a:tblGrid>
                <a:gridCol w="1554480"/>
                <a:gridCol w="548640"/>
                <a:gridCol w="548640"/>
                <a:gridCol w="548640"/>
                <a:gridCol w="548640"/>
                <a:gridCol w="548640"/>
                <a:gridCol w="548640"/>
                <a:gridCol w="548640"/>
              </a:tblGrid>
              <a:tr h="365760">
                <a:tc>
                  <a:txBody>
                    <a:bodyPr/>
                    <a:lstStyle/>
                    <a:p>
                      <a:pP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Act.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AAA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2-10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Créd.</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Idx.</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Or</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Mat.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Poche actions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BED1E9"/>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EFE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5C9"/>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7C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6DFE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59E"/>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Échelle AAA</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BED1E9"/>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E794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906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AA8E"/>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5C9"/>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1DCEA"/>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États 2-10 ans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EFE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E794B"/>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845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C6F3E"/>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1D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8E1EB"/>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Crédit court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5C9"/>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906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845B"/>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8963"/>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EAE5"/>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BECEC"/>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Obligations indexées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7C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AA8E"/>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C6F3E"/>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8963"/>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1D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4DD"/>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Or</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6DFE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D5C9"/>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1D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0EAE5"/>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1D8"/>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CA6"/>
                    </a:solidFill>
                  </a:tcPr>
                </a:tc>
              </a:tr>
              <a:tr h="36576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Matières premières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59E"/>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1DCEA"/>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8E1EB"/>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EBECEC"/>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1E4DD"/>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3BCA6"/>
                    </a:solidFill>
                  </a:tcPr>
                </a:tc>
                <a:tc>
                  <a:txBody>
                    <a:bodyPr/>
                    <a:lstStyle/>
                    <a:p>
                      <a:pPr algn="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bl>
          </a:graphicData>
        </a:graphic>
      </p:graphicFrame>
      <p:sp>
        <p:nvSpPr>
          <p:cNvPr id="22" name="Shape 18"/>
          <p:cNvSpPr/>
          <p:nvPr/>
        </p:nvSpPr>
        <p:spPr>
          <a:xfrm>
            <a:off x="548640" y="4864608"/>
            <a:ext cx="11094415" cy="1417320"/>
          </a:xfrm>
          <a:prstGeom prst="roundRect">
            <a:avLst>
              <a:gd name="adj" fmla="val 5161"/>
            </a:avLst>
          </a:prstGeom>
          <a:solidFill>
            <a:srgbClr val="F2F5F9"/>
          </a:solidFill>
          <a:ln w="12700">
            <a:solidFill>
              <a:srgbClr val="F2F5F9"/>
            </a:solidFill>
            <a:prstDash val="solid"/>
          </a:ln>
        </p:spPr>
      </p:sp>
      <p:sp>
        <p:nvSpPr>
          <p:cNvPr id="23" name="Text 19"/>
          <p:cNvSpPr txBox="1"/>
          <p:nvPr/>
        </p:nvSpPr>
        <p:spPr>
          <a:xfrm>
            <a:off x="777240" y="4983480"/>
            <a:ext cx="5257800" cy="1234440"/>
          </a:xfrm>
          <a:prstGeom prst="rect">
            <a:avLst/>
          </a:prstGeom>
          <a:noFill/>
          <a:ln/>
        </p:spPr>
        <p:txBody>
          <a:bodyPr wrap="square" lIns="0" tIns="0" rIns="0" bIns="0" rtlCol="0" anchor="t"/>
          <a:lstStyle/>
          <a:p>
            <a:pPr marL="203200" indent="-203200">
              <a:spcAft>
                <a:spcPts val="700"/>
              </a:spcAft>
              <a:buSzPct val="100000"/>
              <a:buChar char="•"/>
            </a:pPr>
            <a:r>
              <a:rPr lang="en-US" sz="1300" b="1" dirty="0">
                <a:solidFill>
                  <a:srgbClr val="14304F"/>
                </a:solidFill>
                <a:latin typeface="Calibri" pitchFamily="34" charset="0"/>
                <a:ea typeface="Calibri" pitchFamily="34" charset="-122"/>
                <a:cs typeface="Calibri" pitchFamily="34" charset="-120"/>
              </a:rPr>
              <a:t>L'échelle AAA</a:t>
            </a:r>
            <a:pPr indent="0" marL="0">
              <a:spcAft>
                <a:spcPts val="700"/>
              </a:spcAft>
              <a:buNone/>
            </a:pPr>
            <a:r>
              <a:rPr lang="en-US" sz="1300" dirty="0">
                <a:solidFill>
                  <a:srgbClr val="1F2937"/>
                </a:solidFill>
                <a:latin typeface="Calibri" pitchFamily="34" charset="0"/>
                <a:ea typeface="Calibri" pitchFamily="34" charset="-122"/>
                <a:cs typeface="Calibri" pitchFamily="34" charset="-120"/>
              </a:rPr>
              <a:t> passe de −3 à −21 face aux actions, </a:t>
            </a:r>
            <a:pPr indent="0" marL="0">
              <a:spcAft>
                <a:spcPts val="700"/>
              </a:spcAft>
              <a:buNone/>
            </a:pPr>
            <a:r>
              <a:rPr lang="en-US" sz="1300" b="1" dirty="0">
                <a:solidFill>
                  <a:srgbClr val="14304F"/>
                </a:solidFill>
                <a:latin typeface="Calibri" pitchFamily="34" charset="0"/>
                <a:ea typeface="Calibri" pitchFamily="34" charset="-122"/>
                <a:cs typeface="Calibri" pitchFamily="34" charset="-120"/>
              </a:rPr>
              <a:t>l'or</a:t>
            </a:r>
            <a:pPr indent="0" marL="0">
              <a:spcAft>
                <a:spcPts val="700"/>
              </a:spcAft>
              <a:buNone/>
            </a:pPr>
            <a:r>
              <a:rPr lang="en-US" sz="1300" dirty="0">
                <a:solidFill>
                  <a:srgbClr val="1F2937"/>
                </a:solidFill>
                <a:latin typeface="Calibri" pitchFamily="34" charset="0"/>
                <a:ea typeface="Calibri" pitchFamily="34" charset="-122"/>
                <a:cs typeface="Calibri" pitchFamily="34" charset="-120"/>
              </a:rPr>
              <a:t> de +12 à −11 : les deux amortisseurs se déclenchent au bon moment</a:t>
            </a:r>
            <a:endParaRPr lang="en-US" sz="1300" dirty="0"/>
          </a:p>
          <a:p>
            <a:pPr marL="203200" indent="-203200">
              <a:spcAft>
                <a:spcPts val="700"/>
              </a:spcAft>
              <a:buSzPct val="100000"/>
              <a:buChar char="•"/>
            </a:pPr>
            <a:r>
              <a:rPr lang="en-US" sz="1300" b="1" dirty="0">
                <a:solidFill>
                  <a:srgbClr val="14304F"/>
                </a:solidFill>
                <a:latin typeface="Calibri" pitchFamily="34" charset="0"/>
                <a:ea typeface="Calibri" pitchFamily="34" charset="-122"/>
                <a:cs typeface="Calibri" pitchFamily="34" charset="-120"/>
              </a:rPr>
              <a:t>Les matières premières</a:t>
            </a:r>
            <a:pPr indent="0" marL="0">
              <a:spcAft>
                <a:spcPts val="700"/>
              </a:spcAft>
              <a:buNone/>
            </a:pPr>
            <a:r>
              <a:rPr lang="en-US" sz="1300" dirty="0">
                <a:solidFill>
                  <a:srgbClr val="1F2937"/>
                </a:solidFill>
                <a:latin typeface="Calibri" pitchFamily="34" charset="0"/>
                <a:ea typeface="Calibri" pitchFamily="34" charset="-122"/>
                <a:cs typeface="Calibri" pitchFamily="34" charset="-120"/>
              </a:rPr>
              <a:t> restent à +36 : elles diversifient peu, d'où leur place réduite</a:t>
            </a:r>
            <a:endParaRPr lang="en-US" sz="1300" dirty="0"/>
          </a:p>
        </p:txBody>
      </p:sp>
      <p:sp>
        <p:nvSpPr>
          <p:cNvPr id="24" name="Text 20"/>
          <p:cNvSpPr txBox="1"/>
          <p:nvPr/>
        </p:nvSpPr>
        <p:spPr>
          <a:xfrm>
            <a:off x="6355080" y="4983480"/>
            <a:ext cx="5029200" cy="1234440"/>
          </a:xfrm>
          <a:prstGeom prst="rect">
            <a:avLst/>
          </a:prstGeom>
          <a:noFill/>
          <a:ln/>
        </p:spPr>
        <p:txBody>
          <a:bodyPr wrap="square" lIns="0" tIns="0" rIns="0" bIns="0" rtlCol="0" anchor="t"/>
          <a:lstStyle/>
          <a:p>
            <a:pPr marL="203200" indent="-203200">
              <a:spcAft>
                <a:spcPts val="700"/>
              </a:spcAft>
              <a:buSzPct val="100000"/>
              <a:buChar char="•"/>
            </a:pPr>
            <a:r>
              <a:rPr lang="en-US" sz="1300" b="1" dirty="0">
                <a:solidFill>
                  <a:srgbClr val="14304F"/>
                </a:solidFill>
                <a:latin typeface="Calibri" pitchFamily="34" charset="0"/>
                <a:ea typeface="Calibri" pitchFamily="34" charset="-122"/>
                <a:cs typeface="Calibri" pitchFamily="34" charset="-120"/>
              </a:rPr>
              <a:t>Le revers</a:t>
            </a:r>
            <a:pPr indent="0" marL="0">
              <a:spcAft>
                <a:spcPts val="700"/>
              </a:spcAft>
              <a:buNone/>
            </a:pPr>
            <a:r>
              <a:rPr lang="en-US" sz="1300" dirty="0">
                <a:solidFill>
                  <a:srgbClr val="1F2937"/>
                </a:solidFill>
                <a:latin typeface="Calibri" pitchFamily="34" charset="0"/>
                <a:ea typeface="Calibri" pitchFamily="34" charset="-122"/>
                <a:cs typeface="Calibri" pitchFamily="34" charset="-120"/>
              </a:rPr>
              <a:t> : entre eux, crédit court et indexées passent de +36 à +62, États courts et longs de +51 à +71</a:t>
            </a:r>
            <a:endParaRPr lang="en-US" sz="1300" dirty="0"/>
          </a:p>
          <a:p>
            <a:pPr marL="203200" indent="-2032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Le coussin </a:t>
            </a:r>
            <a:pPr indent="0" marL="0">
              <a:spcAft>
                <a:spcPts val="700"/>
              </a:spcAft>
              <a:buNone/>
            </a:pPr>
            <a:r>
              <a:rPr lang="en-US" sz="1300" b="1" dirty="0">
                <a:solidFill>
                  <a:srgbClr val="14304F"/>
                </a:solidFill>
                <a:latin typeface="Calibri" pitchFamily="34" charset="0"/>
                <a:ea typeface="Calibri" pitchFamily="34" charset="-122"/>
                <a:cs typeface="Calibri" pitchFamily="34" charset="-120"/>
              </a:rPr>
              <a:t>se resserre sur lui-même</a:t>
            </a:r>
            <a:pPr indent="0" marL="0">
              <a:spcAft>
                <a:spcPts val="700"/>
              </a:spcAft>
              <a:buNone/>
            </a:pPr>
            <a:r>
              <a:rPr lang="en-US" sz="1300" dirty="0">
                <a:solidFill>
                  <a:srgbClr val="1F2937"/>
                </a:solidFill>
                <a:latin typeface="Calibri" pitchFamily="34" charset="0"/>
                <a:ea typeface="Calibri" pitchFamily="34" charset="-122"/>
                <a:cs typeface="Calibri" pitchFamily="34" charset="-120"/>
              </a:rPr>
              <a:t> : d'où le refus de le concentrer sur une seule maturité</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calcul libre apprend le passé par cœur</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La répartition qui rapporte le plus, avec une seule exigence : jamais plus de 15 % de baisse sur 2006-2026</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graphicFrame>
        <p:nvGraphicFramePr>
          <p:cNvPr id="17" name="Chart 0" descr=""/>
          <p:cNvGraphicFramePr/>
          <p:nvPr/>
        </p:nvGraphicFramePr>
        <p:xfrm>
          <a:off x="548640" y="1463040"/>
          <a:ext cx="5760720" cy="3291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731520" y="4983480"/>
            <a:ext cx="2560320" cy="640080"/>
          </a:xfrm>
          <a:prstGeom prst="rect">
            <a:avLst/>
          </a:prstGeom>
          <a:noFill/>
          <a:ln/>
        </p:spPr>
        <p:txBody>
          <a:bodyPr wrap="square" lIns="0" tIns="0" rIns="0" bIns="0" rtlCol="0" anchor="b"/>
          <a:lstStyle/>
          <a:p>
            <a:pPr indent="0" marL="0">
              <a:buNone/>
            </a:pPr>
            <a:r>
              <a:rPr lang="en-US" sz="3400" b="1" dirty="0">
                <a:solidFill>
                  <a:srgbClr val="1BAF7A"/>
                </a:solidFill>
                <a:latin typeface="Cambria" pitchFamily="34" charset="0"/>
                <a:ea typeface="Cambria" pitchFamily="34" charset="-122"/>
                <a:cs typeface="Cambria" pitchFamily="34" charset="-120"/>
              </a:rPr>
              <a:t>6,47 %</a:t>
            </a:r>
            <a:endParaRPr lang="en-US" sz="3400" dirty="0"/>
          </a:p>
        </p:txBody>
      </p:sp>
      <p:sp>
        <p:nvSpPr>
          <p:cNvPr id="19" name="Text 16"/>
          <p:cNvSpPr txBox="1"/>
          <p:nvPr/>
        </p:nvSpPr>
        <p:spPr>
          <a:xfrm>
            <a:off x="731520" y="5641848"/>
            <a:ext cx="256032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rendement espéré, sur le papier</a:t>
            </a:r>
            <a:endParaRPr lang="en-US" sz="1200" dirty="0"/>
          </a:p>
        </p:txBody>
      </p:sp>
      <p:sp>
        <p:nvSpPr>
          <p:cNvPr id="20" name="Text 17"/>
          <p:cNvSpPr txBox="1"/>
          <p:nvPr/>
        </p:nvSpPr>
        <p:spPr>
          <a:xfrm>
            <a:off x="3566160" y="4983480"/>
            <a:ext cx="2560320" cy="640080"/>
          </a:xfrm>
          <a:prstGeom prst="rect">
            <a:avLst/>
          </a:prstGeom>
          <a:noFill/>
          <a:ln/>
        </p:spPr>
        <p:txBody>
          <a:bodyPr wrap="square" lIns="0" tIns="0" rIns="0" bIns="0" rtlCol="0" anchor="b"/>
          <a:lstStyle/>
          <a:p>
            <a:pPr indent="0" marL="0">
              <a:buNone/>
            </a:pPr>
            <a:r>
              <a:rPr lang="en-US" sz="3400" b="1" dirty="0">
                <a:solidFill>
                  <a:srgbClr val="14304F"/>
                </a:solidFill>
                <a:latin typeface="Cambria" pitchFamily="34" charset="0"/>
                <a:ea typeface="Cambria" pitchFamily="34" charset="-122"/>
                <a:cs typeface="Cambria" pitchFamily="34" charset="-120"/>
              </a:rPr>
              <a:t>−15,0 %</a:t>
            </a:r>
            <a:endParaRPr lang="en-US" sz="3400" dirty="0"/>
          </a:p>
        </p:txBody>
      </p:sp>
      <p:sp>
        <p:nvSpPr>
          <p:cNvPr id="21" name="Text 18"/>
          <p:cNvSpPr txBox="1"/>
          <p:nvPr/>
        </p:nvSpPr>
        <p:spPr>
          <a:xfrm>
            <a:off x="3566160" y="5641848"/>
            <a:ext cx="256032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pire baisse : la limite tout juste</a:t>
            </a:r>
            <a:endParaRPr lang="en-US" sz="1200" dirty="0"/>
          </a:p>
        </p:txBody>
      </p:sp>
      <p:sp>
        <p:nvSpPr>
          <p:cNvPr id="22" name="Shape 19"/>
          <p:cNvSpPr/>
          <p:nvPr/>
        </p:nvSpPr>
        <p:spPr>
          <a:xfrm>
            <a:off x="6675120" y="1463040"/>
            <a:ext cx="4965192" cy="4754880"/>
          </a:xfrm>
          <a:prstGeom prst="roundRect">
            <a:avLst>
              <a:gd name="adj" fmla="val 1538"/>
            </a:avLst>
          </a:prstGeom>
          <a:solidFill>
            <a:srgbClr val="F2F5F9"/>
          </a:solidFill>
          <a:ln w="12700">
            <a:solidFill>
              <a:srgbClr val="F2F5F9"/>
            </a:solidFill>
            <a:prstDash val="solid"/>
          </a:ln>
        </p:spPr>
      </p:sp>
      <p:sp>
        <p:nvSpPr>
          <p:cNvPr id="23" name="Text 20"/>
          <p:cNvSpPr txBox="1"/>
          <p:nvPr/>
        </p:nvSpPr>
        <p:spPr>
          <a:xfrm>
            <a:off x="6903720" y="1572768"/>
            <a:ext cx="45720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Pourquoi c'est inutilisable</a:t>
            </a:r>
            <a:endParaRPr lang="en-US" sz="1600" dirty="0"/>
          </a:p>
        </p:txBody>
      </p:sp>
      <p:sp>
        <p:nvSpPr>
          <p:cNvPr id="24" name="Text 21"/>
          <p:cNvSpPr txBox="1"/>
          <p:nvPr/>
        </p:nvSpPr>
        <p:spPr>
          <a:xfrm>
            <a:off x="6903720" y="2011680"/>
            <a:ext cx="4572000" cy="4114800"/>
          </a:xfrm>
          <a:prstGeom prst="rect">
            <a:avLst/>
          </a:prstGeom>
          <a:noFill/>
          <a:ln/>
        </p:spPr>
        <p:txBody>
          <a:bodyPr wrap="square" lIns="0" tIns="0" rIns="0" bIns="0" rtlCol="0" anchor="t"/>
          <a:lstStyle/>
          <a:p>
            <a:pPr marL="203200" indent="-203200">
              <a:spcAft>
                <a:spcPts val="1200"/>
              </a:spcAft>
              <a:buSzPct val="100000"/>
              <a:buChar char="•"/>
            </a:pPr>
            <a:r>
              <a:rPr lang="en-US" sz="1450" b="1" dirty="0">
                <a:solidFill>
                  <a:srgbClr val="14304F"/>
                </a:solidFill>
                <a:latin typeface="Calibri" pitchFamily="34" charset="0"/>
                <a:ea typeface="Calibri" pitchFamily="34" charset="-122"/>
                <a:cs typeface="Calibri" pitchFamily="34" charset="-120"/>
              </a:rPr>
              <a:t>87 % sur deux supports</a:t>
            </a:r>
            <a:pPr indent="0" marL="0">
              <a:spcAft>
                <a:spcPts val="1200"/>
              </a:spcAft>
              <a:buNone/>
            </a:pPr>
            <a:r>
              <a:rPr lang="en-US" sz="1450" dirty="0">
                <a:solidFill>
                  <a:srgbClr val="1F2937"/>
                </a:solidFill>
                <a:latin typeface="Calibri" pitchFamily="34" charset="0"/>
                <a:ea typeface="Calibri" pitchFamily="34" charset="-122"/>
                <a:cs typeface="Calibri" pitchFamily="34" charset="-120"/>
              </a:rPr>
              <a:t> : si l'un se comporte autrement qu'en 2006-2026, rien ne compense</a:t>
            </a:r>
            <a:endParaRPr lang="en-US" sz="1450" dirty="0"/>
          </a:p>
          <a:p>
            <a:pPr marL="203200" indent="-2032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Le Japon n'est pas gardé pour son rendement : ramené à 8,94 %, il reste à 28 %. Il l'est pour sa </a:t>
            </a:r>
            <a:pPr indent="0" marL="0">
              <a:spcAft>
                <a:spcPts val="1200"/>
              </a:spcAft>
              <a:buNone/>
            </a:pPr>
            <a:r>
              <a:rPr lang="en-US" sz="1450" b="1" dirty="0">
                <a:solidFill>
                  <a:srgbClr val="14304F"/>
                </a:solidFill>
                <a:latin typeface="Calibri" pitchFamily="34" charset="0"/>
                <a:ea typeface="Calibri" pitchFamily="34" charset="-122"/>
                <a:cs typeface="Calibri" pitchFamily="34" charset="-120"/>
              </a:rPr>
              <a:t>tenue en crise</a:t>
            </a:r>
            <a:pPr indent="0" marL="0">
              <a:spcAft>
                <a:spcPts val="1200"/>
              </a:spcAft>
              <a:buNone/>
            </a:pPr>
            <a:r>
              <a:rPr lang="en-US" sz="1450" dirty="0">
                <a:solidFill>
                  <a:srgbClr val="1F2937"/>
                </a:solidFill>
                <a:latin typeface="Calibri" pitchFamily="34" charset="0"/>
                <a:ea typeface="Calibri" pitchFamily="34" charset="-122"/>
                <a:cs typeface="Calibri" pitchFamily="34" charset="-120"/>
              </a:rPr>
              <a:t> (le yen refuge)</a:t>
            </a:r>
            <a:endParaRPr lang="en-US" sz="1450" dirty="0"/>
          </a:p>
          <a:p>
            <a:pPr marL="203200" indent="-2032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Les indexées : leur 2008 est </a:t>
            </a:r>
            <a:pPr indent="0" marL="0">
              <a:spcAft>
                <a:spcPts val="1200"/>
              </a:spcAft>
              <a:buNone/>
            </a:pPr>
            <a:r>
              <a:rPr lang="en-US" sz="1450" b="1" dirty="0">
                <a:solidFill>
                  <a:srgbClr val="14304F"/>
                </a:solidFill>
                <a:latin typeface="Calibri" pitchFamily="34" charset="0"/>
                <a:ea typeface="Calibri" pitchFamily="34" charset="-122"/>
                <a:cs typeface="Calibri" pitchFamily="34" charset="-120"/>
              </a:rPr>
              <a:t>flatté par le remplaçant</a:t>
            </a:r>
            <a:endParaRPr lang="en-US" sz="1450" dirty="0"/>
          </a:p>
          <a:p>
            <a:pPr marL="203200" indent="-2032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Les 10 M€ ignorés : </a:t>
            </a:r>
            <a:pPr indent="0" marL="0">
              <a:spcAft>
                <a:spcPts val="1200"/>
              </a:spcAft>
              <a:buNone/>
            </a:pPr>
            <a:r>
              <a:rPr lang="en-US" sz="1450" b="1" dirty="0">
                <a:solidFill>
                  <a:srgbClr val="14304F"/>
                </a:solidFill>
                <a:latin typeface="Calibri" pitchFamily="34" charset="0"/>
                <a:ea typeface="Calibri" pitchFamily="34" charset="-122"/>
                <a:cs typeface="Calibri" pitchFamily="34" charset="-120"/>
              </a:rPr>
              <a:t>1 %</a:t>
            </a:r>
            <a:pPr indent="0" marL="0">
              <a:spcAft>
                <a:spcPts val="1200"/>
              </a:spcAft>
              <a:buNone/>
            </a:pPr>
            <a:r>
              <a:rPr lang="en-US" sz="1450" dirty="0">
                <a:solidFill>
                  <a:srgbClr val="1F2937"/>
                </a:solidFill>
                <a:latin typeface="Calibri" pitchFamily="34" charset="0"/>
                <a:ea typeface="Calibri" pitchFamily="34" charset="-122"/>
                <a:cs typeface="Calibri" pitchFamily="34" charset="-120"/>
              </a:rPr>
              <a:t> seulement en AAA</a:t>
            </a:r>
            <a:endParaRPr lang="en-US" sz="1450" dirty="0"/>
          </a:p>
          <a:p>
            <a:pPr marL="203200" indent="-2032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L'Europe à zéro, alors que c'est la poche </a:t>
            </a:r>
            <a:pPr indent="0" marL="0">
              <a:spcAft>
                <a:spcPts val="1200"/>
              </a:spcAft>
              <a:buNone/>
            </a:pPr>
            <a:r>
              <a:rPr lang="en-US" sz="1450" b="1" dirty="0">
                <a:solidFill>
                  <a:srgbClr val="14304F"/>
                </a:solidFill>
                <a:latin typeface="Calibri" pitchFamily="34" charset="0"/>
                <a:ea typeface="Calibri" pitchFamily="34" charset="-122"/>
                <a:cs typeface="Calibri" pitchFamily="34" charset="-120"/>
              </a:rPr>
              <a:t>construite titre par titre</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Quatre règles, chacune chiffrée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On ajoute les règles une à une ; chaque ligne garde les précédentes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00800" cy="914400"/>
        </p:xfrm>
        <a:graphic>
          <a:graphicData uri="http://schemas.openxmlformats.org/drawingml/2006/table">
            <a:tbl>
              <a:tblPr/>
              <a:tblGrid>
                <a:gridCol w="2880360"/>
                <a:gridCol w="1783080"/>
                <a:gridCol w="914400"/>
                <a:gridCol w="82296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Règle</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Pourquoi</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Rendement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Coût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Calcul libre (limite de 15 % seule)</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6,47 %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 Au moins 10 % sur l'échelle AAA</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Les 10 M€ à décaisser</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6,46 %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−0,01 pt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 Actions 40 / 35 / 10 / 15</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Pas de pari sur le yen</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5,78 %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−0,68 pt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 Plafonds (indexées 15 %, or 10 %…)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Pas de concentration</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5,40 %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−0,38 pt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 Marge : pire baisse visée 14 %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Remplaçants flatteurs</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5,31 %</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−0,09 pt</a:t>
                      </a:r>
                      <a:endParaRPr lang="en-US" sz="12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graphicFrame>
        <p:nvGraphicFramePr>
          <p:cNvPr id="18" name="Chart 0" descr=""/>
          <p:cNvGraphicFramePr/>
          <p:nvPr/>
        </p:nvGraphicFramePr>
        <p:xfrm>
          <a:off x="7178040" y="1371600"/>
          <a:ext cx="4480560" cy="3749040"/>
        </p:xfrm>
        <a:graphic xmlns:a="http://schemas.openxmlformats.org/drawingml/2006/main">
          <a:graphicData uri="http://schemas.openxmlformats.org/drawingml/2006/chart">
            <c:chart xmlns:c="http://schemas.openxmlformats.org/drawingml/2006/chart" r:id="rId1"/>
          </a:graphicData>
        </a:graphic>
      </p:graphicFrame>
      <p:sp>
        <p:nvSpPr>
          <p:cNvPr id="19" name="Shape 15"/>
          <p:cNvSpPr/>
          <p:nvPr/>
        </p:nvSpPr>
        <p:spPr>
          <a:xfrm>
            <a:off x="548640" y="4572000"/>
            <a:ext cx="6400800" cy="1645920"/>
          </a:xfrm>
          <a:prstGeom prst="roundRect">
            <a:avLst>
              <a:gd name="adj" fmla="val 4444"/>
            </a:avLst>
          </a:prstGeom>
          <a:solidFill>
            <a:srgbClr val="14304F"/>
          </a:solidFill>
          <a:ln w="12700">
            <a:solidFill>
              <a:srgbClr val="14304F"/>
            </a:solidFill>
            <a:prstDash val="solid"/>
          </a:ln>
        </p:spPr>
      </p:sp>
      <p:sp>
        <p:nvSpPr>
          <p:cNvPr id="20" name="Text 16"/>
          <p:cNvSpPr txBox="1"/>
          <p:nvPr/>
        </p:nvSpPr>
        <p:spPr>
          <a:xfrm>
            <a:off x="777240" y="4709160"/>
            <a:ext cx="5943600" cy="13716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 plus chère : </a:t>
            </a:r>
            <a:pPr indent="0" marL="0">
              <a:buNone/>
            </a:pPr>
            <a:r>
              <a:rPr lang="en-US" sz="1400" b="1" dirty="0">
                <a:solidFill>
                  <a:srgbClr val="F5C969"/>
                </a:solidFill>
                <a:latin typeface="Calibri" pitchFamily="34" charset="0"/>
                <a:ea typeface="Calibri" pitchFamily="34" charset="-122"/>
                <a:cs typeface="Calibri" pitchFamily="34" charset="-120"/>
              </a:rPr>
              <a:t>la clé des actions</a:t>
            </a:r>
            <a:pPr indent="0" marL="0">
              <a:buNone/>
            </a:pPr>
            <a:r>
              <a:rPr lang="en-US" sz="1400" dirty="0">
                <a:solidFill>
                  <a:srgbClr val="FFFFFF"/>
                </a:solidFill>
                <a:latin typeface="Calibri" pitchFamily="34" charset="0"/>
                <a:ea typeface="Calibri" pitchFamily="34" charset="-122"/>
                <a:cs typeface="Calibri" pitchFamily="34" charset="-120"/>
              </a:rPr>
              <a:t> (−0,68 pt). Coût total des règles : </a:t>
            </a:r>
            <a:pPr indent="0" marL="0">
              <a:buNone/>
            </a:pPr>
            <a:r>
              <a:rPr lang="en-US" sz="1400" b="1" dirty="0">
                <a:solidFill>
                  <a:srgbClr val="F5C969"/>
                </a:solidFill>
                <a:latin typeface="Calibri" pitchFamily="34" charset="0"/>
                <a:ea typeface="Calibri" pitchFamily="34" charset="-122"/>
                <a:cs typeface="Calibri" pitchFamily="34" charset="-120"/>
              </a:rPr>
              <a:t>−1,17 pt</a:t>
            </a:r>
            <a:pPr indent="0" marL="0">
              <a:buNone/>
            </a:pPr>
            <a:r>
              <a:rPr lang="en-US" sz="1400" dirty="0">
                <a:solidFill>
                  <a:srgbClr val="FFFFFF"/>
                </a:solidFill>
                <a:latin typeface="Calibri" pitchFamily="34" charset="0"/>
                <a:ea typeface="Calibri" pitchFamily="34" charset="-122"/>
                <a:cs typeface="Calibri" pitchFamily="34" charset="-120"/>
              </a:rPr>
              <a:t> — le prix pour ne pas miser sur un passé appris par cœur.</a:t>
            </a:r>
            <a:endParaRPr lang="en-US" sz="1400" dirty="0"/>
          </a:p>
        </p:txBody>
      </p:sp>
      <p:sp>
        <p:nvSpPr>
          <p:cNvPr id="21" name="Text 17"/>
          <p:cNvSpPr txBox="1"/>
          <p:nvPr/>
        </p:nvSpPr>
        <p:spPr>
          <a:xfrm>
            <a:off x="7178040" y="5193792"/>
            <a:ext cx="4480560" cy="1143000"/>
          </a:xfrm>
          <a:prstGeom prst="rect">
            <a:avLst/>
          </a:prstGeom>
          <a:noFill/>
          <a:ln/>
        </p:spPr>
        <p:txBody>
          <a:bodyPr wrap="square" lIns="0" tIns="0" rIns="0" bIns="0" rtlCol="0" anchor="t"/>
          <a:lstStyle/>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Crédit et matières premières restent </a:t>
            </a:r>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à zéro</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 le crédit rapporte moins que les États, les matières premières baissent avec les actions. </a:t>
            </a:r>
            <a:pPr indent="0" marL="0">
              <a:spcAft>
                <a:spcPts val="600"/>
              </a:spcAft>
              <a:buNone/>
            </a:pPr>
            <a:r>
              <a:rPr lang="en-US" sz="1100" b="1" dirty="0">
                <a:solidFill>
                  <a:srgbClr val="14304F"/>
                </a:solidFill>
                <a:latin typeface="Calibri" pitchFamily="34" charset="0"/>
                <a:ea typeface="Calibri" pitchFamily="34" charset="-122"/>
                <a:cs typeface="Calibri" pitchFamily="34" charset="-120"/>
              </a:rPr>
              <a:t>L'or s'arrête à 3,3 %</a:t>
            </a:r>
            <a:pPr indent="0" marL="0">
              <a:spcAft>
                <a:spcPts val="600"/>
              </a:spcAft>
              <a:buNone/>
            </a:pPr>
            <a:r>
              <a:rPr lang="en-US" sz="1100" dirty="0">
                <a:solidFill>
                  <a:srgbClr val="1F2937"/>
                </a:solidFill>
                <a:latin typeface="Calibri" pitchFamily="34" charset="0"/>
                <a:ea typeface="Calibri" pitchFamily="34" charset="-122"/>
                <a:cs typeface="Calibri" pitchFamily="34" charset="-120"/>
              </a:rPr>
              <a:t> alors que son plafond est à 10 % : personne ne l'a fixé à ce niveau, c'est tout ce que le calcul en veut.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portefeuille retenu</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Rééquilibré chaque mois · les actions portent l'objectif, les obligations tiennent la limite</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graphicFrame>
        <p:nvGraphicFramePr>
          <p:cNvPr id="17" name="Chart 0" descr=""/>
          <p:cNvGraphicFramePr/>
          <p:nvPr/>
        </p:nvGraphicFramePr>
        <p:xfrm>
          <a:off x="548640" y="1371600"/>
          <a:ext cx="4754880" cy="48920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5760720" y="1463040"/>
            <a:ext cx="2834640" cy="640080"/>
          </a:xfrm>
          <a:prstGeom prst="rect">
            <a:avLst/>
          </a:prstGeom>
          <a:noFill/>
          <a:ln/>
        </p:spPr>
        <p:txBody>
          <a:bodyPr wrap="square" lIns="0" tIns="0" rIns="0" bIns="0" rtlCol="0" anchor="b"/>
          <a:lstStyle/>
          <a:p>
            <a:pPr indent="0" marL="0">
              <a:buNone/>
            </a:pPr>
            <a:r>
              <a:rPr lang="en-US" sz="4000" b="1" dirty="0">
                <a:solidFill>
                  <a:srgbClr val="1BAF7A"/>
                </a:solidFill>
                <a:latin typeface="Cambria" pitchFamily="34" charset="0"/>
                <a:ea typeface="Cambria" pitchFamily="34" charset="-122"/>
                <a:cs typeface="Cambria" pitchFamily="34" charset="-120"/>
              </a:rPr>
              <a:t>4,86 %</a:t>
            </a:r>
            <a:endParaRPr lang="en-US" sz="4000" dirty="0"/>
          </a:p>
        </p:txBody>
      </p:sp>
      <p:sp>
        <p:nvSpPr>
          <p:cNvPr id="19" name="Text 16"/>
          <p:cNvSpPr txBox="1"/>
          <p:nvPr/>
        </p:nvSpPr>
        <p:spPr>
          <a:xfrm>
            <a:off x="5760720" y="2121408"/>
            <a:ext cx="28346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rendement espéré NET de frais</a:t>
            </a:r>
            <a:endParaRPr lang="en-US" sz="1200" dirty="0"/>
          </a:p>
        </p:txBody>
      </p:sp>
      <p:sp>
        <p:nvSpPr>
          <p:cNvPr id="20" name="Text 17"/>
          <p:cNvSpPr txBox="1"/>
          <p:nvPr/>
        </p:nvSpPr>
        <p:spPr>
          <a:xfrm>
            <a:off x="8778240" y="1463040"/>
            <a:ext cx="2834640" cy="640080"/>
          </a:xfrm>
          <a:prstGeom prst="rect">
            <a:avLst/>
          </a:prstGeom>
          <a:noFill/>
          <a:ln/>
        </p:spPr>
        <p:txBody>
          <a:bodyPr wrap="square" lIns="0" tIns="0" rIns="0" bIns="0" rtlCol="0" anchor="b"/>
          <a:lstStyle/>
          <a:p>
            <a:pPr indent="0" marL="0">
              <a:buNone/>
            </a:pPr>
            <a:r>
              <a:rPr lang="en-US" sz="4000" b="1" dirty="0">
                <a:solidFill>
                  <a:srgbClr val="14304F"/>
                </a:solidFill>
                <a:latin typeface="Cambria" pitchFamily="34" charset="0"/>
                <a:ea typeface="Cambria" pitchFamily="34" charset="-122"/>
                <a:cs typeface="Cambria" pitchFamily="34" charset="-120"/>
              </a:rPr>
              <a:t>+0,86 pt</a:t>
            </a:r>
            <a:endParaRPr lang="en-US" sz="4000" dirty="0"/>
          </a:p>
        </p:txBody>
      </p:sp>
      <p:sp>
        <p:nvSpPr>
          <p:cNvPr id="21" name="Text 18"/>
          <p:cNvSpPr txBox="1"/>
          <p:nvPr/>
        </p:nvSpPr>
        <p:spPr>
          <a:xfrm>
            <a:off x="8778240" y="2121408"/>
            <a:ext cx="28346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au-dessus des 4 % d'inflation</a:t>
            </a:r>
            <a:endParaRPr lang="en-US" sz="1200" dirty="0"/>
          </a:p>
        </p:txBody>
      </p:sp>
      <p:sp>
        <p:nvSpPr>
          <p:cNvPr id="22" name="Text 19"/>
          <p:cNvSpPr txBox="1"/>
          <p:nvPr/>
        </p:nvSpPr>
        <p:spPr>
          <a:xfrm>
            <a:off x="5760720" y="2926080"/>
            <a:ext cx="2834640" cy="640080"/>
          </a:xfrm>
          <a:prstGeom prst="rect">
            <a:avLst/>
          </a:prstGeom>
          <a:noFill/>
          <a:ln/>
        </p:spPr>
        <p:txBody>
          <a:bodyPr wrap="square" lIns="0" tIns="0" rIns="0" bIns="0" rtlCol="0" anchor="b"/>
          <a:lstStyle/>
          <a:p>
            <a:pPr indent="0" marL="0">
              <a:buNone/>
            </a:pPr>
            <a:r>
              <a:rPr lang="en-US" sz="4000" b="1" dirty="0">
                <a:solidFill>
                  <a:srgbClr val="C2410C"/>
                </a:solidFill>
                <a:latin typeface="Cambria" pitchFamily="34" charset="0"/>
                <a:ea typeface="Cambria" pitchFamily="34" charset="-122"/>
                <a:cs typeface="Cambria" pitchFamily="34" charset="-120"/>
              </a:rPr>
              <a:t>−14,0 %</a:t>
            </a:r>
            <a:endParaRPr lang="en-US" sz="4000" dirty="0"/>
          </a:p>
        </p:txBody>
      </p:sp>
      <p:sp>
        <p:nvSpPr>
          <p:cNvPr id="23" name="Text 20"/>
          <p:cNvSpPr txBox="1"/>
          <p:nvPr/>
        </p:nvSpPr>
        <p:spPr>
          <a:xfrm>
            <a:off x="5760720" y="3584448"/>
            <a:ext cx="28346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pire baisse depuis le plus haut (2008 et 2020)</a:t>
            </a:r>
            <a:endParaRPr lang="en-US" sz="1200" dirty="0"/>
          </a:p>
        </p:txBody>
      </p:sp>
      <p:sp>
        <p:nvSpPr>
          <p:cNvPr id="24" name="Text 21"/>
          <p:cNvSpPr txBox="1"/>
          <p:nvPr/>
        </p:nvSpPr>
        <p:spPr>
          <a:xfrm>
            <a:off x="8778240" y="2926080"/>
            <a:ext cx="2834640" cy="640080"/>
          </a:xfrm>
          <a:prstGeom prst="rect">
            <a:avLst/>
          </a:prstGeom>
          <a:noFill/>
          <a:ln/>
        </p:spPr>
        <p:txBody>
          <a:bodyPr wrap="square" lIns="0" tIns="0" rIns="0" bIns="0" rtlCol="0" anchor="b"/>
          <a:lstStyle/>
          <a:p>
            <a:pPr indent="0" marL="0">
              <a:buNone/>
            </a:pPr>
            <a:r>
              <a:rPr lang="en-US" sz="4000" b="1" dirty="0">
                <a:solidFill>
                  <a:srgbClr val="2A78D6"/>
                </a:solidFill>
                <a:latin typeface="Cambria" pitchFamily="34" charset="0"/>
                <a:ea typeface="Cambria" pitchFamily="34" charset="-122"/>
                <a:cs typeface="Cambria" pitchFamily="34" charset="-120"/>
              </a:rPr>
              <a:t>48 %</a:t>
            </a:r>
            <a:endParaRPr lang="en-US" sz="4000" dirty="0"/>
          </a:p>
        </p:txBody>
      </p:sp>
      <p:sp>
        <p:nvSpPr>
          <p:cNvPr id="25" name="Text 22"/>
          <p:cNvSpPr txBox="1"/>
          <p:nvPr/>
        </p:nvSpPr>
        <p:spPr>
          <a:xfrm>
            <a:off x="8778240" y="3584448"/>
            <a:ext cx="283464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du rendement vient des actions, qui ne font que 30 % du patrimoine</a:t>
            </a:r>
            <a:endParaRPr lang="en-US" sz="1200" dirty="0"/>
          </a:p>
        </p:txBody>
      </p:sp>
      <p:sp>
        <p:nvSpPr>
          <p:cNvPr id="26" name="Shape 23"/>
          <p:cNvSpPr/>
          <p:nvPr/>
        </p:nvSpPr>
        <p:spPr>
          <a:xfrm>
            <a:off x="5760720" y="4526280"/>
            <a:ext cx="5879592" cy="1691640"/>
          </a:xfrm>
          <a:prstGeom prst="roundRect">
            <a:avLst>
              <a:gd name="adj" fmla="val 4324"/>
            </a:avLst>
          </a:prstGeom>
          <a:solidFill>
            <a:srgbClr val="14304F"/>
          </a:solidFill>
          <a:ln w="12700">
            <a:solidFill>
              <a:srgbClr val="14304F"/>
            </a:solidFill>
            <a:prstDash val="solid"/>
          </a:ln>
        </p:spPr>
      </p:sp>
      <p:sp>
        <p:nvSpPr>
          <p:cNvPr id="27" name="Text 24"/>
          <p:cNvSpPr txBox="1"/>
          <p:nvPr/>
        </p:nvSpPr>
        <p:spPr>
          <a:xfrm>
            <a:off x="5989320" y="4663440"/>
            <a:ext cx="5422392" cy="14173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Les deux exigences du client sont tenues : </a:t>
            </a:r>
            <a:pPr indent="0" marL="0">
              <a:buNone/>
            </a:pPr>
            <a:r>
              <a:rPr lang="en-US" sz="1500" b="1" dirty="0">
                <a:solidFill>
                  <a:srgbClr val="F5C969"/>
                </a:solidFill>
                <a:latin typeface="Calibri" pitchFamily="34" charset="0"/>
                <a:ea typeface="Calibri" pitchFamily="34" charset="-122"/>
                <a:cs typeface="Calibri" pitchFamily="34" charset="-120"/>
              </a:rPr>
              <a:t>4,86 % nets espérés</a:t>
            </a:r>
            <a:pPr indent="0" marL="0">
              <a:buNone/>
            </a:pPr>
            <a:r>
              <a:rPr lang="en-US" sz="1500" dirty="0">
                <a:solidFill>
                  <a:srgbClr val="FFFFFF"/>
                </a:solidFill>
                <a:latin typeface="Calibri" pitchFamily="34" charset="0"/>
                <a:ea typeface="Calibri" pitchFamily="34" charset="-122"/>
                <a:cs typeface="Calibri" pitchFamily="34" charset="-120"/>
              </a:rPr>
              <a:t> contre 4 % à battre, et </a:t>
            </a:r>
            <a:pPr indent="0" marL="0">
              <a:buNone/>
            </a:pPr>
            <a:r>
              <a:rPr lang="en-US" sz="1500" b="1" dirty="0">
                <a:solidFill>
                  <a:srgbClr val="F5C969"/>
                </a:solidFill>
                <a:latin typeface="Calibri" pitchFamily="34" charset="0"/>
                <a:ea typeface="Calibri" pitchFamily="34" charset="-122"/>
                <a:cs typeface="Calibri" pitchFamily="34" charset="-120"/>
              </a:rPr>
              <a:t>jamais plus de 14 % de baisse</a:t>
            </a:r>
            <a:pPr indent="0" marL="0">
              <a:buNone/>
            </a:pPr>
            <a:r>
              <a:rPr lang="en-US" sz="1500" dirty="0">
                <a:solidFill>
                  <a:srgbClr val="FFFFFF"/>
                </a:solidFill>
                <a:latin typeface="Calibri" pitchFamily="34" charset="0"/>
                <a:ea typeface="Calibri" pitchFamily="34" charset="-122"/>
                <a:cs typeface="Calibri" pitchFamily="34" charset="-120"/>
              </a:rPr>
              <a:t> dans les crises des vingt dernières années.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C98A1B"/>
          </a:solidFill>
          <a:ln w="12700">
            <a:solidFill>
              <a:srgbClr val="C98A1B"/>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E3E6EA"/>
          </a:solidFill>
          <a:ln w="12700">
            <a:solidFill>
              <a:srgbClr val="E3E6EA"/>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Le portefeuille en millions d'euros</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100 M€, support par support</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Frais des fonds : 47 k€ par an (0,05 % du patrimoine) · frais de mandat 0,40 % · aucune ligne ne dépasse 1 % de son fonds</a:t>
            </a:r>
            <a:endParaRPr lang="en-US" sz="8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2743200"/>
                <a:gridCol w="2011680"/>
                <a:gridCol w="960120"/>
                <a:gridCol w="731520"/>
                <a:gridCol w="114300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Ligne</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Support</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Montant</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Poids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Rendement espéré</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429768">
                <a:tc>
                  <a:txBody>
                    <a:bodyPr/>
                    <a:lstStyle/>
                    <a:p>
                      <a:pPr indent="0" marL="0">
                        <a:buNone/>
                      </a:pPr>
                      <a:r>
                        <a:rPr lang="en-US" sz="1300" dirty="0">
                          <a:solidFill>
                            <a:srgbClr val="2A78D6"/>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Actions européennes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15 titres en direct</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12,2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12,2 %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9,23 %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29768">
                <a:tc>
                  <a:txBody>
                    <a:bodyPr/>
                    <a:lstStyle/>
                    <a:p>
                      <a:pPr indent="0" marL="0">
                        <a:buNone/>
                      </a:pPr>
                      <a:r>
                        <a:rPr lang="en-US" sz="1300" dirty="0">
                          <a:solidFill>
                            <a:srgbClr val="2A78D6"/>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Actions américaines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XZMU</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10,6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10,6 %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7,19 %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29768">
                <a:tc>
                  <a:txBody>
                    <a:bodyPr/>
                    <a:lstStyle/>
                    <a:p>
                      <a:pPr indent="0" marL="0">
                        <a:buNone/>
                      </a:pPr>
                      <a:r>
                        <a:rPr lang="en-US" sz="1300" dirty="0">
                          <a:solidFill>
                            <a:srgbClr val="2A78D6"/>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Actions japonaises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XZMJ</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3,0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3,0 %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9,44 %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29768">
                <a:tc>
                  <a:txBody>
                    <a:bodyPr/>
                    <a:lstStyle/>
                    <a:p>
                      <a:pPr indent="0" marL="0">
                        <a:buNone/>
                      </a:pPr>
                      <a:r>
                        <a:rPr lang="en-US" sz="1300" dirty="0">
                          <a:solidFill>
                            <a:srgbClr val="2A78D6"/>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Actions émergentes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XZEM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4,6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4,6 %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8,40 %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29768">
                <a:tc>
                  <a:txBody>
                    <a:bodyPr/>
                    <a:lstStyle/>
                    <a:p>
                      <a:pPr indent="0" marL="0">
                        <a:buNone/>
                      </a:pPr>
                      <a:r>
                        <a:rPr lang="en-US" sz="1300" dirty="0">
                          <a:solidFill>
                            <a:srgbClr val="EB6834"/>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Échelle AAA, 6 à 24 mois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 obligations en direct</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10,0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3,03 %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29768">
                <a:tc>
                  <a:txBody>
                    <a:bodyPr/>
                    <a:lstStyle/>
                    <a:p>
                      <a:pPr indent="0" marL="0">
                        <a:buNone/>
                      </a:pPr>
                      <a:r>
                        <a:rPr lang="en-US" sz="1300" dirty="0">
                          <a:solidFill>
                            <a:srgbClr val="EB6834"/>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Échelle zone euro, 2 à 10 ans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5 obligations en direct</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41,3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41,3 %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3,63 %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29768">
                <a:tc>
                  <a:txBody>
                    <a:bodyPr/>
                    <a:lstStyle/>
                    <a:p>
                      <a:pPr indent="0" marL="0">
                        <a:buNone/>
                      </a:pPr>
                      <a:r>
                        <a:rPr lang="en-US" sz="1300" dirty="0">
                          <a:solidFill>
                            <a:srgbClr val="1BAF7A"/>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Obligations indexées</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IBCI</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15,0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15,0 %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5,43 %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29768">
                <a:tc>
                  <a:txBody>
                    <a:bodyPr/>
                    <a:lstStyle/>
                    <a:p>
                      <a:pPr indent="0" marL="0">
                        <a:buNone/>
                      </a:pPr>
                      <a:r>
                        <a:rPr lang="en-US" sz="1300" dirty="0">
                          <a:solidFill>
                            <a:srgbClr val="EDA100"/>
                          </a:solidFill>
                          <a:latin typeface="Calibri" pitchFamily="34" charset="0"/>
                          <a:ea typeface="Calibri" pitchFamily="34" charset="-122"/>
                          <a:cs typeface="Calibri" pitchFamily="34" charset="-120"/>
                        </a:rPr>
                        <a:t>■  </a:t>
                      </a:r>
                      <a:pPr indent="0" marL="0">
                        <a:buNone/>
                      </a:pPr>
                      <a:r>
                        <a:rPr lang="en-US" sz="1300" dirty="0">
                          <a:solidFill>
                            <a:srgbClr val="1F2937"/>
                          </a:solidFill>
                          <a:latin typeface="Calibri" pitchFamily="34" charset="0"/>
                          <a:ea typeface="Calibri" pitchFamily="34" charset="-122"/>
                          <a:cs typeface="Calibri" pitchFamily="34" charset="-120"/>
                        </a:rPr>
                        <a:t>Or</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4GLD</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3,3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3,3 %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4,00 %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2976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100,0 M€</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5,31 %</a:t>
                      </a:r>
                      <a:endParaRPr lang="en-US" sz="13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9" name="Text 16"/>
          <p:cNvSpPr txBox="1"/>
          <p:nvPr/>
        </p:nvSpPr>
        <p:spPr>
          <a:xfrm>
            <a:off x="8458200" y="1463040"/>
            <a:ext cx="3200400" cy="4754880"/>
          </a:xfrm>
          <a:prstGeom prst="rect">
            <a:avLst/>
          </a:prstGeom>
          <a:noFill/>
          <a:ln/>
        </p:spPr>
        <p:txBody>
          <a:bodyPr wrap="square" lIns="0" tIns="0" rIns="0" bIns="0" rtlCol="0" anchor="t"/>
          <a:lstStyle/>
          <a:p>
            <a:pPr marL="203200" indent="-203200">
              <a:spcAft>
                <a:spcPts val="900"/>
              </a:spcAft>
              <a:buSzPct val="100000"/>
              <a:buChar char="•"/>
            </a:pPr>
            <a:r>
              <a:rPr lang="en-US" sz="1300" b="1" dirty="0">
                <a:solidFill>
                  <a:srgbClr val="14304F"/>
                </a:solidFill>
                <a:latin typeface="Calibri" pitchFamily="34" charset="0"/>
                <a:ea typeface="Calibri" pitchFamily="34" charset="-122"/>
                <a:cs typeface="Calibri" pitchFamily="34" charset="-120"/>
              </a:rPr>
              <a:t>15 actions européennes</a:t>
            </a:r>
            <a:pPr indent="0" marL="0">
              <a:spcAft>
                <a:spcPts val="900"/>
              </a:spcAft>
              <a:buNone/>
            </a:pPr>
            <a:r>
              <a:rPr lang="en-US" sz="1300" dirty="0">
                <a:solidFill>
                  <a:srgbClr val="1F2937"/>
                </a:solidFill>
                <a:latin typeface="Calibri" pitchFamily="34" charset="0"/>
                <a:ea typeface="Calibri" pitchFamily="34" charset="-122"/>
                <a:cs typeface="Calibri" pitchFamily="34" charset="-120"/>
              </a:rPr>
              <a:t> à 0,81 M€ chacune</a:t>
            </a:r>
            <a:endParaRPr lang="en-US" sz="1300" dirty="0"/>
          </a:p>
          <a:p>
            <a:pPr marL="203200" indent="-203200">
              <a:spcAft>
                <a:spcPts val="900"/>
              </a:spcAft>
              <a:buSzPct val="100000"/>
              <a:buChar char="•"/>
            </a:pPr>
            <a:r>
              <a:rPr lang="en-US" sz="1300" b="1" dirty="0">
                <a:solidFill>
                  <a:srgbClr val="14304F"/>
                </a:solidFill>
                <a:latin typeface="Calibri" pitchFamily="34" charset="0"/>
                <a:ea typeface="Calibri" pitchFamily="34" charset="-122"/>
                <a:cs typeface="Calibri" pitchFamily="34" charset="-120"/>
              </a:rPr>
              <a:t>Échelle AAA</a:t>
            </a:r>
            <a:pPr indent="0" marL="0">
              <a:spcAft>
                <a:spcPts val="900"/>
              </a:spcAft>
              <a:buNone/>
            </a:pPr>
            <a:r>
              <a:rPr lang="en-US" sz="1300" dirty="0">
                <a:solidFill>
                  <a:srgbClr val="1F2937"/>
                </a:solidFill>
                <a:latin typeface="Calibri" pitchFamily="34" charset="0"/>
                <a:ea typeface="Calibri" pitchFamily="34" charset="-122"/>
                <a:cs typeface="Calibri" pitchFamily="34" charset="-120"/>
              </a:rPr>
              <a:t> : 10,0 M€ investis, qui rendront les 10 M€ avec une petite réserve</a:t>
            </a:r>
            <a:endParaRPr lang="en-US" sz="1300" dirty="0"/>
          </a:p>
          <a:p>
            <a:pPr marL="203200" indent="-203200">
              <a:spcAft>
                <a:spcPts val="900"/>
              </a:spcAft>
              <a:buSzPct val="100000"/>
              <a:buChar char="•"/>
            </a:pPr>
            <a:r>
              <a:rPr lang="en-US" sz="1300" b="1" dirty="0">
                <a:solidFill>
                  <a:srgbClr val="14304F"/>
                </a:solidFill>
                <a:latin typeface="Calibri" pitchFamily="34" charset="0"/>
                <a:ea typeface="Calibri" pitchFamily="34" charset="-122"/>
                <a:cs typeface="Calibri" pitchFamily="34" charset="-120"/>
              </a:rPr>
              <a:t>Échelle 2-10 ans</a:t>
            </a:r>
            <a:pPr indent="0" marL="0">
              <a:spcAft>
                <a:spcPts val="900"/>
              </a:spcAft>
              <a:buNone/>
            </a:pPr>
            <a:r>
              <a:rPr lang="en-US" sz="1300" dirty="0">
                <a:solidFill>
                  <a:srgbClr val="1F2937"/>
                </a:solidFill>
                <a:latin typeface="Calibri" pitchFamily="34" charset="0"/>
                <a:ea typeface="Calibri" pitchFamily="34" charset="-122"/>
                <a:cs typeface="Calibri" pitchFamily="34" charset="-120"/>
              </a:rPr>
              <a:t> : 5 × 8,26 M€</a:t>
            </a:r>
            <a:endParaRPr lang="en-US" sz="1300" dirty="0"/>
          </a:p>
          <a:p>
            <a:pPr marL="203200" indent="-203200">
              <a:spcAft>
                <a:spcPts val="900"/>
              </a:spcAft>
              <a:buSzPct val="100000"/>
              <a:buChar char="•"/>
            </a:pPr>
            <a:r>
              <a:rPr lang="en-US" sz="1300" b="1" dirty="0">
                <a:solidFill>
                  <a:srgbClr val="14304F"/>
                </a:solidFill>
                <a:latin typeface="Calibri" pitchFamily="34" charset="0"/>
                <a:ea typeface="Calibri" pitchFamily="34" charset="-122"/>
                <a:cs typeface="Calibri" pitchFamily="34" charset="-120"/>
              </a:rPr>
              <a:t>Fonds</a:t>
            </a:r>
            <a:pPr indent="0" marL="0">
              <a:spcAft>
                <a:spcPts val="900"/>
              </a:spcAft>
              <a:buNone/>
            </a:pPr>
            <a:r>
              <a:rPr lang="en-US" sz="1300" dirty="0">
                <a:solidFill>
                  <a:srgbClr val="1F2937"/>
                </a:solidFill>
                <a:latin typeface="Calibri" pitchFamily="34" charset="0"/>
                <a:ea typeface="Calibri" pitchFamily="34" charset="-122"/>
                <a:cs typeface="Calibri" pitchFamily="34" charset="-120"/>
              </a:rPr>
              <a:t> : XZMU, XZMJ, XZEM, IBCI, Xetra-Gold</a:t>
            </a:r>
            <a:endParaRPr lang="en-US" sz="1300" dirty="0"/>
          </a:p>
          <a:p>
            <a:pPr marL="203200" indent="-2032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Réalisé 2006-2026 : </a:t>
            </a:r>
            <a:pPr indent="0" marL="0">
              <a:spcAft>
                <a:spcPts val="900"/>
              </a:spcAft>
              <a:buNone/>
            </a:pPr>
            <a:r>
              <a:rPr lang="en-US" sz="1300" b="1" dirty="0">
                <a:solidFill>
                  <a:srgbClr val="14304F"/>
                </a:solidFill>
                <a:latin typeface="Calibri" pitchFamily="34" charset="0"/>
                <a:ea typeface="Calibri" pitchFamily="34" charset="-122"/>
                <a:cs typeface="Calibri" pitchFamily="34" charset="-120"/>
              </a:rPr>
              <a:t>4,47 % par an</a:t>
            </a:r>
            <a:pPr indent="0" marL="0">
              <a:spcAft>
                <a:spcPts val="900"/>
              </a:spcAft>
              <a:buNone/>
            </a:pPr>
            <a:r>
              <a:rPr lang="en-US" sz="1300" dirty="0">
                <a:solidFill>
                  <a:srgbClr val="1F2937"/>
                </a:solidFill>
                <a:latin typeface="Calibri" pitchFamily="34" charset="0"/>
                <a:ea typeface="Calibri" pitchFamily="34" charset="-122"/>
                <a:cs typeface="Calibri" pitchFamily="34" charset="-120"/>
              </a:rPr>
              <a:t> (dix ans de taux négatifs inclus)</a:t>
            </a:r>
            <a:endParaRPr lang="en-US" sz="1300" dirty="0"/>
          </a:p>
          <a:p>
            <a:pPr marL="203200" indent="-2032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Rendement espéré </a:t>
            </a:r>
            <a:pPr indent="0" marL="0">
              <a:spcAft>
                <a:spcPts val="900"/>
              </a:spcAft>
              <a:buNone/>
            </a:pPr>
            <a:r>
              <a:rPr lang="en-US" sz="1300" b="1" dirty="0">
                <a:solidFill>
                  <a:srgbClr val="14304F"/>
                </a:solidFill>
                <a:latin typeface="Calibri" pitchFamily="34" charset="0"/>
                <a:ea typeface="Calibri" pitchFamily="34" charset="-122"/>
                <a:cs typeface="Calibri" pitchFamily="34" charset="-120"/>
              </a:rPr>
              <a:t>net de frais : 4,86 %</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463040"/>
          </a:xfrm>
          <a:prstGeom prst="rect">
            <a:avLst/>
          </a:prstGeom>
          <a:noFill/>
          <a:ln/>
        </p:spPr>
        <p:txBody>
          <a:bodyPr wrap="square" lIns="0" tIns="0" rIns="0" bIns="0" rtlCol="0" anchor="ctr"/>
          <a:lstStyle/>
          <a:p>
            <a:pPr indent="0" marL="0">
              <a:buNone/>
            </a:pPr>
            <a:r>
              <a:rPr lang="en-US" sz="11000" b="1" dirty="0">
                <a:solidFill>
                  <a:srgbClr val="C98A1B"/>
                </a:solidFill>
                <a:latin typeface="Cambria" pitchFamily="34" charset="0"/>
                <a:ea typeface="Cambria" pitchFamily="34" charset="-122"/>
                <a:cs typeface="Cambria" pitchFamily="34" charset="-120"/>
              </a:rPr>
              <a:t>5</a:t>
            </a:r>
            <a:endParaRPr lang="en-US" sz="11000" dirty="0"/>
          </a:p>
        </p:txBody>
      </p:sp>
      <p:sp>
        <p:nvSpPr>
          <p:cNvPr id="3" name="Text 1"/>
          <p:cNvSpPr txBox="1"/>
          <p:nvPr/>
        </p:nvSpPr>
        <p:spPr>
          <a:xfrm>
            <a:off x="548640" y="297180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Backtests</a:t>
            </a:r>
            <a:endParaRPr lang="en-US" sz="4000" dirty="0"/>
          </a:p>
        </p:txBody>
      </p:sp>
      <p:sp>
        <p:nvSpPr>
          <p:cNvPr id="4" name="Text 2"/>
          <p:cNvSpPr txBox="1"/>
          <p:nvPr/>
        </p:nvSpPr>
        <p:spPr>
          <a:xfrm>
            <a:off x="548640" y="3977640"/>
            <a:ext cx="8686800" cy="109728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Le portefeuille rejoué de 2006 à aujourd'hui : combien de temps sous l'eau, et à quoi ressemble une mauvaise année</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C98A1B"/>
          </a:solidFill>
          <a:ln w="12700">
            <a:solidFill>
              <a:srgbClr val="C98A1B"/>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100 M€ en 2006 : 239 M€ aujourd'hui</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Le portefeuille retenu, rééquilibré chaque mois, d'octobre 2006 à septembre 2026</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Séries de l'étape 4 · la limite de −14 % a été imposée sur ces mêmes données : sa tenue est acquise d'avance · inflation zone euro constatée : FRED, IPCH, 53,5 % cumulés sur la période</a:t>
            </a:r>
            <a:endParaRPr lang="en-US" sz="850" dirty="0"/>
          </a:p>
        </p:txBody>
      </p:sp>
      <p:graphicFrame>
        <p:nvGraphicFramePr>
          <p:cNvPr id="18" name="Chart 0" descr=""/>
          <p:cNvGraphicFramePr/>
          <p:nvPr/>
        </p:nvGraphicFramePr>
        <p:xfrm>
          <a:off x="548640" y="1417320"/>
          <a:ext cx="7589520" cy="48463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8412480" y="1554480"/>
            <a:ext cx="3200400" cy="640080"/>
          </a:xfrm>
          <a:prstGeom prst="rect">
            <a:avLst/>
          </a:prstGeom>
          <a:noFill/>
          <a:ln/>
        </p:spPr>
        <p:txBody>
          <a:bodyPr wrap="square" lIns="0" tIns="0" rIns="0" bIns="0" rtlCol="0" anchor="b"/>
          <a:lstStyle/>
          <a:p>
            <a:pPr indent="0" marL="0">
              <a:buNone/>
            </a:pPr>
            <a:r>
              <a:rPr lang="en-US" sz="3800" b="1" dirty="0">
                <a:solidFill>
                  <a:srgbClr val="1BAF7A"/>
                </a:solidFill>
                <a:latin typeface="Cambria" pitchFamily="34" charset="0"/>
                <a:ea typeface="Cambria" pitchFamily="34" charset="-122"/>
                <a:cs typeface="Cambria" pitchFamily="34" charset="-120"/>
              </a:rPr>
              <a:t>4,47 %</a:t>
            </a:r>
            <a:endParaRPr lang="en-US" sz="3800" dirty="0"/>
          </a:p>
        </p:txBody>
      </p:sp>
      <p:sp>
        <p:nvSpPr>
          <p:cNvPr id="20" name="Text 17"/>
          <p:cNvSpPr txBox="1"/>
          <p:nvPr/>
        </p:nvSpPr>
        <p:spPr>
          <a:xfrm>
            <a:off x="8412480" y="2212848"/>
            <a:ext cx="32004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par an sur vingt ans</a:t>
            </a:r>
            <a:endParaRPr lang="en-US" sz="1200" dirty="0"/>
          </a:p>
        </p:txBody>
      </p:sp>
      <p:sp>
        <p:nvSpPr>
          <p:cNvPr id="21" name="Text 18"/>
          <p:cNvSpPr txBox="1"/>
          <p:nvPr/>
        </p:nvSpPr>
        <p:spPr>
          <a:xfrm>
            <a:off x="8412480" y="2834640"/>
            <a:ext cx="3200400" cy="640080"/>
          </a:xfrm>
          <a:prstGeom prst="rect">
            <a:avLst/>
          </a:prstGeom>
          <a:noFill/>
          <a:ln/>
        </p:spPr>
        <p:txBody>
          <a:bodyPr wrap="square" lIns="0" tIns="0" rIns="0" bIns="0" rtlCol="0" anchor="b"/>
          <a:lstStyle/>
          <a:p>
            <a:pPr indent="0" marL="0">
              <a:buNone/>
            </a:pPr>
            <a:r>
              <a:rPr lang="en-US" sz="3800" b="1" dirty="0">
                <a:solidFill>
                  <a:srgbClr val="2A78D6"/>
                </a:solidFill>
                <a:latin typeface="Cambria" pitchFamily="34" charset="0"/>
                <a:ea typeface="Cambria" pitchFamily="34" charset="-122"/>
                <a:cs typeface="Cambria" pitchFamily="34" charset="-120"/>
              </a:rPr>
              <a:t>+2,29 pt</a:t>
            </a:r>
            <a:endParaRPr lang="en-US" sz="3800" dirty="0"/>
          </a:p>
        </p:txBody>
      </p:sp>
      <p:sp>
        <p:nvSpPr>
          <p:cNvPr id="22" name="Text 19"/>
          <p:cNvSpPr txBox="1"/>
          <p:nvPr/>
        </p:nvSpPr>
        <p:spPr>
          <a:xfrm>
            <a:off x="8412480" y="3493008"/>
            <a:ext cx="32004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par an AU-DELÀ de l'inflation, qui a fait 2,18 % sur la période</a:t>
            </a:r>
            <a:endParaRPr lang="en-US" sz="1200" dirty="0"/>
          </a:p>
        </p:txBody>
      </p:sp>
      <p:sp>
        <p:nvSpPr>
          <p:cNvPr id="23" name="Text 20"/>
          <p:cNvSpPr txBox="1"/>
          <p:nvPr/>
        </p:nvSpPr>
        <p:spPr>
          <a:xfrm>
            <a:off x="8412480" y="4206240"/>
            <a:ext cx="3200400" cy="640080"/>
          </a:xfrm>
          <a:prstGeom prst="rect">
            <a:avLst/>
          </a:prstGeom>
          <a:noFill/>
          <a:ln/>
        </p:spPr>
        <p:txBody>
          <a:bodyPr wrap="square" lIns="0" tIns="0" rIns="0" bIns="0" rtlCol="0" anchor="b"/>
          <a:lstStyle/>
          <a:p>
            <a:pPr indent="0" marL="0">
              <a:buNone/>
            </a:pPr>
            <a:r>
              <a:rPr lang="en-US" sz="3800" b="1" dirty="0">
                <a:solidFill>
                  <a:srgbClr val="C2410C"/>
                </a:solidFill>
                <a:latin typeface="Cambria" pitchFamily="34" charset="0"/>
                <a:ea typeface="Cambria" pitchFamily="34" charset="-122"/>
                <a:cs typeface="Cambria" pitchFamily="34" charset="-120"/>
              </a:rPr>
              <a:t>−14,0 %</a:t>
            </a:r>
            <a:endParaRPr lang="en-US" sz="3800" dirty="0"/>
          </a:p>
        </p:txBody>
      </p:sp>
      <p:sp>
        <p:nvSpPr>
          <p:cNvPr id="24" name="Text 21"/>
          <p:cNvSpPr txBox="1"/>
          <p:nvPr/>
        </p:nvSpPr>
        <p:spPr>
          <a:xfrm>
            <a:off x="8412480" y="4864608"/>
            <a:ext cx="32004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 pire baisse (2008 et 2020)</a:t>
            </a:r>
            <a:endParaRPr lang="en-US" sz="1200" dirty="0"/>
          </a:p>
        </p:txBody>
      </p:sp>
      <p:sp>
        <p:nvSpPr>
          <p:cNvPr id="25" name="Shape 22"/>
          <p:cNvSpPr/>
          <p:nvPr/>
        </p:nvSpPr>
        <p:spPr>
          <a:xfrm>
            <a:off x="8412480" y="5486400"/>
            <a:ext cx="3227832" cy="777240"/>
          </a:xfrm>
          <a:prstGeom prst="roundRect">
            <a:avLst>
              <a:gd name="adj" fmla="val 9412"/>
            </a:avLst>
          </a:prstGeom>
          <a:solidFill>
            <a:srgbClr val="14304F"/>
          </a:solidFill>
          <a:ln w="12700">
            <a:solidFill>
              <a:srgbClr val="14304F"/>
            </a:solidFill>
            <a:prstDash val="solid"/>
          </a:ln>
        </p:spPr>
      </p:sp>
      <p:sp>
        <p:nvSpPr>
          <p:cNvPr id="26" name="Text 23"/>
          <p:cNvSpPr txBox="1"/>
          <p:nvPr/>
        </p:nvSpPr>
        <p:spPr>
          <a:xfrm>
            <a:off x="8641080" y="5623560"/>
            <a:ext cx="2770632" cy="5029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 rejeu ne </a:t>
            </a:r>
            <a:pPr indent="0" marL="0">
              <a:buNone/>
            </a:pPr>
            <a:r>
              <a:rPr lang="en-US" sz="1350" b="1" dirty="0">
                <a:solidFill>
                  <a:srgbClr val="F5C969"/>
                </a:solidFill>
                <a:latin typeface="Calibri" pitchFamily="34" charset="0"/>
                <a:ea typeface="Calibri" pitchFamily="34" charset="-122"/>
                <a:cs typeface="Calibri" pitchFamily="34" charset="-120"/>
              </a:rPr>
              <a:t>prouve pas</a:t>
            </a:r>
            <a:pPr indent="0" marL="0">
              <a:buNone/>
            </a:pPr>
            <a:r>
              <a:rPr lang="en-US" sz="1350" dirty="0">
                <a:solidFill>
                  <a:srgbClr val="FFFFFF"/>
                </a:solidFill>
                <a:latin typeface="Calibri" pitchFamily="34" charset="0"/>
                <a:ea typeface="Calibri" pitchFamily="34" charset="-122"/>
                <a:cs typeface="Calibri" pitchFamily="34" charset="-120"/>
              </a:rPr>
              <a:t> la limite.</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C98A1B"/>
          </a:solidFill>
          <a:ln w="12700">
            <a:solidFill>
              <a:srgbClr val="C98A1B"/>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La plus longue baisse n'est pas la plus profonde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Chaque baisse de plus de 5 % depuis le plus haut</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graphicFrame>
        <p:nvGraphicFramePr>
          <p:cNvPr id="17" name="Chart 0" descr=""/>
          <p:cNvGraphicFramePr/>
          <p:nvPr/>
        </p:nvGraphicFramePr>
        <p:xfrm>
          <a:off x="548640" y="1371600"/>
          <a:ext cx="585216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675120" y="1417320"/>
          <a:ext cx="4965192" cy="914400"/>
        </p:xfrm>
        <a:graphic>
          <a:graphicData uri="http://schemas.openxmlformats.org/drawingml/2006/table">
            <a:tbl>
              <a:tblPr/>
              <a:tblGrid>
                <a:gridCol w="960120"/>
                <a:gridCol w="960120"/>
                <a:gridCol w="914400"/>
                <a:gridCol w="1051560"/>
                <a:gridCol w="107899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Plus haut</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Point bas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Baisse</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Retour</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Sous l'eau</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10/2007</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03/2009</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−14,0 %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10/2009</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23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01/2011</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11/2011</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−7,2 %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01/2012</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12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05/2013</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06/2013</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−5,8 %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11/2013</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6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04/2015</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08/2015</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−8,3 %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12/2016</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20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02/2020</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03/2020</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−14,0 %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11/2020</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9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11/2021</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10/2022</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−13,4 %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07/2024</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32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365760">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02/2025</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04/2025</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−5,9 %</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07/2025</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50" dirty="0">
                          <a:solidFill>
                            <a:srgbClr val="1F2937"/>
                          </a:solidFill>
                          <a:latin typeface="Calibri" pitchFamily="34" charset="0"/>
                          <a:ea typeface="Calibri" pitchFamily="34" charset="-122"/>
                          <a:cs typeface="Calibri" pitchFamily="34" charset="-120"/>
                        </a:rPr>
                        <a:t>5 mois</a:t>
                      </a:r>
                      <a:endParaRPr lang="en-US" sz="11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9" name="Text 15"/>
          <p:cNvSpPr txBox="1"/>
          <p:nvPr/>
        </p:nvSpPr>
        <p:spPr>
          <a:xfrm>
            <a:off x="548640" y="4389120"/>
            <a:ext cx="2651760" cy="640080"/>
          </a:xfrm>
          <a:prstGeom prst="rect">
            <a:avLst/>
          </a:prstGeom>
          <a:noFill/>
          <a:ln/>
        </p:spPr>
        <p:txBody>
          <a:bodyPr wrap="square" lIns="0" tIns="0" rIns="0" bIns="0" rtlCol="0" anchor="b"/>
          <a:lstStyle/>
          <a:p>
            <a:pPr indent="0" marL="0">
              <a:buNone/>
            </a:pPr>
            <a:r>
              <a:rPr lang="en-US" sz="3200" b="1" dirty="0">
                <a:solidFill>
                  <a:srgbClr val="14304F"/>
                </a:solidFill>
                <a:latin typeface="Cambria" pitchFamily="34" charset="0"/>
                <a:ea typeface="Cambria" pitchFamily="34" charset="-122"/>
                <a:cs typeface="Cambria" pitchFamily="34" charset="-120"/>
              </a:rPr>
              <a:t>53 %</a:t>
            </a:r>
            <a:endParaRPr lang="en-US" sz="3200" dirty="0"/>
          </a:p>
        </p:txBody>
      </p:sp>
      <p:sp>
        <p:nvSpPr>
          <p:cNvPr id="20" name="Text 16"/>
          <p:cNvSpPr txBox="1"/>
          <p:nvPr/>
        </p:nvSpPr>
        <p:spPr>
          <a:xfrm>
            <a:off x="548640" y="5047488"/>
            <a:ext cx="265176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du temps à plus de 1 % sous son plus haut</a:t>
            </a:r>
            <a:endParaRPr lang="en-US" sz="1200" dirty="0"/>
          </a:p>
        </p:txBody>
      </p:sp>
      <p:sp>
        <p:nvSpPr>
          <p:cNvPr id="21" name="Text 17"/>
          <p:cNvSpPr txBox="1"/>
          <p:nvPr/>
        </p:nvSpPr>
        <p:spPr>
          <a:xfrm>
            <a:off x="3383280" y="4389120"/>
            <a:ext cx="2651760" cy="640080"/>
          </a:xfrm>
          <a:prstGeom prst="rect">
            <a:avLst/>
          </a:prstGeom>
          <a:noFill/>
          <a:ln/>
        </p:spPr>
        <p:txBody>
          <a:bodyPr wrap="square" lIns="0" tIns="0" rIns="0" bIns="0" rtlCol="0" anchor="b"/>
          <a:lstStyle/>
          <a:p>
            <a:pPr indent="0" marL="0">
              <a:buNone/>
            </a:pPr>
            <a:r>
              <a:rPr lang="en-US" sz="3200" b="1" dirty="0">
                <a:solidFill>
                  <a:srgbClr val="EB6834"/>
                </a:solidFill>
                <a:latin typeface="Cambria" pitchFamily="34" charset="0"/>
                <a:ea typeface="Cambria" pitchFamily="34" charset="-122"/>
                <a:cs typeface="Cambria" pitchFamily="34" charset="-120"/>
              </a:rPr>
              <a:t>17 %</a:t>
            </a:r>
            <a:endParaRPr lang="en-US" sz="3200" dirty="0"/>
          </a:p>
        </p:txBody>
      </p:sp>
      <p:sp>
        <p:nvSpPr>
          <p:cNvPr id="22" name="Text 18"/>
          <p:cNvSpPr txBox="1"/>
          <p:nvPr/>
        </p:nvSpPr>
        <p:spPr>
          <a:xfrm>
            <a:off x="3383280" y="5047488"/>
            <a:ext cx="265176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à plus de 5 %</a:t>
            </a:r>
            <a:endParaRPr lang="en-US" sz="1200" dirty="0"/>
          </a:p>
        </p:txBody>
      </p:sp>
      <p:sp>
        <p:nvSpPr>
          <p:cNvPr id="23" name="Text 19"/>
          <p:cNvSpPr txBox="1"/>
          <p:nvPr/>
        </p:nvSpPr>
        <p:spPr>
          <a:xfrm>
            <a:off x="6217920" y="4389120"/>
            <a:ext cx="2651760" cy="640080"/>
          </a:xfrm>
          <a:prstGeom prst="rect">
            <a:avLst/>
          </a:prstGeom>
          <a:noFill/>
          <a:ln/>
        </p:spPr>
        <p:txBody>
          <a:bodyPr wrap="square" lIns="0" tIns="0" rIns="0" bIns="0" rtlCol="0" anchor="b"/>
          <a:lstStyle/>
          <a:p>
            <a:pPr indent="0" marL="0">
              <a:buNone/>
            </a:pPr>
            <a:r>
              <a:rPr lang="en-US" sz="3200" b="1" dirty="0">
                <a:solidFill>
                  <a:srgbClr val="C2410C"/>
                </a:solidFill>
                <a:latin typeface="Cambria" pitchFamily="34" charset="0"/>
                <a:ea typeface="Cambria" pitchFamily="34" charset="-122"/>
                <a:cs typeface="Cambria" pitchFamily="34" charset="-120"/>
              </a:rPr>
              <a:t>4 %</a:t>
            </a:r>
            <a:endParaRPr lang="en-US" sz="3200" dirty="0"/>
          </a:p>
        </p:txBody>
      </p:sp>
      <p:sp>
        <p:nvSpPr>
          <p:cNvPr id="24" name="Text 20"/>
          <p:cNvSpPr txBox="1"/>
          <p:nvPr/>
        </p:nvSpPr>
        <p:spPr>
          <a:xfrm>
            <a:off x="6217920" y="5047488"/>
            <a:ext cx="265176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à plus de 10 %</a:t>
            </a:r>
            <a:endParaRPr lang="en-US" sz="1200" dirty="0"/>
          </a:p>
        </p:txBody>
      </p:sp>
      <p:sp>
        <p:nvSpPr>
          <p:cNvPr id="25" name="Text 21"/>
          <p:cNvSpPr txBox="1"/>
          <p:nvPr/>
        </p:nvSpPr>
        <p:spPr>
          <a:xfrm>
            <a:off x="9052560" y="4389120"/>
            <a:ext cx="2587752" cy="1828800"/>
          </a:xfrm>
          <a:prstGeom prst="rect">
            <a:avLst/>
          </a:prstGeom>
          <a:noFill/>
          <a:ln/>
        </p:spPr>
        <p:txBody>
          <a:bodyPr wrap="square" lIns="0" tIns="0" rIns="0" bIns="0" rtlCol="0" anchor="t"/>
          <a:lstStyle/>
          <a:p>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2022 : 32 mois sous l'eau</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pour une baisse moindre que 2008 : les obligations ont baissé avec les actions.</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14304F"/>
          </a:solidFill>
          <a:ln w="12700">
            <a:solidFill>
              <a:srgbClr val="14304F"/>
            </a:solidFill>
            <a:prstDash val="solid"/>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Shape 2"/>
          <p:cNvSpPr/>
          <p:nvPr/>
        </p:nvSpPr>
        <p:spPr>
          <a:xfrm>
            <a:off x="8732520" y="475488"/>
            <a:ext cx="128016" cy="128016"/>
          </a:xfrm>
          <a:prstGeom prst="ellipse">
            <a:avLst/>
          </a:prstGeom>
          <a:solidFill>
            <a:srgbClr val="E3E6EA"/>
          </a:solidFill>
          <a:ln w="12700">
            <a:solidFill>
              <a:srgbClr val="E3E6EA"/>
            </a:solidFill>
            <a:prstDash val="solid"/>
          </a:ln>
        </p:spPr>
      </p:sp>
      <p:sp>
        <p:nvSpPr>
          <p:cNvPr id="5" name="Text 3"/>
          <p:cNvSpPr txBox="1"/>
          <p:nvPr/>
        </p:nvSpPr>
        <p:spPr>
          <a:xfrm>
            <a:off x="8503920"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Paramètres</a:t>
            </a:r>
            <a:endParaRPr lang="en-US" sz="750" dirty="0"/>
          </a:p>
        </p:txBody>
      </p:sp>
      <p:sp>
        <p:nvSpPr>
          <p:cNvPr id="6" name="Shape 4"/>
          <p:cNvSpPr/>
          <p:nvPr/>
        </p:nvSpPr>
        <p:spPr>
          <a:xfrm>
            <a:off x="9336024" y="475488"/>
            <a:ext cx="128016" cy="128016"/>
          </a:xfrm>
          <a:prstGeom prst="ellipse">
            <a:avLst/>
          </a:prstGeom>
          <a:solidFill>
            <a:srgbClr val="E3E6EA"/>
          </a:solidFill>
          <a:ln w="12700">
            <a:solidFill>
              <a:srgbClr val="E3E6EA"/>
            </a:solidFill>
            <a:prstDash val="solid"/>
          </a:ln>
        </p:spPr>
      </p:sp>
      <p:sp>
        <p:nvSpPr>
          <p:cNvPr id="7" name="Text 5"/>
          <p:cNvSpPr txBox="1"/>
          <p:nvPr/>
        </p:nvSpPr>
        <p:spPr>
          <a:xfrm>
            <a:off x="9107424"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Macro</a:t>
            </a:r>
            <a:endParaRPr lang="en-US" sz="750" dirty="0"/>
          </a:p>
        </p:txBody>
      </p:sp>
      <p:sp>
        <p:nvSpPr>
          <p:cNvPr id="8" name="Shape 6"/>
          <p:cNvSpPr/>
          <p:nvPr/>
        </p:nvSpPr>
        <p:spPr>
          <a:xfrm>
            <a:off x="9939528" y="475488"/>
            <a:ext cx="128016" cy="128016"/>
          </a:xfrm>
          <a:prstGeom prst="ellipse">
            <a:avLst/>
          </a:prstGeom>
          <a:solidFill>
            <a:srgbClr val="E3E6EA"/>
          </a:solidFill>
          <a:ln w="12700">
            <a:solidFill>
              <a:srgbClr val="E3E6EA"/>
            </a:solidFill>
            <a:prstDash val="solid"/>
          </a:ln>
        </p:spPr>
      </p:sp>
      <p:sp>
        <p:nvSpPr>
          <p:cNvPr id="9" name="Text 7"/>
          <p:cNvSpPr txBox="1"/>
          <p:nvPr/>
        </p:nvSpPr>
        <p:spPr>
          <a:xfrm>
            <a:off x="9710928"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Lignes</a:t>
            </a:r>
            <a:endParaRPr lang="en-US" sz="750" dirty="0"/>
          </a:p>
        </p:txBody>
      </p:sp>
      <p:sp>
        <p:nvSpPr>
          <p:cNvPr id="10" name="Shape 8"/>
          <p:cNvSpPr/>
          <p:nvPr/>
        </p:nvSpPr>
        <p:spPr>
          <a:xfrm>
            <a:off x="10543032" y="475488"/>
            <a:ext cx="128016" cy="128016"/>
          </a:xfrm>
          <a:prstGeom prst="ellipse">
            <a:avLst/>
          </a:prstGeom>
          <a:solidFill>
            <a:srgbClr val="E3E6EA"/>
          </a:solidFill>
          <a:ln w="12700">
            <a:solidFill>
              <a:srgbClr val="E3E6EA"/>
            </a:solidFill>
            <a:prstDash val="solid"/>
          </a:ln>
        </p:spPr>
      </p:sp>
      <p:sp>
        <p:nvSpPr>
          <p:cNvPr id="11" name="Text 9"/>
          <p:cNvSpPr txBox="1"/>
          <p:nvPr/>
        </p:nvSpPr>
        <p:spPr>
          <a:xfrm>
            <a:off x="10314432" y="621792"/>
            <a:ext cx="585216" cy="201168"/>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Allocation</a:t>
            </a:r>
            <a:endParaRPr lang="en-US" sz="750" dirty="0"/>
          </a:p>
        </p:txBody>
      </p:sp>
      <p:sp>
        <p:nvSpPr>
          <p:cNvPr id="12" name="Shape 10"/>
          <p:cNvSpPr/>
          <p:nvPr/>
        </p:nvSpPr>
        <p:spPr>
          <a:xfrm>
            <a:off x="11146536" y="475488"/>
            <a:ext cx="128016" cy="128016"/>
          </a:xfrm>
          <a:prstGeom prst="ellipse">
            <a:avLst/>
          </a:prstGeom>
          <a:solidFill>
            <a:srgbClr val="C98A1B"/>
          </a:solidFill>
          <a:ln w="12700">
            <a:solidFill>
              <a:srgbClr val="C98A1B"/>
            </a:solidFill>
            <a:prstDash val="solid"/>
          </a:ln>
        </p:spPr>
      </p:sp>
      <p:sp>
        <p:nvSpPr>
          <p:cNvPr id="13" name="Text 11"/>
          <p:cNvSpPr txBox="1"/>
          <p:nvPr/>
        </p:nvSpPr>
        <p:spPr>
          <a:xfrm>
            <a:off x="10917936" y="621792"/>
            <a:ext cx="585216" cy="201168"/>
          </a:xfrm>
          <a:prstGeom prst="rect">
            <a:avLst/>
          </a:prstGeom>
          <a:noFill/>
          <a:ln/>
        </p:spPr>
        <p:txBody>
          <a:bodyPr wrap="square" lIns="0" tIns="0" rIns="0" bIns="0" rtlCol="0" anchor="ctr"/>
          <a:lstStyle/>
          <a:p>
            <a:pPr algn="ctr" indent="0" marL="0">
              <a:buNone/>
            </a:pPr>
            <a:r>
              <a:rPr lang="en-US" sz="750" b="1" dirty="0">
                <a:solidFill>
                  <a:srgbClr val="14304F"/>
                </a:solidFill>
                <a:latin typeface="Calibri" pitchFamily="34" charset="0"/>
                <a:ea typeface="Calibri" pitchFamily="34" charset="-122"/>
                <a:cs typeface="Calibri" pitchFamily="34" charset="-120"/>
              </a:rPr>
              <a:t>Backtests</a:t>
            </a:r>
            <a:endParaRPr lang="en-US" sz="750" dirty="0"/>
          </a:p>
        </p:txBody>
      </p:sp>
      <p:sp>
        <p:nvSpPr>
          <p:cNvPr id="14" name="Text 12"/>
          <p:cNvSpPr txBox="1"/>
          <p:nvPr/>
        </p:nvSpPr>
        <p:spPr>
          <a:xfrm>
            <a:off x="1188720" y="292608"/>
            <a:ext cx="7223760"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À quoi ressemble une mauvaise année</a:t>
            </a:r>
            <a:endParaRPr lang="en-US" sz="2600" dirty="0"/>
          </a:p>
        </p:txBody>
      </p:sp>
      <p:sp>
        <p:nvSpPr>
          <p:cNvPr id="15" name="Text 1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Résultat sur douze mois glissants, à chaque fin de mois depuis octobre 2007 (228 années glissantes)</a:t>
            </a:r>
            <a:endParaRPr lang="en-US" sz="1400" dirty="0"/>
          </a:p>
        </p:txBody>
      </p:sp>
      <p:sp>
        <p:nvSpPr>
          <p:cNvPr id="16" name="Text 1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
        <p:nvSpPr>
          <p:cNvPr id="17" name="Text 15"/>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VaR : perte dépassée une année sur vingt · CVaR : perte moyenne de ces années-là · chiffres descriptifs, pas une prévision</a:t>
            </a:r>
            <a:endParaRPr lang="en-US" sz="850" dirty="0"/>
          </a:p>
        </p:txBody>
      </p:sp>
      <p:graphicFrame>
        <p:nvGraphicFramePr>
          <p:cNvPr id="18" name="Chart 0" descr=""/>
          <p:cNvGraphicFramePr/>
          <p:nvPr/>
        </p:nvGraphicFramePr>
        <p:xfrm>
          <a:off x="548640" y="141732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7863840" y="1463040"/>
            <a:ext cx="1828800" cy="640080"/>
          </a:xfrm>
          <a:prstGeom prst="rect">
            <a:avLst/>
          </a:prstGeom>
          <a:noFill/>
          <a:ln/>
        </p:spPr>
        <p:txBody>
          <a:bodyPr wrap="square" lIns="0" tIns="0" rIns="0" bIns="0" rtlCol="0" anchor="b"/>
          <a:lstStyle/>
          <a:p>
            <a:pPr indent="0" marL="0">
              <a:buNone/>
            </a:pPr>
            <a:r>
              <a:rPr lang="en-US" sz="3000" b="1" dirty="0">
                <a:solidFill>
                  <a:srgbClr val="EB6834"/>
                </a:solidFill>
                <a:latin typeface="Cambria" pitchFamily="34" charset="0"/>
                <a:ea typeface="Cambria" pitchFamily="34" charset="-122"/>
                <a:cs typeface="Cambria" pitchFamily="34" charset="-120"/>
              </a:rPr>
              <a:t>−6,5 %</a:t>
            </a:r>
            <a:endParaRPr lang="en-US" sz="3000" dirty="0"/>
          </a:p>
        </p:txBody>
      </p:sp>
      <p:sp>
        <p:nvSpPr>
          <p:cNvPr id="20" name="Text 17"/>
          <p:cNvSpPr txBox="1"/>
          <p:nvPr/>
        </p:nvSpPr>
        <p:spPr>
          <a:xfrm>
            <a:off x="7863840" y="2121408"/>
            <a:ext cx="18288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VaR 95 % à un an</a:t>
            </a:r>
            <a:endParaRPr lang="en-US" sz="1200" dirty="0"/>
          </a:p>
        </p:txBody>
      </p:sp>
      <p:sp>
        <p:nvSpPr>
          <p:cNvPr id="21" name="Text 18"/>
          <p:cNvSpPr txBox="1"/>
          <p:nvPr/>
        </p:nvSpPr>
        <p:spPr>
          <a:xfrm>
            <a:off x="9784080" y="1463040"/>
            <a:ext cx="1828800" cy="640080"/>
          </a:xfrm>
          <a:prstGeom prst="rect">
            <a:avLst/>
          </a:prstGeom>
          <a:noFill/>
          <a:ln/>
        </p:spPr>
        <p:txBody>
          <a:bodyPr wrap="square" lIns="0" tIns="0" rIns="0" bIns="0" rtlCol="0" anchor="b"/>
          <a:lstStyle/>
          <a:p>
            <a:pPr indent="0" marL="0">
              <a:buNone/>
            </a:pPr>
            <a:r>
              <a:rPr lang="en-US" sz="3000" b="1" dirty="0">
                <a:solidFill>
                  <a:srgbClr val="C2410C"/>
                </a:solidFill>
                <a:latin typeface="Cambria" pitchFamily="34" charset="0"/>
                <a:ea typeface="Cambria" pitchFamily="34" charset="-122"/>
                <a:cs typeface="Cambria" pitchFamily="34" charset="-120"/>
              </a:rPr>
              <a:t>−8,5 %</a:t>
            </a:r>
            <a:endParaRPr lang="en-US" sz="3000" dirty="0"/>
          </a:p>
        </p:txBody>
      </p:sp>
      <p:sp>
        <p:nvSpPr>
          <p:cNvPr id="22" name="Text 19"/>
          <p:cNvSpPr txBox="1"/>
          <p:nvPr/>
        </p:nvSpPr>
        <p:spPr>
          <a:xfrm>
            <a:off x="9784080" y="2121408"/>
            <a:ext cx="18288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CVaR 95 %</a:t>
            </a:r>
            <a:endParaRPr lang="en-US" sz="1200" dirty="0"/>
          </a:p>
        </p:txBody>
      </p:sp>
      <p:sp>
        <p:nvSpPr>
          <p:cNvPr id="23" name="Text 20"/>
          <p:cNvSpPr txBox="1"/>
          <p:nvPr/>
        </p:nvSpPr>
        <p:spPr>
          <a:xfrm>
            <a:off x="7863840" y="2743200"/>
            <a:ext cx="1828800" cy="640080"/>
          </a:xfrm>
          <a:prstGeom prst="rect">
            <a:avLst/>
          </a:prstGeom>
          <a:noFill/>
          <a:ln/>
        </p:spPr>
        <p:txBody>
          <a:bodyPr wrap="square" lIns="0" tIns="0" rIns="0" bIns="0" rtlCol="0" anchor="b"/>
          <a:lstStyle/>
          <a:p>
            <a:pPr indent="0" marL="0">
              <a:buNone/>
            </a:pPr>
            <a:r>
              <a:rPr lang="en-US" sz="3000" b="1" dirty="0">
                <a:solidFill>
                  <a:srgbClr val="C2410C"/>
                </a:solidFill>
                <a:latin typeface="Cambria" pitchFamily="34" charset="0"/>
                <a:ea typeface="Cambria" pitchFamily="34" charset="-122"/>
                <a:cs typeface="Cambria" pitchFamily="34" charset="-120"/>
              </a:rPr>
              <a:t>−11,4 %</a:t>
            </a:r>
            <a:endParaRPr lang="en-US" sz="3000" dirty="0"/>
          </a:p>
        </p:txBody>
      </p:sp>
      <p:sp>
        <p:nvSpPr>
          <p:cNvPr id="24" name="Text 21"/>
          <p:cNvSpPr txBox="1"/>
          <p:nvPr/>
        </p:nvSpPr>
        <p:spPr>
          <a:xfrm>
            <a:off x="7863840" y="3401568"/>
            <a:ext cx="18288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pire année</a:t>
            </a:r>
            <a:endParaRPr lang="en-US" sz="1200" dirty="0"/>
          </a:p>
        </p:txBody>
      </p:sp>
      <p:sp>
        <p:nvSpPr>
          <p:cNvPr id="25" name="Text 22"/>
          <p:cNvSpPr txBox="1"/>
          <p:nvPr/>
        </p:nvSpPr>
        <p:spPr>
          <a:xfrm>
            <a:off x="9784080" y="2743200"/>
            <a:ext cx="1828800" cy="640080"/>
          </a:xfrm>
          <a:prstGeom prst="rect">
            <a:avLst/>
          </a:prstGeom>
          <a:noFill/>
          <a:ln/>
        </p:spPr>
        <p:txBody>
          <a:bodyPr wrap="square" lIns="0" tIns="0" rIns="0" bIns="0" rtlCol="0" anchor="b"/>
          <a:lstStyle/>
          <a:p>
            <a:pPr indent="0" marL="0">
              <a:buNone/>
            </a:pPr>
            <a:r>
              <a:rPr lang="en-US" sz="3000" b="1" dirty="0">
                <a:solidFill>
                  <a:srgbClr val="14304F"/>
                </a:solidFill>
                <a:latin typeface="Cambria" pitchFamily="34" charset="0"/>
                <a:ea typeface="Cambria" pitchFamily="34" charset="-122"/>
                <a:cs typeface="Cambria" pitchFamily="34" charset="-120"/>
              </a:rPr>
              <a:t>29 %</a:t>
            </a:r>
            <a:endParaRPr lang="en-US" sz="3000" dirty="0"/>
          </a:p>
        </p:txBody>
      </p:sp>
      <p:sp>
        <p:nvSpPr>
          <p:cNvPr id="26" name="Text 23"/>
          <p:cNvSpPr txBox="1"/>
          <p:nvPr/>
        </p:nvSpPr>
        <p:spPr>
          <a:xfrm>
            <a:off x="9784080" y="3401568"/>
            <a:ext cx="1828800" cy="56692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des années n'ont pas battu l'inflation</a:t>
            </a:r>
            <a:endParaRPr lang="en-US" sz="1200" dirty="0"/>
          </a:p>
        </p:txBody>
      </p:sp>
      <p:sp>
        <p:nvSpPr>
          <p:cNvPr id="27" name="Shape 24"/>
          <p:cNvSpPr/>
          <p:nvPr/>
        </p:nvSpPr>
        <p:spPr>
          <a:xfrm>
            <a:off x="7863840" y="4160520"/>
            <a:ext cx="3776472" cy="2057400"/>
          </a:xfrm>
          <a:prstGeom prst="roundRect">
            <a:avLst>
              <a:gd name="adj" fmla="val 3556"/>
            </a:avLst>
          </a:prstGeom>
          <a:solidFill>
            <a:srgbClr val="14304F"/>
          </a:solidFill>
          <a:ln w="12700">
            <a:solidFill>
              <a:srgbClr val="14304F"/>
            </a:solidFill>
            <a:prstDash val="solid"/>
          </a:ln>
        </p:spPr>
      </p:sp>
      <p:sp>
        <p:nvSpPr>
          <p:cNvPr id="28" name="Text 25"/>
          <p:cNvSpPr txBox="1"/>
          <p:nvPr/>
        </p:nvSpPr>
        <p:spPr>
          <a:xfrm>
            <a:off x="8092440" y="4297680"/>
            <a:ext cx="3319272" cy="1783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 un an, jamais plus de </a:t>
            </a:r>
            <a:pPr indent="0" marL="0">
              <a:buNone/>
            </a:pPr>
            <a:r>
              <a:rPr lang="en-US" sz="1350" b="1" dirty="0">
                <a:solidFill>
                  <a:srgbClr val="F5C969"/>
                </a:solidFill>
                <a:latin typeface="Calibri" pitchFamily="34" charset="0"/>
                <a:ea typeface="Calibri" pitchFamily="34" charset="-122"/>
                <a:cs typeface="Calibri" pitchFamily="34" charset="-120"/>
              </a:rPr>
              <a:t>11,4 %</a:t>
            </a:r>
            <a:pPr indent="0" marL="0">
              <a:buNone/>
            </a:pPr>
            <a:r>
              <a:rPr lang="en-US" sz="1350" dirty="0">
                <a:solidFill>
                  <a:srgbClr val="FFFFFF"/>
                </a:solidFill>
                <a:latin typeface="Calibri" pitchFamily="34" charset="0"/>
                <a:ea typeface="Calibri" pitchFamily="34" charset="-122"/>
                <a:cs typeface="Calibri" pitchFamily="34" charset="-120"/>
              </a:rPr>
              <a:t> de perte, alors que la pire baisse atteint </a:t>
            </a:r>
            <a:pPr indent="0" marL="0">
              <a:buNone/>
            </a:pPr>
            <a:r>
              <a:rPr lang="en-US" sz="1350" b="1" dirty="0">
                <a:solidFill>
                  <a:srgbClr val="F5C969"/>
                </a:solidFill>
                <a:latin typeface="Calibri" pitchFamily="34" charset="0"/>
                <a:ea typeface="Calibri" pitchFamily="34" charset="-122"/>
                <a:cs typeface="Calibri" pitchFamily="34" charset="-120"/>
              </a:rPr>
              <a:t>14 %</a:t>
            </a:r>
            <a:pPr indent="0" marL="0">
              <a:buNone/>
            </a:pPr>
            <a:r>
              <a:rPr lang="en-US" sz="1350" dirty="0">
                <a:solidFill>
                  <a:srgbClr val="FFFFFF"/>
                </a:solidFill>
                <a:latin typeface="Calibri" pitchFamily="34" charset="0"/>
                <a:ea typeface="Calibri" pitchFamily="34" charset="-122"/>
                <a:cs typeface="Calibri" pitchFamily="34" charset="-120"/>
              </a:rPr>
              <a:t> : les baisses s'étalent sur plus d'un an. Et préserver le pouvoir d'achat est </a:t>
            </a:r>
            <a:pPr indent="0" marL="0">
              <a:buNone/>
            </a:pPr>
            <a:r>
              <a:rPr lang="en-US" sz="1350" b="1" dirty="0">
                <a:solidFill>
                  <a:srgbClr val="F5C969"/>
                </a:solidFill>
                <a:latin typeface="Calibri" pitchFamily="34" charset="0"/>
                <a:ea typeface="Calibri" pitchFamily="34" charset="-122"/>
                <a:cs typeface="Calibri" pitchFamily="34" charset="-120"/>
              </a:rPr>
              <a:t>un objectif de moyenne longue, pas une garantie annuelle.</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304F"/>
        </a:solidFill>
      </p:bgPr>
    </p:bg>
    <p:spTree>
      <p:nvGrpSpPr>
        <p:cNvPr id="1" name=""/>
        <p:cNvGrpSpPr/>
        <p:nvPr/>
      </p:nvGrpSpPr>
      <p:grpSpPr>
        <a:xfrm>
          <a:off x="0" y="0"/>
          <a:ext cx="0" cy="0"/>
          <a:chOff x="0" y="0"/>
          <a:chExt cx="0" cy="0"/>
        </a:xfrm>
      </p:grpSpPr>
      <p:sp>
        <p:nvSpPr>
          <p:cNvPr id="2" name="Text 0"/>
          <p:cNvSpPr txBox="1"/>
          <p:nvPr/>
        </p:nvSpPr>
        <p:spPr>
          <a:xfrm>
            <a:off x="548640" y="2103120"/>
            <a:ext cx="11094415"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Notre proposition</a:t>
            </a:r>
            <a:endParaRPr lang="en-US" sz="4000" dirty="0"/>
          </a:p>
        </p:txBody>
      </p:sp>
      <p:sp>
        <p:nvSpPr>
          <p:cNvPr id="3" name="Text 1"/>
          <p:cNvSpPr txBox="1"/>
          <p:nvPr/>
        </p:nvSpPr>
        <p:spPr>
          <a:xfrm>
            <a:off x="548640" y="3200400"/>
            <a:ext cx="2697480" cy="822960"/>
          </a:xfrm>
          <a:prstGeom prst="rect">
            <a:avLst/>
          </a:prstGeom>
          <a:noFill/>
          <a:ln/>
        </p:spPr>
        <p:txBody>
          <a:bodyPr wrap="square" lIns="0" tIns="0" rIns="0" bIns="0" rtlCol="0" anchor="ctr"/>
          <a:lstStyle/>
          <a:p>
            <a:pPr indent="0" marL="0">
              <a:buNone/>
            </a:pPr>
            <a:r>
              <a:rPr lang="en-US" sz="4000" b="1" dirty="0">
                <a:solidFill>
                  <a:srgbClr val="F5C969"/>
                </a:solidFill>
                <a:latin typeface="Cambria" pitchFamily="34" charset="0"/>
                <a:ea typeface="Cambria" pitchFamily="34" charset="-122"/>
                <a:cs typeface="Cambria" pitchFamily="34" charset="-120"/>
              </a:rPr>
              <a:t>4,86 %</a:t>
            </a:r>
            <a:endParaRPr lang="en-US" sz="4000" dirty="0"/>
          </a:p>
        </p:txBody>
      </p:sp>
      <p:sp>
        <p:nvSpPr>
          <p:cNvPr id="4" name="Text 2"/>
          <p:cNvSpPr txBox="1"/>
          <p:nvPr/>
        </p:nvSpPr>
        <p:spPr>
          <a:xfrm>
            <a:off x="548640" y="4069080"/>
            <a:ext cx="256032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 rendement espéré net de frais</a:t>
            </a:r>
            <a:endParaRPr lang="en-US" sz="1500" dirty="0"/>
          </a:p>
        </p:txBody>
      </p:sp>
      <p:sp>
        <p:nvSpPr>
          <p:cNvPr id="5" name="Text 3"/>
          <p:cNvSpPr txBox="1"/>
          <p:nvPr/>
        </p:nvSpPr>
        <p:spPr>
          <a:xfrm>
            <a:off x="3383280" y="3200400"/>
            <a:ext cx="2697480" cy="822960"/>
          </a:xfrm>
          <a:prstGeom prst="rect">
            <a:avLst/>
          </a:prstGeom>
          <a:noFill/>
          <a:ln/>
        </p:spPr>
        <p:txBody>
          <a:bodyPr wrap="square" lIns="0" tIns="0" rIns="0" bIns="0" rtlCol="0" anchor="ctr"/>
          <a:lstStyle/>
          <a:p>
            <a:pPr indent="0" marL="0">
              <a:buNone/>
            </a:pPr>
            <a:r>
              <a:rPr lang="en-US" sz="4000" b="1" dirty="0">
                <a:solidFill>
                  <a:srgbClr val="F5C969"/>
                </a:solidFill>
                <a:latin typeface="Cambria" pitchFamily="34" charset="0"/>
                <a:ea typeface="Cambria" pitchFamily="34" charset="-122"/>
                <a:cs typeface="Cambria" pitchFamily="34" charset="-120"/>
              </a:rPr>
              <a:t>−14,0 %</a:t>
            </a:r>
            <a:endParaRPr lang="en-US" sz="4000" dirty="0"/>
          </a:p>
        </p:txBody>
      </p:sp>
      <p:sp>
        <p:nvSpPr>
          <p:cNvPr id="6" name="Text 4"/>
          <p:cNvSpPr txBox="1"/>
          <p:nvPr/>
        </p:nvSpPr>
        <p:spPr>
          <a:xfrm>
            <a:off x="3383280" y="4069080"/>
            <a:ext cx="256032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 pire baisse sur vingt ans</a:t>
            </a:r>
            <a:endParaRPr lang="en-US" sz="1500" dirty="0"/>
          </a:p>
        </p:txBody>
      </p:sp>
      <p:sp>
        <p:nvSpPr>
          <p:cNvPr id="7" name="Text 5"/>
          <p:cNvSpPr txBox="1"/>
          <p:nvPr/>
        </p:nvSpPr>
        <p:spPr>
          <a:xfrm>
            <a:off x="6217920" y="3200400"/>
            <a:ext cx="2697480" cy="822960"/>
          </a:xfrm>
          <a:prstGeom prst="rect">
            <a:avLst/>
          </a:prstGeom>
          <a:noFill/>
          <a:ln/>
        </p:spPr>
        <p:txBody>
          <a:bodyPr wrap="square" lIns="0" tIns="0" rIns="0" bIns="0" rtlCol="0" anchor="ctr"/>
          <a:lstStyle/>
          <a:p>
            <a:pPr indent="0" marL="0">
              <a:buNone/>
            </a:pPr>
            <a:r>
              <a:rPr lang="en-US" sz="4000" b="1" dirty="0">
                <a:solidFill>
                  <a:srgbClr val="F5C969"/>
                </a:solidFill>
                <a:latin typeface="Cambria" pitchFamily="34" charset="0"/>
                <a:ea typeface="Cambria" pitchFamily="34" charset="-122"/>
                <a:cs typeface="Cambria" pitchFamily="34" charset="-120"/>
              </a:rPr>
              <a:t>30 %</a:t>
            </a:r>
            <a:endParaRPr lang="en-US" sz="4000" dirty="0"/>
          </a:p>
        </p:txBody>
      </p:sp>
      <p:sp>
        <p:nvSpPr>
          <p:cNvPr id="8" name="Text 6"/>
          <p:cNvSpPr txBox="1"/>
          <p:nvPr/>
        </p:nvSpPr>
        <p:spPr>
          <a:xfrm>
            <a:off x="6217920" y="4069080"/>
            <a:ext cx="256032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d'actions, dont 15 titres en direct</a:t>
            </a:r>
            <a:endParaRPr lang="en-US" sz="1500" dirty="0"/>
          </a:p>
        </p:txBody>
      </p:sp>
      <p:sp>
        <p:nvSpPr>
          <p:cNvPr id="9" name="Text 7"/>
          <p:cNvSpPr txBox="1"/>
          <p:nvPr/>
        </p:nvSpPr>
        <p:spPr>
          <a:xfrm>
            <a:off x="9052560" y="3200400"/>
            <a:ext cx="2697480" cy="822960"/>
          </a:xfrm>
          <a:prstGeom prst="rect">
            <a:avLst/>
          </a:prstGeom>
          <a:noFill/>
          <a:ln/>
        </p:spPr>
        <p:txBody>
          <a:bodyPr wrap="square" lIns="0" tIns="0" rIns="0" bIns="0" rtlCol="0" anchor="ctr"/>
          <a:lstStyle/>
          <a:p>
            <a:pPr indent="0" marL="0">
              <a:buNone/>
            </a:pPr>
            <a:r>
              <a:rPr lang="en-US" sz="4000" b="1" dirty="0">
                <a:solidFill>
                  <a:srgbClr val="F5C969"/>
                </a:solidFill>
                <a:latin typeface="Cambria" pitchFamily="34" charset="0"/>
                <a:ea typeface="Cambria" pitchFamily="34" charset="-122"/>
                <a:cs typeface="Cambria" pitchFamily="34" charset="-120"/>
              </a:rPr>
              <a:t>10 M€</a:t>
            </a:r>
            <a:endParaRPr lang="en-US" sz="4000" dirty="0"/>
          </a:p>
        </p:txBody>
      </p:sp>
      <p:sp>
        <p:nvSpPr>
          <p:cNvPr id="10" name="Text 8"/>
          <p:cNvSpPr txBox="1"/>
          <p:nvPr/>
        </p:nvSpPr>
        <p:spPr>
          <a:xfrm>
            <a:off x="9052560" y="4069080"/>
            <a:ext cx="256032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sécurisés en AAA, à taux garantis</a:t>
            </a:r>
            <a:endParaRPr lang="en-US" sz="1500" dirty="0"/>
          </a:p>
        </p:txBody>
      </p:sp>
      <p:sp>
        <p:nvSpPr>
          <p:cNvPr id="11" name="Text 9"/>
          <p:cNvSpPr txBox="1"/>
          <p:nvPr/>
        </p:nvSpPr>
        <p:spPr>
          <a:xfrm>
            <a:off x="548640" y="5212080"/>
            <a:ext cx="11094415" cy="82296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Un portefeuille diversifié, sans pari sur une zone, qui préserve le pouvoir d'achat en respectant la limite de perte dans toutes les crises récentes.</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Ce que le client doit savoir, et ce que nous lui demanderons</a:t>
            </a:r>
            <a:endParaRPr lang="en-US" sz="2600" dirty="0"/>
          </a:p>
        </p:txBody>
      </p:sp>
      <p:sp>
        <p:nvSpPr>
          <p:cNvPr id="3" name="Text 1"/>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548640" y="6419088"/>
            <a:ext cx="10454335"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Toute la démarche, avec les chiffres et leurs sources, est consultable dans l'application : mandat-lauren.streamlit.app</a:t>
            </a:r>
            <a:endParaRPr lang="en-US" sz="850" dirty="0"/>
          </a:p>
        </p:txBody>
      </p:sp>
      <p:sp>
        <p:nvSpPr>
          <p:cNvPr id="5" name="Shape 3"/>
          <p:cNvSpPr/>
          <p:nvPr/>
        </p:nvSpPr>
        <p:spPr>
          <a:xfrm>
            <a:off x="548640" y="1280160"/>
            <a:ext cx="5486400" cy="4937760"/>
          </a:xfrm>
          <a:prstGeom prst="roundRect">
            <a:avLst>
              <a:gd name="adj" fmla="val 1481"/>
            </a:avLst>
          </a:prstGeom>
          <a:solidFill>
            <a:srgbClr val="F2F5F9"/>
          </a:solidFill>
          <a:ln w="12700">
            <a:solidFill>
              <a:srgbClr val="F2F5F9"/>
            </a:solidFill>
            <a:prstDash val="solid"/>
          </a:ln>
        </p:spPr>
      </p:sp>
      <p:sp>
        <p:nvSpPr>
          <p:cNvPr id="6" name="Text 4"/>
          <p:cNvSpPr txBox="1"/>
          <p:nvPr/>
        </p:nvSpPr>
        <p:spPr>
          <a:xfrm>
            <a:off x="777240" y="1417320"/>
            <a:ext cx="502920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Les limites, dites franchement</a:t>
            </a:r>
            <a:endParaRPr lang="en-US" sz="1700" dirty="0"/>
          </a:p>
        </p:txBody>
      </p:sp>
      <p:sp>
        <p:nvSpPr>
          <p:cNvPr id="7" name="Text 5"/>
          <p:cNvSpPr txBox="1"/>
          <p:nvPr/>
        </p:nvSpPr>
        <p:spPr>
          <a:xfrm>
            <a:off x="777240" y="1874520"/>
            <a:ext cx="5029200" cy="4206240"/>
          </a:xfrm>
          <a:prstGeom prst="rect">
            <a:avLst/>
          </a:prstGeom>
          <a:noFill/>
          <a:ln/>
        </p:spPr>
        <p:txBody>
          <a:bodyPr wrap="square" lIns="0" tIns="0" rIns="0" bIns="0" rtlCol="0" anchor="t"/>
          <a:lstStyle/>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La limite de 15 % tient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sur le passé</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 la prochaine crise peut être différente</a:t>
            </a:r>
            <a:endParaRPr lang="en-US" sz="1700" dirty="0"/>
          </a:p>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Avant 2018, plusieurs supports sont mesurés par des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remplaçants</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parfois flatteurs</a:t>
            </a:r>
            <a:endParaRPr lang="en-US" sz="1700" dirty="0"/>
          </a:p>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Les rendements espérés sont des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moyennes sur dix ans</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pas des promesses</a:t>
            </a:r>
            <a:endParaRPr lang="en-US" sz="1700" dirty="0"/>
          </a:p>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Une baisse peut durer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plus de deux ans</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(2022)</a:t>
            </a:r>
            <a:endParaRPr lang="en-US" sz="1700" dirty="0"/>
          </a:p>
        </p:txBody>
      </p:sp>
      <p:sp>
        <p:nvSpPr>
          <p:cNvPr id="8" name="Shape 6"/>
          <p:cNvSpPr/>
          <p:nvPr/>
        </p:nvSpPr>
        <p:spPr>
          <a:xfrm>
            <a:off x="6245352" y="1280160"/>
            <a:ext cx="5394960" cy="4937760"/>
          </a:xfrm>
          <a:prstGeom prst="roundRect">
            <a:avLst>
              <a:gd name="adj" fmla="val 1481"/>
            </a:avLst>
          </a:prstGeom>
          <a:solidFill>
            <a:srgbClr val="F2F5F9"/>
          </a:solidFill>
          <a:ln w="12700">
            <a:solidFill>
              <a:srgbClr val="F2F5F9"/>
            </a:solidFill>
            <a:prstDash val="solid"/>
          </a:ln>
        </p:spPr>
      </p:sp>
      <p:sp>
        <p:nvSpPr>
          <p:cNvPr id="9" name="Text 7"/>
          <p:cNvSpPr txBox="1"/>
          <p:nvPr/>
        </p:nvSpPr>
        <p:spPr>
          <a:xfrm>
            <a:off x="6473952" y="1417320"/>
            <a:ext cx="4937760" cy="365760"/>
          </a:xfrm>
          <a:prstGeom prst="rect">
            <a:avLst/>
          </a:prstGeom>
          <a:noFill/>
          <a:ln/>
        </p:spPr>
        <p:txBody>
          <a:bodyPr wrap="square" lIns="0" tIns="0" rIns="0" bIns="0" rtlCol="0" anchor="ctr"/>
          <a:lstStyle/>
          <a:p>
            <a:pPr indent="0" marL="0">
              <a:buNone/>
            </a:pPr>
            <a:r>
              <a:rPr lang="en-US" sz="1700" b="1" dirty="0">
                <a:solidFill>
                  <a:srgbClr val="14304F"/>
                </a:solidFill>
                <a:latin typeface="Cambria" pitchFamily="34" charset="0"/>
                <a:ea typeface="Cambria" pitchFamily="34" charset="-122"/>
                <a:cs typeface="Cambria" pitchFamily="34" charset="-120"/>
              </a:rPr>
              <a:t>Les questions pour M. Lauren</a:t>
            </a:r>
            <a:endParaRPr lang="en-US" sz="1700" dirty="0"/>
          </a:p>
        </p:txBody>
      </p:sp>
      <p:sp>
        <p:nvSpPr>
          <p:cNvPr id="10" name="Text 8"/>
          <p:cNvSpPr txBox="1"/>
          <p:nvPr/>
        </p:nvSpPr>
        <p:spPr>
          <a:xfrm>
            <a:off x="6473952" y="1874520"/>
            <a:ext cx="4937760" cy="4206240"/>
          </a:xfrm>
          <a:prstGeom prst="rect">
            <a:avLst/>
          </a:prstGeom>
          <a:noFill/>
          <a:ln/>
        </p:spPr>
        <p:txBody>
          <a:bodyPr wrap="square" lIns="0" tIns="0" rIns="0" bIns="0" rtlCol="0" anchor="t"/>
          <a:lstStyle/>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Les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dates</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exactes des 10 M€</a:t>
            </a:r>
            <a:endParaRPr lang="en-US" sz="1700" dirty="0"/>
          </a:p>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Les 15 % : une limite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absolue</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ou acceptable si très rare ?</a:t>
            </a:r>
            <a:endParaRPr lang="en-US" sz="1700" dirty="0"/>
          </a:p>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La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crypto</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 un placement, ou un geste envers son fils ?</a:t>
            </a:r>
            <a:endParaRPr lang="en-US" sz="1700" dirty="0"/>
          </a:p>
          <a:p>
            <a:pPr marL="203200" indent="-203200">
              <a:spcAft>
                <a:spcPts val="1800"/>
              </a:spcAft>
              <a:buSzPct val="100000"/>
              <a:buChar char="•"/>
            </a:pPr>
            <a:r>
              <a:rPr lang="en-US" sz="1700" dirty="0">
                <a:solidFill>
                  <a:srgbClr val="1F2937"/>
                </a:solidFill>
                <a:latin typeface="Calibri" pitchFamily="34" charset="0"/>
                <a:ea typeface="Calibri" pitchFamily="34" charset="-122"/>
                <a:cs typeface="Calibri" pitchFamily="34" charset="-120"/>
              </a:rPr>
              <a:t>Souhaite-t-il être traité en </a:t>
            </a:r>
            <a:pPr indent="0" marL="0">
              <a:spcAft>
                <a:spcPts val="1800"/>
              </a:spcAft>
              <a:buNone/>
            </a:pPr>
            <a:r>
              <a:rPr lang="en-US" sz="1700" b="1" dirty="0">
                <a:solidFill>
                  <a:srgbClr val="14304F"/>
                </a:solidFill>
                <a:latin typeface="Calibri" pitchFamily="34" charset="0"/>
                <a:ea typeface="Calibri" pitchFamily="34" charset="-122"/>
                <a:cs typeface="Calibri" pitchFamily="34" charset="-120"/>
              </a:rPr>
              <a:t>client professionnel</a:t>
            </a:r>
            <a:pPr indent="0" marL="0">
              <a:spcAft>
                <a:spcPts val="1800"/>
              </a:spcAft>
              <a:buNone/>
            </a:pPr>
            <a:r>
              <a:rPr lang="en-US" sz="1700" dirty="0">
                <a:solidFill>
                  <a:srgbClr val="1F2937"/>
                </a:solidFill>
                <a:latin typeface="Calibri" pitchFamily="34" charset="0"/>
                <a:ea typeface="Calibri" pitchFamily="34" charset="-122"/>
                <a:cs typeface="Calibri" pitchFamily="34" charset="-120"/>
              </a:rPr>
              <a:t> (univers plus large) ?</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A — Comment on estime le rendement d'une action</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48640" y="1417320"/>
            <a:ext cx="5486400" cy="1737360"/>
          </a:xfrm>
          <a:prstGeom prst="roundRect">
            <a:avLst>
              <a:gd name="adj" fmla="val 4211"/>
            </a:avLst>
          </a:prstGeom>
          <a:solidFill>
            <a:srgbClr val="F2F5F9"/>
          </a:solidFill>
          <a:ln w="12700">
            <a:solidFill>
              <a:srgbClr val="F2F5F9"/>
            </a:solidFill>
            <a:prstDash val="solid"/>
          </a:ln>
        </p:spPr>
      </p:sp>
      <p:sp>
        <p:nvSpPr>
          <p:cNvPr id="6" name="Text 4"/>
          <p:cNvSpPr txBox="1"/>
          <p:nvPr/>
        </p:nvSpPr>
        <p:spPr>
          <a:xfrm>
            <a:off x="777240" y="155448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① Par les bénéfices</a:t>
            </a:r>
            <a:endParaRPr lang="en-US" sz="1600" dirty="0"/>
          </a:p>
        </p:txBody>
      </p:sp>
      <p:sp>
        <p:nvSpPr>
          <p:cNvPr id="7" name="Text 5"/>
          <p:cNvSpPr txBox="1"/>
          <p:nvPr/>
        </p:nvSpPr>
        <p:spPr>
          <a:xfrm>
            <a:off x="777240" y="1965960"/>
            <a:ext cx="5029200" cy="1554480"/>
          </a:xfrm>
          <a:prstGeom prst="rect">
            <a:avLst/>
          </a:prstGeom>
          <a:noFill/>
          <a:ln/>
        </p:spPr>
        <p:txBody>
          <a:bodyPr wrap="square" lIns="0" tIns="0" rIns="0" bIns="0" rtlCol="0" anchor="t"/>
          <a:lstStyle/>
          <a:p>
            <a:pPr indent="0" marL="0">
              <a:spcAft>
                <a:spcPts val="600"/>
              </a:spcAft>
              <a:buNone/>
            </a:pPr>
            <a:r>
              <a:rPr lang="en-US" sz="1350" dirty="0">
                <a:solidFill>
                  <a:srgbClr val="1F2937"/>
                </a:solidFill>
                <a:latin typeface="Calibri" pitchFamily="34" charset="0"/>
                <a:ea typeface="Calibri" pitchFamily="34" charset="-122"/>
                <a:cs typeface="Calibri" pitchFamily="34" charset="-120"/>
              </a:rPr>
              <a:t>Rendement réel ≈ </a:t>
            </a:r>
            <a:pPr indent="0" marL="0">
              <a:spcAft>
                <a:spcPts val="600"/>
              </a:spcAft>
              <a:buNone/>
            </a:pPr>
            <a:r>
              <a:rPr lang="en-US" sz="1350" b="1" dirty="0">
                <a:solidFill>
                  <a:srgbClr val="14304F"/>
                </a:solidFill>
                <a:latin typeface="Calibri" pitchFamily="34" charset="0"/>
                <a:ea typeface="Calibri" pitchFamily="34" charset="-122"/>
                <a:cs typeface="Calibri" pitchFamily="34" charset="-120"/>
              </a:rPr>
              <a:t>1 / PER</a:t>
            </a:r>
            <a:pPr indent="0" marL="0">
              <a:spcAft>
                <a:spcPts val="600"/>
              </a:spcAft>
              <a:buNone/>
            </a:pPr>
            <a:r>
              <a:rPr lang="en-US" sz="1350" dirty="0">
                <a:solidFill>
                  <a:srgbClr val="1F2937"/>
                </a:solidFill>
                <a:latin typeface="Calibri" pitchFamily="34" charset="0"/>
                <a:ea typeface="Calibri" pitchFamily="34" charset="-122"/>
                <a:cs typeface="Calibri" pitchFamily="34" charset="-120"/>
              </a:rPr>
              <a:t>. À un PER de 20, on achète 5 % de bénéfices par an ; sur longue période, c'est une bonne estimation du rendement au-delà de l'inflation.</a:t>
            </a:r>
            <a:endParaRPr lang="en-US" sz="1350" dirty="0"/>
          </a:p>
        </p:txBody>
      </p:sp>
      <p:sp>
        <p:nvSpPr>
          <p:cNvPr id="8" name="Shape 6"/>
          <p:cNvSpPr/>
          <p:nvPr/>
        </p:nvSpPr>
        <p:spPr>
          <a:xfrm>
            <a:off x="6245352" y="1417320"/>
            <a:ext cx="5394960" cy="1737360"/>
          </a:xfrm>
          <a:prstGeom prst="roundRect">
            <a:avLst>
              <a:gd name="adj" fmla="val 4211"/>
            </a:avLst>
          </a:prstGeom>
          <a:solidFill>
            <a:srgbClr val="F2F5F9"/>
          </a:solidFill>
          <a:ln w="12700">
            <a:solidFill>
              <a:srgbClr val="F2F5F9"/>
            </a:solidFill>
            <a:prstDash val="solid"/>
          </a:ln>
        </p:spPr>
      </p:sp>
      <p:sp>
        <p:nvSpPr>
          <p:cNvPr id="9" name="Text 7"/>
          <p:cNvSpPr txBox="1"/>
          <p:nvPr/>
        </p:nvSpPr>
        <p:spPr>
          <a:xfrm>
            <a:off x="6473952" y="1554480"/>
            <a:ext cx="493776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② Par le dividende et la croissance</a:t>
            </a:r>
            <a:endParaRPr lang="en-US" sz="1600" dirty="0"/>
          </a:p>
        </p:txBody>
      </p:sp>
      <p:sp>
        <p:nvSpPr>
          <p:cNvPr id="10" name="Text 8"/>
          <p:cNvSpPr txBox="1"/>
          <p:nvPr/>
        </p:nvSpPr>
        <p:spPr>
          <a:xfrm>
            <a:off x="6473952" y="1965960"/>
            <a:ext cx="4937760" cy="1554480"/>
          </a:xfrm>
          <a:prstGeom prst="rect">
            <a:avLst/>
          </a:prstGeom>
          <a:noFill/>
          <a:ln/>
        </p:spPr>
        <p:txBody>
          <a:bodyPr wrap="square" lIns="0" tIns="0" rIns="0" bIns="0" rtlCol="0" anchor="t"/>
          <a:lstStyle/>
          <a:p>
            <a:pPr indent="0" marL="0">
              <a:spcAft>
                <a:spcPts val="600"/>
              </a:spcAft>
              <a:buNone/>
            </a:pPr>
            <a:r>
              <a:rPr lang="en-US" sz="1350" dirty="0">
                <a:solidFill>
                  <a:srgbClr val="1F2937"/>
                </a:solidFill>
                <a:latin typeface="Calibri" pitchFamily="34" charset="0"/>
                <a:ea typeface="Calibri" pitchFamily="34" charset="-122"/>
                <a:cs typeface="Calibri" pitchFamily="34" charset="-120"/>
              </a:rPr>
              <a:t>Rendement réel ≈ </a:t>
            </a:r>
            <a:pPr indent="0" marL="0">
              <a:spcAft>
                <a:spcPts val="600"/>
              </a:spcAft>
              <a:buNone/>
            </a:pPr>
            <a:r>
              <a:rPr lang="en-US" sz="1350" b="1" dirty="0">
                <a:solidFill>
                  <a:srgbClr val="14304F"/>
                </a:solidFill>
                <a:latin typeface="Calibri" pitchFamily="34" charset="0"/>
                <a:ea typeface="Calibri" pitchFamily="34" charset="-122"/>
                <a:cs typeface="Calibri" pitchFamily="34" charset="-120"/>
              </a:rPr>
              <a:t>dividende + croissance réelle des bénéfices</a:t>
            </a:r>
            <a:pPr indent="0" marL="0">
              <a:spcAft>
                <a:spcPts val="600"/>
              </a:spcAft>
              <a:buNone/>
            </a:pPr>
            <a:r>
              <a:rPr lang="en-US" sz="1350" dirty="0">
                <a:solidFill>
                  <a:srgbClr val="1F2937"/>
                </a:solidFill>
                <a:latin typeface="Calibri" pitchFamily="34" charset="0"/>
                <a:ea typeface="Calibri" pitchFamily="34" charset="-122"/>
                <a:cs typeface="Calibri" pitchFamily="34" charset="-120"/>
              </a:rPr>
              <a:t> (2,0 % par an, S&amp;P 500 depuis 1900).</a:t>
            </a:r>
            <a:endParaRPr lang="en-US" sz="1350" dirty="0"/>
          </a:p>
        </p:txBody>
      </p:sp>
      <p:sp>
        <p:nvSpPr>
          <p:cNvPr id="11" name="Shape 9"/>
          <p:cNvSpPr/>
          <p:nvPr/>
        </p:nvSpPr>
        <p:spPr>
          <a:xfrm>
            <a:off x="548640" y="3429000"/>
            <a:ext cx="11094415" cy="1005840"/>
          </a:xfrm>
          <a:prstGeom prst="roundRect">
            <a:avLst>
              <a:gd name="adj" fmla="val 7273"/>
            </a:avLst>
          </a:prstGeom>
          <a:solidFill>
            <a:srgbClr val="14304F"/>
          </a:solidFill>
          <a:ln w="12700">
            <a:solidFill>
              <a:srgbClr val="14304F"/>
            </a:solidFill>
            <a:prstDash val="solid"/>
          </a:ln>
        </p:spPr>
      </p:sp>
      <p:sp>
        <p:nvSpPr>
          <p:cNvPr id="12" name="Text 10"/>
          <p:cNvSpPr txBox="1"/>
          <p:nvPr/>
        </p:nvSpPr>
        <p:spPr>
          <a:xfrm>
            <a:off x="777240" y="3566160"/>
            <a:ext cx="10637215"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Rendement espéré = </a:t>
            </a:r>
            <a:pPr indent="0" marL="0">
              <a:buNone/>
            </a:pPr>
            <a:r>
              <a:rPr lang="en-US" sz="1500" b="1" dirty="0">
                <a:solidFill>
                  <a:srgbClr val="F5C969"/>
                </a:solidFill>
                <a:latin typeface="Calibri" pitchFamily="34" charset="0"/>
                <a:ea typeface="Calibri" pitchFamily="34" charset="-122"/>
                <a:cs typeface="Calibri" pitchFamily="34" charset="-120"/>
              </a:rPr>
              <a:t>moyenne de ① et ②  + 4 % d'inflation</a:t>
            </a:r>
            <a:pPr indent="0" marL="0">
              <a:buNone/>
            </a:pPr>
            <a:r>
              <a:rPr lang="en-US" sz="1500" dirty="0">
                <a:solidFill>
                  <a:srgbClr val="FFFFFF"/>
                </a:solidFill>
                <a:latin typeface="Calibri" pitchFamily="34" charset="0"/>
                <a:ea typeface="Calibri" pitchFamily="34" charset="-122"/>
                <a:cs typeface="Calibri" pitchFamily="34" charset="-120"/>
              </a:rPr>
              <a:t> (les entreprises répercutent la hausse des prix dans leurs bénéfices).</a:t>
            </a:r>
            <a:endParaRPr lang="en-US" sz="1500" dirty="0"/>
          </a:p>
        </p:txBody>
      </p:sp>
      <p:sp>
        <p:nvSpPr>
          <p:cNvPr id="13" name="Text 11"/>
          <p:cNvSpPr txBox="1"/>
          <p:nvPr/>
        </p:nvSpPr>
        <p:spPr>
          <a:xfrm>
            <a:off x="548640" y="4663440"/>
            <a:ext cx="11094415" cy="146304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rgbClr val="14304F"/>
                </a:solidFill>
                <a:latin typeface="Calibri" pitchFamily="34" charset="0"/>
                <a:ea typeface="Calibri" pitchFamily="34" charset="-122"/>
                <a:cs typeface="Calibri" pitchFamily="34" charset="-120"/>
              </a:rPr>
              <a:t>Fourchette</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écart entre sources de PER (iShares / Yahoo) et entre périodes de mesure de la croissance</a:t>
            </a:r>
            <a:endParaRPr lang="en-US" sz="1500" dirty="0"/>
          </a:p>
          <a:p>
            <a:pPr marL="203200" indent="-203200">
              <a:spcAft>
                <a:spcPts val="1000"/>
              </a:spcAft>
              <a:buSzPct val="100000"/>
              <a:buChar char="•"/>
            </a:pPr>
            <a:r>
              <a:rPr lang="en-US" sz="1500" b="1" dirty="0">
                <a:solidFill>
                  <a:srgbClr val="14304F"/>
                </a:solidFill>
                <a:latin typeface="Calibri" pitchFamily="34" charset="0"/>
                <a:ea typeface="Calibri" pitchFamily="34" charset="-122"/>
                <a:cs typeface="Calibri" pitchFamily="34" charset="-120"/>
              </a:rPr>
              <a:t>Contrôle</a:t>
            </a:r>
            <a:pPr indent="0" marL="0">
              <a:spcAft>
                <a:spcPts val="1000"/>
              </a:spcAft>
              <a:buNone/>
            </a:pPr>
            <a:r>
              <a:rPr lang="en-US" sz="1500" dirty="0">
                <a:solidFill>
                  <a:srgbClr val="1F2937"/>
                </a:solidFill>
                <a:latin typeface="Calibri" pitchFamily="34" charset="0"/>
                <a:ea typeface="Calibri" pitchFamily="34" charset="-122"/>
                <a:cs typeface="Calibri" pitchFamily="34" charset="-120"/>
              </a:rPr>
              <a:t> : à moins d'un point des hypothèses J.P. Morgan une fois leur inflation (2 %) corrigée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B — Données, remplaçants et contrôles</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94560"/>
                <a:gridCol w="5303520"/>
                <a:gridCol w="3593592"/>
              </a:tblGrid>
              <a:tr h="6400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Sujet</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Ce qu'on a fait</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Limite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6400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Historique 2006-2018</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Vrai support dès qu'il existe, fonds plus ancien sur le même indice avant, converti en euros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Indexées : remplaçant classique en 2008 (flatteur)</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6400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Emprunts d'État</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Obligations recalculées chaque jour sur la courbe BCE (Svensson) depuis 2006</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6400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Crédit avant 2016</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Prime reconstituée depuis les écarts US (sensibilité mesurée sur le vrai fonds)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Lien faible : ligne la moins bien mesurée</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6400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Optimisation</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Pire baisse mesurée sur le chemin réel, rééquilibrage mensuel, 16 départs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Apprend le passé : d'où les règles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6400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Libellés des fonds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Nom Yahoo et nom justETF (par ISIN) doivent concorder</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Neuf erreurs trouvées et corrigées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6400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Prix aberrants</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Allers-retours isolés retirés ; baisses de crédit sur cours du vendredi</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C — Comment 600 actions deviennent 15</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41</a:t>
            </a:r>
            <a:endParaRPr lang="en-US" sz="900" dirty="0"/>
          </a:p>
        </p:txBody>
      </p:sp>
      <p:sp>
        <p:nvSpPr>
          <p:cNvPr id="5" name="Shape 3"/>
          <p:cNvSpPr/>
          <p:nvPr/>
        </p:nvSpPr>
        <p:spPr>
          <a:xfrm>
            <a:off x="548640" y="1371600"/>
            <a:ext cx="11094415" cy="868680"/>
          </a:xfrm>
          <a:prstGeom prst="roundRect">
            <a:avLst>
              <a:gd name="adj" fmla="val 8421"/>
            </a:avLst>
          </a:prstGeom>
          <a:solidFill>
            <a:srgbClr val="14304F"/>
          </a:solidFill>
          <a:ln w="12700">
            <a:solidFill>
              <a:srgbClr val="14304F"/>
            </a:solidFill>
            <a:prstDash val="solid"/>
          </a:ln>
        </p:spPr>
      </p:sp>
      <p:sp>
        <p:nvSpPr>
          <p:cNvPr id="6" name="Text 4"/>
          <p:cNvSpPr txBox="1"/>
          <p:nvPr/>
        </p:nvSpPr>
        <p:spPr>
          <a:xfrm>
            <a:off x="777240" y="1508760"/>
            <a:ext cx="10637215" cy="5943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Le problème : on veut mélanger un PER, une marge, une volatilité et une croissance. </a:t>
            </a:r>
            <a:pPr indent="0" marL="0">
              <a:buNone/>
            </a:pPr>
            <a:r>
              <a:rPr lang="en-US" sz="1450" b="1" dirty="0">
                <a:solidFill>
                  <a:srgbClr val="F5C969"/>
                </a:solidFill>
                <a:latin typeface="Calibri" pitchFamily="34" charset="0"/>
                <a:ea typeface="Calibri" pitchFamily="34" charset="-122"/>
                <a:cs typeface="Calibri" pitchFamily="34" charset="-120"/>
              </a:rPr>
              <a:t>Trois obstacles — les unités diffèrent, les sens s'opposent, et le niveau « normal » dépend du secteur.</a:t>
            </a:r>
            <a:endParaRPr lang="en-US" sz="1450" dirty="0"/>
          </a:p>
        </p:txBody>
      </p:sp>
      <p:sp>
        <p:nvSpPr>
          <p:cNvPr id="7" name="Shape 5"/>
          <p:cNvSpPr/>
          <p:nvPr/>
        </p:nvSpPr>
        <p:spPr>
          <a:xfrm>
            <a:off x="548640" y="2423160"/>
            <a:ext cx="3657600" cy="2377440"/>
          </a:xfrm>
          <a:prstGeom prst="roundRect">
            <a:avLst>
              <a:gd name="adj" fmla="val 3077"/>
            </a:avLst>
          </a:prstGeom>
          <a:solidFill>
            <a:srgbClr val="F2F5F9"/>
          </a:solidFill>
          <a:ln w="12700">
            <a:solidFill>
              <a:srgbClr val="F2F5F9"/>
            </a:solidFill>
            <a:prstDash val="solid"/>
          </a:ln>
        </p:spPr>
      </p:sp>
      <p:sp>
        <p:nvSpPr>
          <p:cNvPr id="8" name="Text 6"/>
          <p:cNvSpPr txBox="1"/>
          <p:nvPr/>
        </p:nvSpPr>
        <p:spPr>
          <a:xfrm>
            <a:off x="749808" y="2560320"/>
            <a:ext cx="3255264" cy="54864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① Tout mettre dans le même sens</a:t>
            </a:r>
            <a:endParaRPr lang="en-US" sz="1500" dirty="0"/>
          </a:p>
        </p:txBody>
      </p:sp>
      <p:sp>
        <p:nvSpPr>
          <p:cNvPr id="9" name="Text 7"/>
          <p:cNvSpPr txBox="1"/>
          <p:nvPr/>
        </p:nvSpPr>
        <p:spPr>
          <a:xfrm>
            <a:off x="749808" y="3127248"/>
            <a:ext cx="3255264" cy="1554480"/>
          </a:xfrm>
          <a:prstGeom prst="rect">
            <a:avLst/>
          </a:prstGeom>
          <a:noFill/>
          <a:ln/>
        </p:spPr>
        <p:txBody>
          <a:bodyPr wrap="square" lIns="0" tIns="0" rIns="0" bIns="0" rtlCol="0" anchor="t"/>
          <a:lstStyle/>
          <a:p>
            <a:pPr indent="0" marL="0">
              <a:spcAft>
                <a:spcPts val="600"/>
              </a:spcAft>
              <a:buNone/>
            </a:pPr>
            <a:r>
              <a:rPr lang="en-US" sz="1280" dirty="0">
                <a:solidFill>
                  <a:srgbClr val="1F2937"/>
                </a:solidFill>
                <a:latin typeface="Calibri" pitchFamily="34" charset="0"/>
                <a:ea typeface="Calibri" pitchFamily="34" charset="-122"/>
                <a:cs typeface="Calibri" pitchFamily="34" charset="-120"/>
              </a:rPr>
              <a:t>On remplace chaque indicateur par une version où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plus haut = mieux</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Le PER devient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1 / PER</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soit le rendement des bénéfices : à un PER de 20 on achète 5 % par an. Ce n'est pas cosmétique — passer d'un PER de 10 à 20 coûte 5 points de rendement, de 30 à 40 seulement 0,8. Sur le PER brut, les deux écarts valent « 10 ».</a:t>
            </a:r>
            <a:endParaRPr lang="en-US" sz="1280" dirty="0"/>
          </a:p>
        </p:txBody>
      </p:sp>
      <p:sp>
        <p:nvSpPr>
          <p:cNvPr id="10" name="Shape 8"/>
          <p:cNvSpPr/>
          <p:nvPr/>
        </p:nvSpPr>
        <p:spPr>
          <a:xfrm>
            <a:off x="4434840" y="2423160"/>
            <a:ext cx="3657600" cy="2377440"/>
          </a:xfrm>
          <a:prstGeom prst="roundRect">
            <a:avLst>
              <a:gd name="adj" fmla="val 3077"/>
            </a:avLst>
          </a:prstGeom>
          <a:solidFill>
            <a:srgbClr val="F2F5F9"/>
          </a:solidFill>
          <a:ln w="12700">
            <a:solidFill>
              <a:srgbClr val="F2F5F9"/>
            </a:solidFill>
            <a:prstDash val="solid"/>
          </a:ln>
        </p:spPr>
      </p:sp>
      <p:sp>
        <p:nvSpPr>
          <p:cNvPr id="11" name="Text 9"/>
          <p:cNvSpPr txBox="1"/>
          <p:nvPr/>
        </p:nvSpPr>
        <p:spPr>
          <a:xfrm>
            <a:off x="4636008" y="2560320"/>
            <a:ext cx="3255264" cy="54864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② Comparer chacune à son secteur</a:t>
            </a:r>
            <a:endParaRPr lang="en-US" sz="1500" dirty="0"/>
          </a:p>
        </p:txBody>
      </p:sp>
      <p:sp>
        <p:nvSpPr>
          <p:cNvPr id="12" name="Text 10"/>
          <p:cNvSpPr txBox="1"/>
          <p:nvPr/>
        </p:nvSpPr>
        <p:spPr>
          <a:xfrm>
            <a:off x="4636008" y="3127248"/>
            <a:ext cx="3255264" cy="1554480"/>
          </a:xfrm>
          <a:prstGeom prst="rect">
            <a:avLst/>
          </a:prstGeom>
          <a:noFill/>
          <a:ln/>
        </p:spPr>
        <p:txBody>
          <a:bodyPr wrap="square" lIns="0" tIns="0" rIns="0" bIns="0" rtlCol="0" anchor="t"/>
          <a:lstStyle/>
          <a:p>
            <a:pPr indent="0" marL="0">
              <a:spcAft>
                <a:spcPts val="600"/>
              </a:spcAft>
              <a:buNone/>
            </a:pPr>
            <a:r>
              <a:rPr lang="en-US" sz="1280" dirty="0">
                <a:solidFill>
                  <a:srgbClr val="1F2937"/>
                </a:solidFill>
                <a:latin typeface="Calibri" pitchFamily="34" charset="0"/>
                <a:ea typeface="Calibri" pitchFamily="34" charset="-122"/>
                <a:cs typeface="Calibri" pitchFamily="34" charset="-120"/>
              </a:rPr>
              <a:t>On remplace la valeur par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de combien elle s'écarte de la moyenne de son secteur</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mesuré en nombre d'écarts-types. Une action à +1 est meilleure que 84 % de ses pairs, à 0 elle est dans la moyenne. Tout devient comparable, donc moyennable.</a:t>
            </a:r>
            <a:endParaRPr lang="en-US" sz="1280" dirty="0"/>
          </a:p>
        </p:txBody>
      </p:sp>
      <p:sp>
        <p:nvSpPr>
          <p:cNvPr id="13" name="Shape 11"/>
          <p:cNvSpPr/>
          <p:nvPr/>
        </p:nvSpPr>
        <p:spPr>
          <a:xfrm>
            <a:off x="8321040" y="2423160"/>
            <a:ext cx="3657600" cy="2377440"/>
          </a:xfrm>
          <a:prstGeom prst="roundRect">
            <a:avLst>
              <a:gd name="adj" fmla="val 3077"/>
            </a:avLst>
          </a:prstGeom>
          <a:solidFill>
            <a:srgbClr val="F2F5F9"/>
          </a:solidFill>
          <a:ln w="12700">
            <a:solidFill>
              <a:srgbClr val="F2F5F9"/>
            </a:solidFill>
            <a:prstDash val="solid"/>
          </a:ln>
        </p:spPr>
      </p:sp>
      <p:sp>
        <p:nvSpPr>
          <p:cNvPr id="14" name="Text 12"/>
          <p:cNvSpPr txBox="1"/>
          <p:nvPr/>
        </p:nvSpPr>
        <p:spPr>
          <a:xfrm>
            <a:off x="8522208" y="2560320"/>
            <a:ext cx="3255264" cy="54864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③ Puis seulement, la moyenne</a:t>
            </a:r>
            <a:endParaRPr lang="en-US" sz="1500" dirty="0"/>
          </a:p>
        </p:txBody>
      </p:sp>
      <p:sp>
        <p:nvSpPr>
          <p:cNvPr id="15" name="Text 13"/>
          <p:cNvSpPr txBox="1"/>
          <p:nvPr/>
        </p:nvSpPr>
        <p:spPr>
          <a:xfrm>
            <a:off x="8522208" y="3127248"/>
            <a:ext cx="3255264" cy="1554480"/>
          </a:xfrm>
          <a:prstGeom prst="rect">
            <a:avLst/>
          </a:prstGeom>
          <a:noFill/>
          <a:ln/>
        </p:spPr>
        <p:txBody>
          <a:bodyPr wrap="square" lIns="0" tIns="0" rIns="0" bIns="0" rtlCol="0" anchor="t"/>
          <a:lstStyle/>
          <a:p>
            <a:pPr indent="0" marL="0">
              <a:spcAft>
                <a:spcPts val="600"/>
              </a:spcAft>
              <a:buNone/>
            </a:pPr>
            <a:r>
              <a:rPr lang="en-US" sz="1280" dirty="0">
                <a:solidFill>
                  <a:srgbClr val="1F2937"/>
                </a:solidFill>
                <a:latin typeface="Calibri" pitchFamily="34" charset="0"/>
                <a:ea typeface="Calibri" pitchFamily="34" charset="-122"/>
                <a:cs typeface="Calibri" pitchFamily="34" charset="-120"/>
              </a:rPr>
              <a:t>Cinq piliers à poids égaux — valorisation, croissance, dynamique, qualité, résistance. Aucun n'a de raison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mesurée</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d'être privilégié : les pondérer demanderait d'estimer des primes de facteur, ce qui est un autre métier.</a:t>
            </a:r>
            <a:endParaRPr lang="en-US" sz="1280" dirty="0"/>
          </a:p>
        </p:txBody>
      </p:sp>
      <p:sp>
        <p:nvSpPr>
          <p:cNvPr id="16" name="Shape 14"/>
          <p:cNvSpPr/>
          <p:nvPr/>
        </p:nvSpPr>
        <p:spPr>
          <a:xfrm>
            <a:off x="548640" y="5029200"/>
            <a:ext cx="11094415" cy="1005840"/>
          </a:xfrm>
          <a:prstGeom prst="roundRect">
            <a:avLst>
              <a:gd name="adj" fmla="val 7273"/>
            </a:avLst>
          </a:prstGeom>
          <a:solidFill>
            <a:srgbClr val="F2F5F9"/>
          </a:solidFill>
          <a:ln w="12700">
            <a:solidFill>
              <a:srgbClr val="F2F5F9"/>
            </a:solidFill>
            <a:prstDash val="solid"/>
          </a:ln>
        </p:spPr>
      </p:sp>
      <p:sp>
        <p:nvSpPr>
          <p:cNvPr id="17" name="Text 15"/>
          <p:cNvSpPr txBox="1"/>
          <p:nvPr/>
        </p:nvSpPr>
        <p:spPr>
          <a:xfrm>
            <a:off x="777240" y="5166360"/>
            <a:ext cx="10637215" cy="7315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Pourquoi « de son secteur » et pas « du marché entier »</a:t>
            </a:r>
            <a:pPr indent="0" marL="0">
              <a:buNone/>
            </a:pPr>
            <a:r>
              <a:rPr lang="en-US" sz="1400" dirty="0">
                <a:solidFill>
                  <a:srgbClr val="1F2937"/>
                </a:solidFill>
                <a:latin typeface="Calibri" pitchFamily="34" charset="0"/>
                <a:ea typeface="Calibri" pitchFamily="34" charset="-122"/>
                <a:cs typeface="Calibri" pitchFamily="34" charset="-120"/>
              </a:rPr>
              <a:t> : sinon les banques et l'énergie, structurellement bon marché, rafleraient toutes les bonnes notes de valorisation. On construirait </a:t>
            </a:r>
            <a:pPr indent="0" marL="0">
              <a:buNone/>
            </a:pPr>
            <a:r>
              <a:rPr lang="en-US" sz="1400" b="1" dirty="0">
                <a:solidFill>
                  <a:srgbClr val="1F2937"/>
                </a:solidFill>
                <a:latin typeface="Calibri" pitchFamily="34" charset="0"/>
                <a:ea typeface="Calibri" pitchFamily="34" charset="-122"/>
                <a:cs typeface="Calibri" pitchFamily="34" charset="-120"/>
              </a:rPr>
              <a:t>un pari sectoriel déguisé en sélection de titres</a:t>
            </a:r>
            <a:pP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D — La courbe des taux, en six nombres</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 · modèle de Svensson, publié chaque jour par la BCE</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42</a:t>
            </a:r>
            <a:endParaRPr lang="en-US" sz="900" dirty="0"/>
          </a:p>
        </p:txBody>
      </p:sp>
      <p:sp>
        <p:nvSpPr>
          <p:cNvPr id="5" name="Shape 3"/>
          <p:cNvSpPr/>
          <p:nvPr/>
        </p:nvSpPr>
        <p:spPr>
          <a:xfrm>
            <a:off x="548640" y="1371600"/>
            <a:ext cx="11094415" cy="868680"/>
          </a:xfrm>
          <a:prstGeom prst="roundRect">
            <a:avLst>
              <a:gd name="adj" fmla="val 8421"/>
            </a:avLst>
          </a:prstGeom>
          <a:solidFill>
            <a:srgbClr val="14304F"/>
          </a:solidFill>
          <a:ln w="12700">
            <a:solidFill>
              <a:srgbClr val="14304F"/>
            </a:solidFill>
            <a:prstDash val="solid"/>
          </a:ln>
        </p:spPr>
      </p:sp>
      <p:sp>
        <p:nvSpPr>
          <p:cNvPr id="6" name="Text 4"/>
          <p:cNvSpPr txBox="1"/>
          <p:nvPr/>
        </p:nvSpPr>
        <p:spPr>
          <a:xfrm>
            <a:off x="777240" y="1508760"/>
            <a:ext cx="10637215" cy="5943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Le problème : les obligations qui existent ont des échéances </a:t>
            </a:r>
            <a:pPr indent="0" marL="0">
              <a:buNone/>
            </a:pPr>
            <a:r>
              <a:rPr lang="en-US" sz="1450" b="1" dirty="0">
                <a:solidFill>
                  <a:srgbClr val="F5C969"/>
                </a:solidFill>
                <a:latin typeface="Calibri" pitchFamily="34" charset="0"/>
                <a:ea typeface="Calibri" pitchFamily="34" charset="-122"/>
                <a:cs typeface="Calibri" pitchFamily="34" charset="-120"/>
              </a:rPr>
              <a:t>en désordre</a:t>
            </a:r>
            <a:pPr indent="0" marL="0">
              <a:buNone/>
            </a:pPr>
            <a:r>
              <a:rPr lang="en-US" sz="1450" dirty="0">
                <a:solidFill>
                  <a:srgbClr val="FFFFFF"/>
                </a:solidFill>
                <a:latin typeface="Calibri" pitchFamily="34" charset="0"/>
                <a:ea typeface="Calibri" pitchFamily="34" charset="-122"/>
                <a:cs typeface="Calibri" pitchFamily="34" charset="-120"/>
              </a:rPr>
              <a:t>. Une à 4 ans et 2 mois, une à 7 ans et 9 mois, rien à 6 ans. Si j'ai besoin du taux à 6 ans, personne ne me le donne.</a:t>
            </a:r>
            <a:endParaRPr lang="en-US" sz="1450" dirty="0"/>
          </a:p>
        </p:txBody>
      </p:sp>
      <p:sp>
        <p:nvSpPr>
          <p:cNvPr id="7" name="Shape 5"/>
          <p:cNvSpPr/>
          <p:nvPr/>
        </p:nvSpPr>
        <p:spPr>
          <a:xfrm>
            <a:off x="548640" y="2423160"/>
            <a:ext cx="5486400" cy="2286000"/>
          </a:xfrm>
          <a:prstGeom prst="roundRect">
            <a:avLst>
              <a:gd name="adj" fmla="val 3200"/>
            </a:avLst>
          </a:prstGeom>
          <a:solidFill>
            <a:srgbClr val="F2F5F9"/>
          </a:solidFill>
          <a:ln w="12700">
            <a:solidFill>
              <a:srgbClr val="F2F5F9"/>
            </a:solidFill>
            <a:prstDash val="solid"/>
          </a:ln>
        </p:spPr>
      </p:sp>
      <p:sp>
        <p:nvSpPr>
          <p:cNvPr id="8" name="Text 6"/>
          <p:cNvSpPr txBox="1"/>
          <p:nvPr/>
        </p:nvSpPr>
        <p:spPr>
          <a:xfrm>
            <a:off x="777240" y="256032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Deux façons de combler les trous</a:t>
            </a:r>
            <a:endParaRPr lang="en-US" sz="1600" dirty="0"/>
          </a:p>
        </p:txBody>
      </p:sp>
      <p:sp>
        <p:nvSpPr>
          <p:cNvPr id="9" name="Text 7"/>
          <p:cNvSpPr txBox="1"/>
          <p:nvPr/>
        </p:nvSpPr>
        <p:spPr>
          <a:xfrm>
            <a:off x="777240" y="2999232"/>
            <a:ext cx="5029200" cy="1600200"/>
          </a:xfrm>
          <a:prstGeom prst="rect">
            <a:avLst/>
          </a:prstGeom>
          <a:noFill/>
          <a:ln/>
        </p:spPr>
        <p:txBody>
          <a:bodyPr wrap="square" lIns="0" tIns="0" rIns="0" bIns="0" rtlCol="0" anchor="t"/>
          <a:lstStyle/>
          <a:p>
            <a:pPr marL="203200" indent="-203200">
              <a:spcAft>
                <a:spcPts val="800"/>
              </a:spcAft>
              <a:buSzPct val="100000"/>
              <a:buChar char="•"/>
            </a:pPr>
            <a:r>
              <a:rPr lang="en-US" sz="1250" b="1" dirty="0">
                <a:solidFill>
                  <a:srgbClr val="14304F"/>
                </a:solidFill>
                <a:latin typeface="Calibri" pitchFamily="34" charset="0"/>
                <a:ea typeface="Calibri" pitchFamily="34" charset="-122"/>
                <a:cs typeface="Calibri" pitchFamily="34" charset="-120"/>
              </a:rPr>
              <a:t>Relier les points.</a:t>
            </a:r>
            <a:pPr indent="0" marL="0">
              <a:spcAft>
                <a:spcPts val="800"/>
              </a:spcAft>
              <a:buNone/>
            </a:pPr>
            <a:r>
              <a:rPr lang="en-US" sz="1250" dirty="0">
                <a:solidFill>
                  <a:srgbClr val="1F2937"/>
                </a:solidFill>
                <a:latin typeface="Calibri" pitchFamily="34" charset="0"/>
                <a:ea typeface="Calibri" pitchFamily="34" charset="-122"/>
                <a:cs typeface="Calibri" pitchFamily="34" charset="-120"/>
              </a:rPr>
              <a:t> Simple, mais on recopie le bruit : une obligation mal cotée ce jour-là crée une bosse qui n'existe pas</a:t>
            </a:r>
            <a:endParaRPr lang="en-US" sz="1250" dirty="0"/>
          </a:p>
          <a:p>
            <a:pPr marL="203200" indent="-203200">
              <a:spcAft>
                <a:spcPts val="800"/>
              </a:spcAft>
              <a:buSzPct val="100000"/>
              <a:buChar char="•"/>
            </a:pPr>
            <a:r>
              <a:rPr lang="en-US" sz="1250" b="1" dirty="0">
                <a:solidFill>
                  <a:srgbClr val="14304F"/>
                </a:solidFill>
                <a:latin typeface="Calibri" pitchFamily="34" charset="0"/>
                <a:ea typeface="Calibri" pitchFamily="34" charset="-122"/>
                <a:cs typeface="Calibri" pitchFamily="34" charset="-120"/>
              </a:rPr>
              <a:t>Décrire la forme</a:t>
            </a:r>
            <a:pPr indent="0" marL="0">
              <a:spcAft>
                <a:spcPts val="800"/>
              </a:spcAft>
              <a:buNone/>
            </a:pPr>
            <a:r>
              <a:rPr lang="en-US" sz="1250" dirty="0">
                <a:solidFill>
                  <a:srgbClr val="1F2937"/>
                </a:solidFill>
                <a:latin typeface="Calibri" pitchFamily="34" charset="0"/>
                <a:ea typeface="Calibri" pitchFamily="34" charset="-122"/>
                <a:cs typeface="Calibri" pitchFamily="34" charset="-120"/>
              </a:rPr>
              <a:t> par quelques nombres, en acceptant de ne pas passer exactement par chaque point. C'est Svensson</a:t>
            </a:r>
            <a:endParaRPr lang="en-US" sz="1250" dirty="0"/>
          </a:p>
        </p:txBody>
      </p:sp>
      <p:sp>
        <p:nvSpPr>
          <p:cNvPr id="10" name="Shape 8"/>
          <p:cNvSpPr/>
          <p:nvPr/>
        </p:nvSpPr>
        <p:spPr>
          <a:xfrm>
            <a:off x="6245352" y="2423160"/>
            <a:ext cx="5394960" cy="2286000"/>
          </a:xfrm>
          <a:prstGeom prst="roundRect">
            <a:avLst>
              <a:gd name="adj" fmla="val 3200"/>
            </a:avLst>
          </a:prstGeom>
          <a:solidFill>
            <a:srgbClr val="F2F5F9"/>
          </a:solidFill>
          <a:ln w="12700">
            <a:solidFill>
              <a:srgbClr val="F2F5F9"/>
            </a:solidFill>
            <a:prstDash val="solid"/>
          </a:ln>
        </p:spPr>
      </p:sp>
      <p:sp>
        <p:nvSpPr>
          <p:cNvPr id="11" name="Text 9"/>
          <p:cNvSpPr txBox="1"/>
          <p:nvPr/>
        </p:nvSpPr>
        <p:spPr>
          <a:xfrm>
            <a:off x="6473952" y="2560320"/>
            <a:ext cx="493776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Une courbe a toujours la même allure</a:t>
            </a:r>
            <a:endParaRPr lang="en-US" sz="1600" dirty="0"/>
          </a:p>
        </p:txBody>
      </p:sp>
      <p:sp>
        <p:nvSpPr>
          <p:cNvPr id="12" name="Text 10"/>
          <p:cNvSpPr txBox="1"/>
          <p:nvPr/>
        </p:nvSpPr>
        <p:spPr>
          <a:xfrm>
            <a:off x="6473952" y="2999232"/>
            <a:ext cx="4937760" cy="1600200"/>
          </a:xfrm>
          <a:prstGeom prst="rect">
            <a:avLst/>
          </a:prstGeom>
          <a:noFill/>
          <a:ln/>
        </p:spPr>
        <p:txBody>
          <a:bodyPr wrap="square" lIns="0" tIns="0" rIns="0" bIns="0" rtlCol="0" anchor="t"/>
          <a:lstStyle/>
          <a:p>
            <a:pPr marL="203200" indent="-203200">
              <a:spcAft>
                <a:spcPts val="600"/>
              </a:spcAft>
              <a:buSzPct val="100000"/>
              <a:buChar char="•"/>
            </a:pPr>
            <a:r>
              <a:rPr lang="en-US" sz="1250" b="1" dirty="0">
                <a:solidFill>
                  <a:srgbClr val="14304F"/>
                </a:solidFill>
                <a:latin typeface="Calibri" pitchFamily="34" charset="0"/>
                <a:ea typeface="Calibri" pitchFamily="34" charset="-122"/>
                <a:cs typeface="Calibri" pitchFamily="34" charset="-120"/>
              </a:rPr>
              <a:t>Un niveau</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 globalement haute ou basse</a:t>
            </a:r>
            <a:endParaRPr lang="en-US" sz="1250" dirty="0"/>
          </a:p>
          <a:p>
            <a:pPr marL="203200" indent="-203200">
              <a:spcAft>
                <a:spcPts val="600"/>
              </a:spcAft>
              <a:buSzPct val="100000"/>
              <a:buChar char="•"/>
            </a:pPr>
            <a:r>
              <a:rPr lang="en-US" sz="1250" b="1" dirty="0">
                <a:solidFill>
                  <a:srgbClr val="14304F"/>
                </a:solidFill>
                <a:latin typeface="Calibri" pitchFamily="34" charset="0"/>
                <a:ea typeface="Calibri" pitchFamily="34" charset="-122"/>
                <a:cs typeface="Calibri" pitchFamily="34" charset="-120"/>
              </a:rPr>
              <a:t>Une pente</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 le court rapporte moins que le long (normal), ou l'inverse (signal de récession)</a:t>
            </a:r>
            <a:endParaRPr lang="en-US" sz="1250" dirty="0"/>
          </a:p>
          <a:p>
            <a:pPr marL="203200" indent="-203200">
              <a:spcAft>
                <a:spcPts val="600"/>
              </a:spcAft>
              <a:buSzPct val="100000"/>
              <a:buChar char="•"/>
            </a:pPr>
            <a:r>
              <a:rPr lang="en-US" sz="1250" b="1" dirty="0">
                <a:solidFill>
                  <a:srgbClr val="14304F"/>
                </a:solidFill>
                <a:latin typeface="Calibri" pitchFamily="34" charset="0"/>
                <a:ea typeface="Calibri" pitchFamily="34" charset="-122"/>
                <a:cs typeface="Calibri" pitchFamily="34" charset="-120"/>
              </a:rPr>
              <a:t>Une ou deux bosses</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 : banques centrales sur le court, assureurs sur le très long</a:t>
            </a:r>
            <a:endParaRPr lang="en-US" sz="1250" dirty="0"/>
          </a:p>
        </p:txBody>
      </p:sp>
      <p:sp>
        <p:nvSpPr>
          <p:cNvPr id="13" name="Shape 11"/>
          <p:cNvSpPr/>
          <p:nvPr/>
        </p:nvSpPr>
        <p:spPr>
          <a:xfrm>
            <a:off x="548640" y="4892040"/>
            <a:ext cx="5486400" cy="1371600"/>
          </a:xfrm>
          <a:prstGeom prst="roundRect">
            <a:avLst>
              <a:gd name="adj" fmla="val 5333"/>
            </a:avLst>
          </a:prstGeom>
          <a:solidFill>
            <a:srgbClr val="F2F5F9"/>
          </a:solidFill>
          <a:ln w="12700">
            <a:solidFill>
              <a:srgbClr val="F2F5F9"/>
            </a:solidFill>
            <a:prstDash val="solid"/>
          </a:ln>
        </p:spPr>
      </p:sp>
      <p:sp>
        <p:nvSpPr>
          <p:cNvPr id="14" name="Text 12"/>
          <p:cNvSpPr txBox="1"/>
          <p:nvPr/>
        </p:nvSpPr>
        <p:spPr>
          <a:xfrm>
            <a:off x="777240" y="4983480"/>
            <a:ext cx="5029200" cy="32004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Les six nombres</a:t>
            </a:r>
            <a:endParaRPr lang="en-US" sz="1500" dirty="0"/>
          </a:p>
        </p:txBody>
      </p:sp>
      <p:sp>
        <p:nvSpPr>
          <p:cNvPr id="15" name="Text 13"/>
          <p:cNvSpPr txBox="1"/>
          <p:nvPr/>
        </p:nvSpPr>
        <p:spPr>
          <a:xfrm>
            <a:off x="777240" y="5321808"/>
            <a:ext cx="5029200" cy="868680"/>
          </a:xfrm>
          <a:prstGeom prst="rect">
            <a:avLst/>
          </a:prstGeom>
          <a:noFill/>
          <a:ln/>
        </p:spPr>
        <p:txBody>
          <a:bodyPr wrap="square" lIns="0" tIns="0" rIns="0" bIns="0" rtlCol="0" anchor="t"/>
          <a:lstStyle/>
          <a:p>
            <a:pPr indent="0" marL="0">
              <a:spcAft>
                <a:spcPts val="600"/>
              </a:spcAft>
              <a:buNone/>
            </a:pPr>
            <a:r>
              <a:rPr lang="en-US" sz="1300" b="1" dirty="0">
                <a:solidFill>
                  <a:srgbClr val="14304F"/>
                </a:solidFill>
                <a:latin typeface="Calibri" pitchFamily="34" charset="0"/>
                <a:ea typeface="Calibri" pitchFamily="34" charset="-122"/>
                <a:cs typeface="Calibri" pitchFamily="34" charset="-120"/>
              </a:rPr>
              <a:t>Quatre boutons de taille, deux boutons de position.</a:t>
            </a:r>
            <a:pPr indent="0" marL="0">
              <a:spcAft>
                <a:spcPts val="600"/>
              </a:spcAft>
              <a:buNone/>
            </a:pPr>
            <a:r>
              <a:rPr lang="en-US" sz="1300" dirty="0">
                <a:solidFill>
                  <a:srgbClr val="1F2937"/>
                </a:solidFill>
                <a:latin typeface="Calibri" pitchFamily="34" charset="0"/>
                <a:ea typeface="Calibri" pitchFamily="34" charset="-122"/>
                <a:cs typeface="Calibri" pitchFamily="34" charset="-120"/>
              </a:rPr>
              <a:t> Le niveau, la pente, la taille des deux bosses — et où chaque bosse se situe. C'est tout.</a:t>
            </a:r>
            <a:endParaRPr lang="en-US" sz="1300" dirty="0"/>
          </a:p>
        </p:txBody>
      </p:sp>
      <p:sp>
        <p:nvSpPr>
          <p:cNvPr id="16" name="Shape 14"/>
          <p:cNvSpPr/>
          <p:nvPr/>
        </p:nvSpPr>
        <p:spPr>
          <a:xfrm>
            <a:off x="6245352" y="4892040"/>
            <a:ext cx="5394960" cy="1371600"/>
          </a:xfrm>
          <a:prstGeom prst="roundRect">
            <a:avLst>
              <a:gd name="adj" fmla="val 5333"/>
            </a:avLst>
          </a:prstGeom>
          <a:solidFill>
            <a:srgbClr val="F2F5F9"/>
          </a:solidFill>
          <a:ln w="12700">
            <a:solidFill>
              <a:srgbClr val="F2F5F9"/>
            </a:solidFill>
            <a:prstDash val="solid"/>
          </a:ln>
        </p:spPr>
      </p:sp>
      <p:sp>
        <p:nvSpPr>
          <p:cNvPr id="17" name="Text 15"/>
          <p:cNvSpPr txBox="1"/>
          <p:nvPr/>
        </p:nvSpPr>
        <p:spPr>
          <a:xfrm>
            <a:off x="6473952" y="5029200"/>
            <a:ext cx="4937760" cy="10972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L'analogie.</a:t>
            </a:r>
            <a:pPr indent="0" marL="0">
              <a:buNone/>
            </a:pPr>
            <a:r>
              <a:rPr lang="en-US" sz="1300" dirty="0">
                <a:solidFill>
                  <a:srgbClr val="1F2937"/>
                </a:solidFill>
                <a:latin typeface="Calibri" pitchFamily="34" charset="0"/>
                <a:ea typeface="Calibri" pitchFamily="34" charset="-122"/>
                <a:cs typeface="Calibri" pitchFamily="34" charset="-120"/>
              </a:rPr>
              <a:t> Décrire un visage : lister la couleur de chaque pixel, ou dire « ovale, yeux écartés, nez droit ». La seconde description est plus courte, </a:t>
            </a:r>
            <a:pPr indent="0" marL="0">
              <a:buNone/>
            </a:pPr>
            <a:r>
              <a:rPr lang="en-US" sz="1300" b="1" dirty="0">
                <a:solidFill>
                  <a:srgbClr val="1F2937"/>
                </a:solidFill>
                <a:latin typeface="Calibri" pitchFamily="34" charset="0"/>
                <a:ea typeface="Calibri" pitchFamily="34" charset="-122"/>
                <a:cs typeface="Calibri" pitchFamily="34" charset="-120"/>
              </a:rPr>
              <a:t>résiste au bruit</a:t>
            </a:r>
            <a:pPr indent="0" marL="0">
              <a:buNone/>
            </a:pPr>
            <a:r>
              <a:rPr lang="en-US" sz="1300" dirty="0">
                <a:solidFill>
                  <a:srgbClr val="1F2937"/>
                </a:solidFill>
                <a:latin typeface="Calibri" pitchFamily="34" charset="0"/>
                <a:ea typeface="Calibri" pitchFamily="34" charset="-122"/>
                <a:cs typeface="Calibri" pitchFamily="34" charset="-120"/>
              </a:rPr>
              <a:t>, et permet de dessiner ce qu'on n'a pas vu.</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E — Pourquoi pas Markowitz</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 · la question qui sera posée</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48640" y="1371600"/>
            <a:ext cx="11094415" cy="868680"/>
          </a:xfrm>
          <a:prstGeom prst="roundRect">
            <a:avLst>
              <a:gd name="adj" fmla="val 8421"/>
            </a:avLst>
          </a:prstGeom>
          <a:solidFill>
            <a:srgbClr val="14304F"/>
          </a:solidFill>
          <a:ln w="12700">
            <a:solidFill>
              <a:srgbClr val="14304F"/>
            </a:solidFill>
            <a:prstDash val="solid"/>
          </a:ln>
        </p:spPr>
      </p:sp>
      <p:sp>
        <p:nvSpPr>
          <p:cNvPr id="6" name="Text 4"/>
          <p:cNvSpPr txBox="1"/>
          <p:nvPr/>
        </p:nvSpPr>
        <p:spPr>
          <a:xfrm>
            <a:off x="777240" y="1508760"/>
            <a:ext cx="10637215" cy="5943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 Lauren n'a pas dit « je veux une volatilité de 6 % ». Il a dit </a:t>
            </a:r>
            <a:pPr indent="0" marL="0">
              <a:buNone/>
            </a:pPr>
            <a:r>
              <a:rPr lang="en-US" sz="1450" b="1" dirty="0">
                <a:solidFill>
                  <a:srgbClr val="F5C969"/>
                </a:solidFill>
                <a:latin typeface="Calibri" pitchFamily="34" charset="0"/>
                <a:ea typeface="Calibri" pitchFamily="34" charset="-122"/>
                <a:cs typeface="Calibri" pitchFamily="34" charset="-120"/>
              </a:rPr>
              <a:t>« je ne veux jamais perdre plus de 15 % »</a:t>
            </a:r>
            <a:pPr indent="0" marL="0">
              <a:buNone/>
            </a:pPr>
            <a:r>
              <a:rPr lang="en-US" sz="1450" dirty="0">
                <a:solidFill>
                  <a:srgbClr val="FFFFFF"/>
                </a:solidFill>
                <a:latin typeface="Calibri" pitchFamily="34" charset="0"/>
                <a:ea typeface="Calibri" pitchFamily="34" charset="-122"/>
                <a:cs typeface="Calibri" pitchFamily="34" charset="-120"/>
              </a:rPr>
              <a:t>. Ce sont deux objets différents, et le second ne se déduit pas du premier.</a:t>
            </a:r>
            <a:endParaRPr lang="en-US" sz="1450" dirty="0"/>
          </a:p>
        </p:txBody>
      </p:sp>
      <p:sp>
        <p:nvSpPr>
          <p:cNvPr id="7" name="Shape 5"/>
          <p:cNvSpPr/>
          <p:nvPr/>
        </p:nvSpPr>
        <p:spPr>
          <a:xfrm>
            <a:off x="548640" y="2423160"/>
            <a:ext cx="5486400" cy="2377440"/>
          </a:xfrm>
          <a:prstGeom prst="roundRect">
            <a:avLst>
              <a:gd name="adj" fmla="val 3077"/>
            </a:avLst>
          </a:prstGeom>
          <a:solidFill>
            <a:srgbClr val="F2F5F9"/>
          </a:solidFill>
          <a:ln w="12700">
            <a:solidFill>
              <a:srgbClr val="F2F5F9"/>
            </a:solidFill>
            <a:prstDash val="solid"/>
          </a:ln>
        </p:spPr>
      </p:sp>
      <p:sp>
        <p:nvSpPr>
          <p:cNvPr id="8" name="Text 6"/>
          <p:cNvSpPr txBox="1"/>
          <p:nvPr/>
        </p:nvSpPr>
        <p:spPr>
          <a:xfrm>
            <a:off x="777240" y="2560320"/>
            <a:ext cx="502920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L'expérience du paquet de cartes</a:t>
            </a:r>
            <a:endParaRPr lang="en-US" sz="1600" dirty="0"/>
          </a:p>
        </p:txBody>
      </p:sp>
      <p:sp>
        <p:nvSpPr>
          <p:cNvPr id="9" name="Text 7"/>
          <p:cNvSpPr txBox="1"/>
          <p:nvPr/>
        </p:nvSpPr>
        <p:spPr>
          <a:xfrm>
            <a:off x="777240" y="2999232"/>
            <a:ext cx="5029200" cy="164592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Prends les rendements mensuels du portefeuille sur vingt ans, et </a:t>
            </a:r>
            <a:pPr indent="0" marL="0">
              <a:spcAft>
                <a:spcPts val="700"/>
              </a:spcAft>
              <a:buNone/>
            </a:pPr>
            <a:r>
              <a:rPr lang="en-US" sz="1250" b="1" dirty="0">
                <a:solidFill>
                  <a:srgbClr val="14304F"/>
                </a:solidFill>
                <a:latin typeface="Calibri" pitchFamily="34" charset="0"/>
                <a:ea typeface="Calibri" pitchFamily="34" charset="-122"/>
                <a:cs typeface="Calibri" pitchFamily="34" charset="-120"/>
              </a:rPr>
              <a:t>mélange les mois au hasard</a:t>
            </a:r>
            <a:endParaRPr lang="en-US" sz="1250" dirty="0"/>
          </a:p>
          <a:p>
            <a:pPr marL="203200" indent="-203200">
              <a:spcAft>
                <a:spcPts val="700"/>
              </a:spcAft>
              <a:buSzPct val="100000"/>
              <a:buChar char="•"/>
            </a:pPr>
            <a:r>
              <a:rPr lang="en-US" sz="1250" b="1" dirty="0">
                <a:solidFill>
                  <a:srgbClr val="14304F"/>
                </a:solidFill>
                <a:latin typeface="Calibri" pitchFamily="34" charset="0"/>
                <a:ea typeface="Calibri" pitchFamily="34" charset="-122"/>
                <a:cs typeface="Calibri" pitchFamily="34" charset="-120"/>
              </a:rPr>
              <a:t>La volatilité ne bouge pas d'un iota</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 elle ne regarde que la dispersion des rendements</a:t>
            </a:r>
            <a:endParaRPr lang="en-US" sz="1250" dirty="0"/>
          </a:p>
          <a:p>
            <a:pPr marL="203200" indent="-203200">
              <a:spcAft>
                <a:spcPts val="700"/>
              </a:spcAft>
              <a:buSzPct val="100000"/>
              <a:buChar char="•"/>
            </a:pPr>
            <a:r>
              <a:rPr lang="en-US" sz="1250" b="1" dirty="0">
                <a:solidFill>
                  <a:srgbClr val="14304F"/>
                </a:solidFill>
                <a:latin typeface="Calibri" pitchFamily="34" charset="0"/>
                <a:ea typeface="Calibri" pitchFamily="34" charset="-122"/>
                <a:cs typeface="Calibri" pitchFamily="34" charset="-120"/>
              </a:rPr>
              <a:t>La pire baisse change du tout au tout</a:t>
            </a:r>
            <a:pPr indent="0" marL="0">
              <a:spcAft>
                <a:spcPts val="700"/>
              </a:spcAft>
              <a:buNone/>
            </a:pPr>
            <a:r>
              <a:rPr lang="en-US" sz="1250" dirty="0">
                <a:solidFill>
                  <a:srgbClr val="1F2937"/>
                </a:solidFill>
                <a:latin typeface="Calibri" pitchFamily="34" charset="0"/>
                <a:ea typeface="Calibri" pitchFamily="34" charset="-122"/>
                <a:cs typeface="Calibri" pitchFamily="34" charset="-120"/>
              </a:rPr>
              <a:t> : mauvais mois groupés, on creuse 40 % ; éparpillés, jamais plus de 10 %</a:t>
            </a:r>
            <a:endParaRPr lang="en-US" sz="1250" dirty="0"/>
          </a:p>
        </p:txBody>
      </p:sp>
      <p:sp>
        <p:nvSpPr>
          <p:cNvPr id="10" name="Shape 8"/>
          <p:cNvSpPr/>
          <p:nvPr/>
        </p:nvSpPr>
        <p:spPr>
          <a:xfrm>
            <a:off x="6245352" y="2423160"/>
            <a:ext cx="5394960" cy="2377440"/>
          </a:xfrm>
          <a:prstGeom prst="roundRect">
            <a:avLst>
              <a:gd name="adj" fmla="val 3077"/>
            </a:avLst>
          </a:prstGeom>
          <a:solidFill>
            <a:srgbClr val="F2F5F9"/>
          </a:solidFill>
          <a:ln w="12700">
            <a:solidFill>
              <a:srgbClr val="F2F5F9"/>
            </a:solidFill>
            <a:prstDash val="solid"/>
          </a:ln>
        </p:spPr>
      </p:sp>
      <p:sp>
        <p:nvSpPr>
          <p:cNvPr id="11" name="Text 9"/>
          <p:cNvSpPr txBox="1"/>
          <p:nvPr/>
        </p:nvSpPr>
        <p:spPr>
          <a:xfrm>
            <a:off x="6473952" y="2560320"/>
            <a:ext cx="4937760" cy="365760"/>
          </a:xfrm>
          <a:prstGeom prst="rect">
            <a:avLst/>
          </a:prstGeom>
          <a:noFill/>
          <a:ln/>
        </p:spPr>
        <p:txBody>
          <a:bodyPr wrap="square" lIns="0" tIns="0" rIns="0" bIns="0" rtlCol="0" anchor="ctr"/>
          <a:lstStyle/>
          <a:p>
            <a:pPr indent="0" marL="0">
              <a:buNone/>
            </a:pPr>
            <a:r>
              <a:rPr lang="en-US" sz="1600" b="1" dirty="0">
                <a:solidFill>
                  <a:srgbClr val="14304F"/>
                </a:solidFill>
                <a:latin typeface="Cambria" pitchFamily="34" charset="0"/>
                <a:ea typeface="Cambria" pitchFamily="34" charset="-122"/>
                <a:cs typeface="Cambria" pitchFamily="34" charset="-120"/>
              </a:rPr>
              <a:t>Ce qu'on en tire</a:t>
            </a:r>
            <a:endParaRPr lang="en-US" sz="1600" dirty="0"/>
          </a:p>
        </p:txBody>
      </p:sp>
      <p:sp>
        <p:nvSpPr>
          <p:cNvPr id="12" name="Text 10"/>
          <p:cNvSpPr txBox="1"/>
          <p:nvPr/>
        </p:nvSpPr>
        <p:spPr>
          <a:xfrm>
            <a:off x="6473952" y="2999232"/>
            <a:ext cx="4937760" cy="1645920"/>
          </a:xfrm>
          <a:prstGeom prst="rect">
            <a:avLst/>
          </a:prstGeom>
          <a:noFill/>
          <a:ln/>
        </p:spPr>
        <p:txBody>
          <a:bodyPr wrap="square" lIns="0" tIns="0" rIns="0" bIns="0" rtlCol="0" anchor="t"/>
          <a:lstStyle/>
          <a:p>
            <a:pPr indent="0" marL="0">
              <a:spcAft>
                <a:spcPts val="600"/>
              </a:spcAft>
              <a:buNone/>
            </a:pPr>
            <a:r>
              <a:rPr lang="en-US" sz="1250" b="1" dirty="0">
                <a:solidFill>
                  <a:srgbClr val="14304F"/>
                </a:solidFill>
                <a:latin typeface="Calibri" pitchFamily="34" charset="0"/>
                <a:ea typeface="Calibri" pitchFamily="34" charset="-122"/>
                <a:cs typeface="Calibri" pitchFamily="34" charset="-120"/>
              </a:rPr>
              <a:t>La volatilité ignore l'ordre. La pire baisse ne dépend que de l'ordre.</a:t>
            </a:r>
            <a:pPr indent="0" marL="0">
              <a:spcAft>
                <a:spcPts val="600"/>
              </a:spcAft>
              <a:buNone/>
            </a:pPr>
            <a:endParaRPr lang="en-US" sz="1250" dirty="0"/>
          </a:p>
          <a:p>
            <a:pPr indent="0" marL="0">
              <a:spcAft>
                <a:spcPts val="600"/>
              </a:spcAft>
              <a:buNone/>
            </a:pPr>
            <a:endParaRPr lang="en-US" sz="1250" dirty="0"/>
          </a:p>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Il n'existe donc aucune formule reliant la matrice de covariance à la perte maximale — sauf en supposant les rendements indépendants et gaussiens, ce qui est faux précisément dans les crises, c'est-à-dire là où ça compte.</a:t>
            </a:r>
            <a:endParaRPr lang="en-US" sz="1250" dirty="0"/>
          </a:p>
          <a:p>
            <a:pPr indent="0" marL="0">
              <a:spcAft>
                <a:spcPts val="600"/>
              </a:spcAft>
              <a:buNone/>
            </a:pPr>
            <a:endParaRPr lang="en-US" sz="1250" dirty="0"/>
          </a:p>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On mesure donc directement sur le chemin : chaque répartition candidate est rejouée jour par jour, rééquilibrée chaque mois.</a:t>
            </a:r>
            <a:endParaRPr lang="en-US" sz="1250" dirty="0"/>
          </a:p>
        </p:txBody>
      </p:sp>
      <p:sp>
        <p:nvSpPr>
          <p:cNvPr id="13" name="Shape 11"/>
          <p:cNvSpPr/>
          <p:nvPr/>
        </p:nvSpPr>
        <p:spPr>
          <a:xfrm>
            <a:off x="548640" y="4983480"/>
            <a:ext cx="5486400" cy="1280160"/>
          </a:xfrm>
          <a:prstGeom prst="roundRect">
            <a:avLst>
              <a:gd name="adj" fmla="val 5714"/>
            </a:avLst>
          </a:prstGeom>
          <a:solidFill>
            <a:srgbClr val="F2F5F9"/>
          </a:solidFill>
          <a:ln w="12700">
            <a:solidFill>
              <a:srgbClr val="F2F5F9"/>
            </a:solidFill>
            <a:prstDash val="solid"/>
          </a:ln>
        </p:spPr>
      </p:sp>
      <p:sp>
        <p:nvSpPr>
          <p:cNvPr id="14" name="Text 12"/>
          <p:cNvSpPr txBox="1"/>
          <p:nvPr/>
        </p:nvSpPr>
        <p:spPr>
          <a:xfrm>
            <a:off x="777240" y="5120640"/>
            <a:ext cx="5029200" cy="10058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Le prix, et il est assumé.</a:t>
            </a:r>
            <a:pPr indent="0" marL="0">
              <a:buNone/>
            </a:pPr>
            <a:r>
              <a:rPr lang="en-US" sz="1250" dirty="0">
                <a:solidFill>
                  <a:srgbClr val="1F2937"/>
                </a:solidFill>
                <a:latin typeface="Calibri" pitchFamily="34" charset="0"/>
                <a:ea typeface="Calibri" pitchFamily="34" charset="-122"/>
                <a:cs typeface="Calibri" pitchFamily="34" charset="-120"/>
              </a:rPr>
              <a:t> La contrainte est évaluée sur </a:t>
            </a:r>
            <a:pPr indent="0" marL="0">
              <a:buNone/>
            </a:pPr>
            <a:r>
              <a:rPr lang="en-US" sz="1250" b="1" dirty="0">
                <a:solidFill>
                  <a:srgbClr val="1F2937"/>
                </a:solidFill>
                <a:latin typeface="Calibri" pitchFamily="34" charset="0"/>
                <a:ea typeface="Calibri" pitchFamily="34" charset="-122"/>
                <a:cs typeface="Calibri" pitchFamily="34" charset="-120"/>
              </a:rPr>
              <a:t>une seule trajectoire</a:t>
            </a:r>
            <a:pPr indent="0" marL="0">
              <a:buNone/>
            </a:pPr>
            <a:r>
              <a:rPr lang="en-US" sz="1250" dirty="0">
                <a:solidFill>
                  <a:srgbClr val="1F2937"/>
                </a:solidFill>
                <a:latin typeface="Calibri" pitchFamily="34" charset="0"/>
                <a:ea typeface="Calibri" pitchFamily="34" charset="-122"/>
                <a:cs typeface="Calibri" pitchFamily="34" charset="-120"/>
              </a:rPr>
              <a:t>, celle qui a eu lieu. C'est du surapprentissage au sens plein — d'où le résultat brut rejeté, puis les règles chiffrées une par une.</a:t>
            </a:r>
            <a:endParaRPr lang="en-US" sz="1250" dirty="0"/>
          </a:p>
        </p:txBody>
      </p:sp>
      <p:sp>
        <p:nvSpPr>
          <p:cNvPr id="15" name="Shape 13"/>
          <p:cNvSpPr/>
          <p:nvPr/>
        </p:nvSpPr>
        <p:spPr>
          <a:xfrm>
            <a:off x="6245352" y="4983480"/>
            <a:ext cx="5394960" cy="1280160"/>
          </a:xfrm>
          <a:prstGeom prst="roundRect">
            <a:avLst>
              <a:gd name="adj" fmla="val 5714"/>
            </a:avLst>
          </a:prstGeom>
          <a:solidFill>
            <a:srgbClr val="F2F5F9"/>
          </a:solidFill>
          <a:ln w="12700">
            <a:solidFill>
              <a:srgbClr val="F2F5F9"/>
            </a:solidFill>
            <a:prstDash val="solid"/>
          </a:ln>
        </p:spPr>
      </p:sp>
      <p:sp>
        <p:nvSpPr>
          <p:cNvPr id="16" name="Text 14"/>
          <p:cNvSpPr txBox="1"/>
          <p:nvPr/>
        </p:nvSpPr>
        <p:spPr>
          <a:xfrm>
            <a:off x="6473952" y="5120640"/>
            <a:ext cx="4937760" cy="10058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Et Black-Litterman ?</a:t>
            </a:r>
            <a:pPr indent="0" marL="0">
              <a:buNone/>
            </a:pPr>
            <a:r>
              <a:rPr lang="en-US" sz="1250" dirty="0">
                <a:solidFill>
                  <a:srgbClr val="1F2937"/>
                </a:solidFill>
                <a:latin typeface="Calibri" pitchFamily="34" charset="0"/>
                <a:ea typeface="Calibri" pitchFamily="34" charset="-122"/>
                <a:cs typeface="Calibri" pitchFamily="34" charset="-120"/>
              </a:rPr>
              <a:t> Écarté pour une autre raison : les opinions sont </a:t>
            </a:r>
            <a:pPr indent="0" marL="0">
              <a:buNone/>
            </a:pPr>
            <a:r>
              <a:rPr lang="en-US" sz="1250" b="1" dirty="0">
                <a:solidFill>
                  <a:srgbClr val="1F2937"/>
                </a:solidFill>
                <a:latin typeface="Calibri" pitchFamily="34" charset="0"/>
                <a:ea typeface="Calibri" pitchFamily="34" charset="-122"/>
                <a:cs typeface="Calibri" pitchFamily="34" charset="-120"/>
              </a:rPr>
              <a:t>déjà</a:t>
            </a:r>
            <a:pPr indent="0" marL="0">
              <a:buNone/>
            </a:pPr>
            <a:r>
              <a:rPr lang="en-US" sz="1250" dirty="0">
                <a:solidFill>
                  <a:srgbClr val="1F2937"/>
                </a:solidFill>
                <a:latin typeface="Calibri" pitchFamily="34" charset="0"/>
                <a:ea typeface="Calibri" pitchFamily="34" charset="-122"/>
                <a:cs typeface="Calibri" pitchFamily="34" charset="-120"/>
              </a:rPr>
              <a:t> dans les rendements espérés, qui viennent des valorisations. Les réinjecter reviendrait à les compter deux fois.</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F — Ce que « duration » veut dire</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 · d'où viennent les chiffres de sensibilité du dossier</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44</a:t>
            </a:r>
            <a:endParaRPr lang="en-US" sz="900" dirty="0"/>
          </a:p>
        </p:txBody>
      </p:sp>
      <p:sp>
        <p:nvSpPr>
          <p:cNvPr id="5" name="Shape 3"/>
          <p:cNvSpPr/>
          <p:nvPr/>
        </p:nvSpPr>
        <p:spPr>
          <a:xfrm>
            <a:off x="548640" y="1371600"/>
            <a:ext cx="3657600" cy="2194560"/>
          </a:xfrm>
          <a:prstGeom prst="roundRect">
            <a:avLst>
              <a:gd name="adj" fmla="val 3333"/>
            </a:avLst>
          </a:prstGeom>
          <a:solidFill>
            <a:srgbClr val="F2F5F9"/>
          </a:solidFill>
          <a:ln w="12700">
            <a:solidFill>
              <a:srgbClr val="F2F5F9"/>
            </a:solidFill>
            <a:prstDash val="solid"/>
          </a:ln>
        </p:spPr>
      </p:sp>
      <p:sp>
        <p:nvSpPr>
          <p:cNvPr id="6" name="Text 4"/>
          <p:cNvSpPr txBox="1"/>
          <p:nvPr/>
        </p:nvSpPr>
        <p:spPr>
          <a:xfrm>
            <a:off x="749808" y="1481328"/>
            <a:ext cx="3255264" cy="365760"/>
          </a:xfrm>
          <a:prstGeom prst="rect">
            <a:avLst/>
          </a:prstGeom>
          <a:noFill/>
          <a:ln/>
        </p:spPr>
        <p:txBody>
          <a:bodyPr wrap="square" lIns="0" tIns="0" rIns="0" bIns="0" rtlCol="0" anchor="ctr"/>
          <a:lstStyle/>
          <a:p>
            <a:pPr indent="0" marL="0">
              <a:buNone/>
            </a:pPr>
            <a:r>
              <a:rPr lang="en-US" sz="1550" b="1" dirty="0">
                <a:solidFill>
                  <a:srgbClr val="14304F"/>
                </a:solidFill>
                <a:latin typeface="Cambria" pitchFamily="34" charset="0"/>
                <a:ea typeface="Cambria" pitchFamily="34" charset="-122"/>
                <a:cs typeface="Cambria" pitchFamily="34" charset="-120"/>
              </a:rPr>
              <a:t>La duration</a:t>
            </a:r>
            <a:endParaRPr lang="en-US" sz="1550" dirty="0"/>
          </a:p>
        </p:txBody>
      </p:sp>
      <p:sp>
        <p:nvSpPr>
          <p:cNvPr id="7" name="Text 5"/>
          <p:cNvSpPr txBox="1"/>
          <p:nvPr/>
        </p:nvSpPr>
        <p:spPr>
          <a:xfrm>
            <a:off x="749808" y="1901952"/>
            <a:ext cx="3255264" cy="1554480"/>
          </a:xfrm>
          <a:prstGeom prst="rect">
            <a:avLst/>
          </a:prstGeom>
          <a:noFill/>
          <a:ln/>
        </p:spPr>
        <p:txBody>
          <a:bodyPr wrap="square" lIns="0" tIns="0" rIns="0" bIns="0" rtlCol="0" anchor="t"/>
          <a:lstStyle/>
          <a:p>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Le délai moyen de récupération de mon argent.</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Une obligation à 10 ans ne me rend pas tout dans 10 ans : elle verse des coupons avant. Avec de gros coupons, sa duration tombe vers 8 ans. Un zéro-coupon à 10 ans a une duration de 10 ans pile, puisque tout arrive à la fin.</a:t>
            </a:r>
            <a:endParaRPr lang="en-US" sz="1280" dirty="0"/>
          </a:p>
        </p:txBody>
      </p:sp>
      <p:sp>
        <p:nvSpPr>
          <p:cNvPr id="8" name="Shape 6"/>
          <p:cNvSpPr/>
          <p:nvPr/>
        </p:nvSpPr>
        <p:spPr>
          <a:xfrm>
            <a:off x="4434840" y="1371600"/>
            <a:ext cx="3657600" cy="2194560"/>
          </a:xfrm>
          <a:prstGeom prst="roundRect">
            <a:avLst>
              <a:gd name="adj" fmla="val 3333"/>
            </a:avLst>
          </a:prstGeom>
          <a:solidFill>
            <a:srgbClr val="F2F5F9"/>
          </a:solidFill>
          <a:ln w="12700">
            <a:solidFill>
              <a:srgbClr val="F2F5F9"/>
            </a:solidFill>
            <a:prstDash val="solid"/>
          </a:ln>
        </p:spPr>
      </p:sp>
      <p:sp>
        <p:nvSpPr>
          <p:cNvPr id="9" name="Text 7"/>
          <p:cNvSpPr txBox="1"/>
          <p:nvPr/>
        </p:nvSpPr>
        <p:spPr>
          <a:xfrm>
            <a:off x="4636008" y="1481328"/>
            <a:ext cx="3255264" cy="365760"/>
          </a:xfrm>
          <a:prstGeom prst="rect">
            <a:avLst/>
          </a:prstGeom>
          <a:noFill/>
          <a:ln/>
        </p:spPr>
        <p:txBody>
          <a:bodyPr wrap="square" lIns="0" tIns="0" rIns="0" bIns="0" rtlCol="0" anchor="ctr"/>
          <a:lstStyle/>
          <a:p>
            <a:pPr indent="0" marL="0">
              <a:buNone/>
            </a:pPr>
            <a:r>
              <a:rPr lang="en-US" sz="1550" b="1" dirty="0">
                <a:solidFill>
                  <a:srgbClr val="14304F"/>
                </a:solidFill>
                <a:latin typeface="Cambria" pitchFamily="34" charset="0"/>
                <a:ea typeface="Cambria" pitchFamily="34" charset="-122"/>
                <a:cs typeface="Cambria" pitchFamily="34" charset="-120"/>
              </a:rPr>
              <a:t>La sensibilité</a:t>
            </a:r>
            <a:endParaRPr lang="en-US" sz="1550" dirty="0"/>
          </a:p>
        </p:txBody>
      </p:sp>
      <p:sp>
        <p:nvSpPr>
          <p:cNvPr id="10" name="Text 8"/>
          <p:cNvSpPr txBox="1"/>
          <p:nvPr/>
        </p:nvSpPr>
        <p:spPr>
          <a:xfrm>
            <a:off x="4636008" y="1901952"/>
            <a:ext cx="3255264" cy="1554480"/>
          </a:xfrm>
          <a:prstGeom prst="rect">
            <a:avLst/>
          </a:prstGeom>
          <a:noFill/>
          <a:ln/>
        </p:spPr>
        <p:txBody>
          <a:bodyPr wrap="square" lIns="0" tIns="0" rIns="0" bIns="0" rtlCol="0" anchor="t"/>
          <a:lstStyle/>
          <a:p>
            <a:pPr indent="0" marL="0">
              <a:spcAft>
                <a:spcPts val="600"/>
              </a:spcAft>
              <a:buNone/>
            </a:pPr>
            <a:r>
              <a:rPr lang="en-US" sz="1280" dirty="0">
                <a:solidFill>
                  <a:srgbClr val="1F2937"/>
                </a:solidFill>
                <a:latin typeface="Calibri" pitchFamily="34" charset="0"/>
                <a:ea typeface="Calibri" pitchFamily="34" charset="-122"/>
                <a:cs typeface="Calibri" pitchFamily="34" charset="-120"/>
              </a:rPr>
              <a:t>La duration, corrigée d'un petit facteur, et sa lecture est directe :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si tous les taux montent d'un point, le prix baisse d'environ autant de pour cent.</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L'intuition : si je détiens du 3 % et que le marché paie 4 %, personne ne veut du mien à son prix — il baisse jusqu'à redevenir compétitif.</a:t>
            </a:r>
            <a:endParaRPr lang="en-US" sz="1280" dirty="0"/>
          </a:p>
        </p:txBody>
      </p:sp>
      <p:sp>
        <p:nvSpPr>
          <p:cNvPr id="11" name="Shape 9"/>
          <p:cNvSpPr/>
          <p:nvPr/>
        </p:nvSpPr>
        <p:spPr>
          <a:xfrm>
            <a:off x="8321040" y="1371600"/>
            <a:ext cx="3657600" cy="2194560"/>
          </a:xfrm>
          <a:prstGeom prst="roundRect">
            <a:avLst>
              <a:gd name="adj" fmla="val 3333"/>
            </a:avLst>
          </a:prstGeom>
          <a:solidFill>
            <a:srgbClr val="F2F5F9"/>
          </a:solidFill>
          <a:ln w="12700">
            <a:solidFill>
              <a:srgbClr val="F2F5F9"/>
            </a:solidFill>
            <a:prstDash val="solid"/>
          </a:ln>
        </p:spPr>
      </p:sp>
      <p:sp>
        <p:nvSpPr>
          <p:cNvPr id="12" name="Text 10"/>
          <p:cNvSpPr txBox="1"/>
          <p:nvPr/>
        </p:nvSpPr>
        <p:spPr>
          <a:xfrm>
            <a:off x="8522208" y="1481328"/>
            <a:ext cx="3255264" cy="365760"/>
          </a:xfrm>
          <a:prstGeom prst="rect">
            <a:avLst/>
          </a:prstGeom>
          <a:noFill/>
          <a:ln/>
        </p:spPr>
        <p:txBody>
          <a:bodyPr wrap="square" lIns="0" tIns="0" rIns="0" bIns="0" rtlCol="0" anchor="ctr"/>
          <a:lstStyle/>
          <a:p>
            <a:pPr indent="0" marL="0">
              <a:buNone/>
            </a:pPr>
            <a:r>
              <a:rPr lang="en-US" sz="1550" b="1" dirty="0">
                <a:solidFill>
                  <a:srgbClr val="14304F"/>
                </a:solidFill>
                <a:latin typeface="Cambria" pitchFamily="34" charset="0"/>
                <a:ea typeface="Cambria" pitchFamily="34" charset="-122"/>
                <a:cs typeface="Cambria" pitchFamily="34" charset="-120"/>
              </a:rPr>
              <a:t>La convexité</a:t>
            </a:r>
            <a:endParaRPr lang="en-US" sz="1550" dirty="0"/>
          </a:p>
        </p:txBody>
      </p:sp>
      <p:sp>
        <p:nvSpPr>
          <p:cNvPr id="13" name="Text 11"/>
          <p:cNvSpPr txBox="1"/>
          <p:nvPr/>
        </p:nvSpPr>
        <p:spPr>
          <a:xfrm>
            <a:off x="8522208" y="1901952"/>
            <a:ext cx="3255264" cy="1554480"/>
          </a:xfrm>
          <a:prstGeom prst="rect">
            <a:avLst/>
          </a:prstGeom>
          <a:noFill/>
          <a:ln/>
        </p:spPr>
        <p:txBody>
          <a:bodyPr wrap="square" lIns="0" tIns="0" rIns="0" bIns="0" rtlCol="0" anchor="t"/>
          <a:lstStyle/>
          <a:p>
            <a:pPr indent="0" marL="0">
              <a:spcAft>
                <a:spcPts val="600"/>
              </a:spcAft>
              <a:buNone/>
            </a:pPr>
            <a:r>
              <a:rPr lang="en-US" sz="1280" dirty="0">
                <a:solidFill>
                  <a:srgbClr val="1F2937"/>
                </a:solidFill>
                <a:latin typeface="Calibri" pitchFamily="34" charset="0"/>
                <a:ea typeface="Calibri" pitchFamily="34" charset="-122"/>
                <a:cs typeface="Calibri" pitchFamily="34" charset="-120"/>
              </a:rPr>
              <a:t>La relation taux-prix n'est pas une droite, elle est courbée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dans le bon sens pour le détenteur</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 quand les taux montent on perd un peu moins que prévu, quand ils baissent on gagne un peu plus. Positive pour toute obligation classique — c'est un actif gratuit.</a:t>
            </a:r>
            <a:endParaRPr lang="en-US" sz="1280" dirty="0"/>
          </a:p>
        </p:txBody>
      </p:sp>
      <p:sp>
        <p:nvSpPr>
          <p:cNvPr id="14" name="Shape 12"/>
          <p:cNvSpPr/>
          <p:nvPr/>
        </p:nvSpPr>
        <p:spPr>
          <a:xfrm>
            <a:off x="548640" y="3749040"/>
            <a:ext cx="11094415" cy="914400"/>
          </a:xfrm>
          <a:prstGeom prst="roundRect">
            <a:avLst>
              <a:gd name="adj" fmla="val 8000"/>
            </a:avLst>
          </a:prstGeom>
          <a:solidFill>
            <a:srgbClr val="14304F"/>
          </a:solidFill>
          <a:ln w="12700">
            <a:solidFill>
              <a:srgbClr val="14304F"/>
            </a:solidFill>
            <a:prstDash val="solid"/>
          </a:ln>
        </p:spPr>
      </p:sp>
      <p:sp>
        <p:nvSpPr>
          <p:cNvPr id="15" name="Text 13"/>
          <p:cNvSpPr txBox="1"/>
          <p:nvPr/>
        </p:nvSpPr>
        <p:spPr>
          <a:xfrm>
            <a:off x="777240" y="3886200"/>
            <a:ext cx="10637215" cy="640080"/>
          </a:xfrm>
          <a:prstGeom prst="rect">
            <a:avLst/>
          </a:prstGeom>
          <a:noFill/>
          <a:ln/>
        </p:spPr>
        <p:txBody>
          <a:bodyPr wrap="square" lIns="0" tIns="0" rIns="0" bIns="0" rtlCol="0" anchor="ctr"/>
          <a:lstStyle/>
          <a:p>
            <a:pPr indent="0" marL="0">
              <a:buNone/>
            </a:pPr>
            <a:r>
              <a:rPr lang="en-US" sz="1350" b="1" dirty="0">
                <a:solidFill>
                  <a:srgbClr val="F5C969"/>
                </a:solidFill>
                <a:latin typeface="Calibri" pitchFamily="34" charset="0"/>
                <a:ea typeface="Calibri" pitchFamily="34" charset="-122"/>
                <a:cs typeface="Calibri" pitchFamily="34" charset="-120"/>
              </a:rPr>
              <a:t>Ce que fait le code, et c'est mieux que l'approximation.</a:t>
            </a:r>
            <a:pPr indent="0" marL="0">
              <a:buNone/>
            </a:pPr>
            <a:r>
              <a:rPr lang="en-US" sz="1350" dirty="0">
                <a:solidFill>
                  <a:srgbClr val="FFFFFF"/>
                </a:solidFill>
                <a:latin typeface="Calibri" pitchFamily="34" charset="0"/>
                <a:ea typeface="Calibri" pitchFamily="34" charset="-122"/>
                <a:cs typeface="Calibri" pitchFamily="34" charset="-120"/>
              </a:rPr>
              <a:t> Au lieu d'estimer la perte par « sensibilité plus convexité », il </a:t>
            </a:r>
            <a:pPr indent="0" marL="0">
              <a:buNone/>
            </a:pPr>
            <a:r>
              <a:rPr lang="en-US" sz="1350" b="1" dirty="0">
                <a:solidFill>
                  <a:srgbClr val="F5C969"/>
                </a:solidFill>
                <a:latin typeface="Calibri" pitchFamily="34" charset="0"/>
                <a:ea typeface="Calibri" pitchFamily="34" charset="-122"/>
                <a:cs typeface="Calibri" pitchFamily="34" charset="-120"/>
              </a:rPr>
              <a:t>revalorise réellement</a:t>
            </a:r>
            <a:pPr indent="0" marL="0">
              <a:buNone/>
            </a:pPr>
            <a:r>
              <a:rPr lang="en-US" sz="1350" dirty="0">
                <a:solidFill>
                  <a:srgbClr val="FFFFFF"/>
                </a:solidFill>
                <a:latin typeface="Calibri" pitchFamily="34" charset="0"/>
                <a:ea typeface="Calibri" pitchFamily="34" charset="-122"/>
                <a:cs typeface="Calibri" pitchFamily="34" charset="-120"/>
              </a:rPr>
              <a:t> l'obligation avec la courbe décalée d'un point. Exact au lieu d'approché : l'échelle 2-10 ans perd </a:t>
            </a:r>
            <a:pPr indent="0" marL="0">
              <a:buNone/>
            </a:pPr>
            <a:r>
              <a:rPr lang="en-US" sz="1350" b="1" dirty="0">
                <a:solidFill>
                  <a:srgbClr val="F5C969"/>
                </a:solidFill>
                <a:latin typeface="Calibri" pitchFamily="34" charset="0"/>
                <a:ea typeface="Calibri" pitchFamily="34" charset="-122"/>
                <a:cs typeface="Calibri" pitchFamily="34" charset="-120"/>
              </a:rPr>
              <a:t>4,7 %</a:t>
            </a:r>
            <a:pPr indent="0" marL="0">
              <a:buNone/>
            </a:pPr>
            <a:r>
              <a:rPr lang="en-US" sz="1350" dirty="0">
                <a:solidFill>
                  <a:srgbClr val="FFFFFF"/>
                </a:solidFill>
                <a:latin typeface="Calibri" pitchFamily="34" charset="0"/>
                <a:ea typeface="Calibri" pitchFamily="34" charset="-122"/>
                <a:cs typeface="Calibri" pitchFamily="34" charset="-120"/>
              </a:rPr>
              <a:t>, le fonds de crédit (durée 1,4 an) bien moins.</a:t>
            </a:r>
            <a:endParaRPr lang="en-US" sz="1350" dirty="0"/>
          </a:p>
        </p:txBody>
      </p:sp>
      <p:sp>
        <p:nvSpPr>
          <p:cNvPr id="16" name="Shape 14"/>
          <p:cNvSpPr/>
          <p:nvPr/>
        </p:nvSpPr>
        <p:spPr>
          <a:xfrm>
            <a:off x="548640" y="4892040"/>
            <a:ext cx="11094415" cy="1280160"/>
          </a:xfrm>
          <a:prstGeom prst="roundRect">
            <a:avLst>
              <a:gd name="adj" fmla="val 5714"/>
            </a:avLst>
          </a:prstGeom>
          <a:solidFill>
            <a:srgbClr val="F2F5F9"/>
          </a:solidFill>
          <a:ln w="12700">
            <a:solidFill>
              <a:srgbClr val="F2F5F9"/>
            </a:solidFill>
            <a:prstDash val="solid"/>
          </a:ln>
        </p:spPr>
      </p:sp>
      <p:sp>
        <p:nvSpPr>
          <p:cNvPr id="17" name="Text 15"/>
          <p:cNvSpPr txBox="1"/>
          <p:nvPr/>
        </p:nvSpPr>
        <p:spPr>
          <a:xfrm>
            <a:off x="777240" y="5010912"/>
            <a:ext cx="7315200" cy="320040"/>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D'où vient le rendement d'une année, si la courbe ne bouge pas</a:t>
            </a:r>
            <a:endParaRPr lang="en-US" sz="1500" dirty="0"/>
          </a:p>
        </p:txBody>
      </p:sp>
      <p:sp>
        <p:nvSpPr>
          <p:cNvPr id="18" name="Text 16"/>
          <p:cNvSpPr txBox="1"/>
          <p:nvPr/>
        </p:nvSpPr>
        <p:spPr>
          <a:xfrm>
            <a:off x="777240" y="5376672"/>
            <a:ext cx="10607040" cy="731520"/>
          </a:xfrm>
          <a:prstGeom prst="rect">
            <a:avLst/>
          </a:prstGeom>
          <a:noFill/>
          <a:ln/>
        </p:spPr>
        <p:txBody>
          <a:bodyPr wrap="square" lIns="0" tIns="0" rIns="0" bIns="0" rtlCol="0" anchor="t"/>
          <a:lstStyle/>
          <a:p>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Le portage</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 j'encaisse le coupon, c'est évident. </a:t>
            </a:r>
            <a:pPr indent="0" marL="0">
              <a:spcAft>
                <a:spcPts val="600"/>
              </a:spcAft>
              <a:buNone/>
            </a:pPr>
            <a:r>
              <a:rPr lang="en-US" sz="1280" b="1" dirty="0">
                <a:solidFill>
                  <a:srgbClr val="14304F"/>
                </a:solidFill>
                <a:latin typeface="Calibri" pitchFamily="34" charset="0"/>
                <a:ea typeface="Calibri" pitchFamily="34" charset="-122"/>
                <a:cs typeface="Calibri" pitchFamily="34" charset="-120"/>
              </a:rPr>
              <a:t>Le glissement</a:t>
            </a:r>
            <a:pPr indent="0" marL="0">
              <a:spcAft>
                <a:spcPts val="600"/>
              </a:spcAft>
              <a:buNone/>
            </a:pPr>
            <a:r>
              <a:rPr lang="en-US" sz="1280" dirty="0">
                <a:solidFill>
                  <a:srgbClr val="1F2937"/>
                </a:solidFill>
                <a:latin typeface="Calibri" pitchFamily="34" charset="0"/>
                <a:ea typeface="Calibri" pitchFamily="34" charset="-122"/>
                <a:cs typeface="Calibri" pitchFamily="34" charset="-120"/>
              </a:rPr>
              <a:t> : mon obligation à 10 ans devient une obligation à 9 ans, et sur une courbe montante le taux à 9 ans est plus bas — donc elle est valorisée plus cher. J'ai gagné sans que rien ne bouge, juste parce que le temps a passé.</a:t>
            </a:r>
            <a:endParaRPr lang="en-US" sz="12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G — Comment le calcul cherche sa réponse</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 · complète l'annexe E, qui dit pourquoi pas Markowitz</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45</a:t>
            </a:r>
            <a:endParaRPr lang="en-US" sz="900" dirty="0"/>
          </a:p>
        </p:txBody>
      </p:sp>
      <p:sp>
        <p:nvSpPr>
          <p:cNvPr id="5" name="Shape 3"/>
          <p:cNvSpPr/>
          <p:nvPr/>
        </p:nvSpPr>
        <p:spPr>
          <a:xfrm>
            <a:off x="548640" y="1371600"/>
            <a:ext cx="11094415" cy="822960"/>
          </a:xfrm>
          <a:prstGeom prst="roundRect">
            <a:avLst>
              <a:gd name="adj" fmla="val 8889"/>
            </a:avLst>
          </a:prstGeom>
          <a:solidFill>
            <a:srgbClr val="14304F"/>
          </a:solidFill>
          <a:ln w="12700">
            <a:solidFill>
              <a:srgbClr val="14304F"/>
            </a:solidFill>
            <a:prstDash val="solid"/>
          </a:ln>
        </p:spPr>
      </p:sp>
      <p:sp>
        <p:nvSpPr>
          <p:cNvPr id="6" name="Text 4"/>
          <p:cNvSpPr txBox="1"/>
          <p:nvPr/>
        </p:nvSpPr>
        <p:spPr>
          <a:xfrm>
            <a:off x="777240" y="1508760"/>
            <a:ext cx="10637215" cy="548640"/>
          </a:xfrm>
          <a:prstGeom prst="rect">
            <a:avLst/>
          </a:prstGeom>
          <a:noFill/>
          <a:ln/>
        </p:spPr>
        <p:txBody>
          <a:bodyPr wrap="square" lIns="0" tIns="0" rIns="0" bIns="0" rtlCol="0" anchor="ctr"/>
          <a:lstStyle/>
          <a:p>
            <a:pPr indent="0" marL="0">
              <a:buNone/>
            </a:pPr>
            <a:r>
              <a:rPr lang="en-US" sz="1450" b="1" dirty="0">
                <a:solidFill>
                  <a:srgbClr val="F5C969"/>
                </a:solidFill>
                <a:latin typeface="Calibri" pitchFamily="34" charset="0"/>
                <a:ea typeface="Calibri" pitchFamily="34" charset="-122"/>
                <a:cs typeface="Calibri" pitchFamily="34" charset="-120"/>
              </a:rPr>
              <a:t>La question, en une phrase</a:t>
            </a:r>
            <a:pPr indent="0" marL="0">
              <a:buNone/>
            </a:pPr>
            <a:r>
              <a:rPr lang="en-US" sz="1450" dirty="0">
                <a:solidFill>
                  <a:srgbClr val="FFFFFF"/>
                </a:solidFill>
                <a:latin typeface="Calibri" pitchFamily="34" charset="0"/>
                <a:ea typeface="Calibri" pitchFamily="34" charset="-122"/>
                <a:cs typeface="Calibri" pitchFamily="34" charset="-120"/>
              </a:rPr>
              <a:t> : parmi tous les partages possibles des 100 M€, lequel rapporte le plus sans jamais avoir perdu plus que la limite ?</a:t>
            </a:r>
            <a:endParaRPr lang="en-US" sz="1450" dirty="0"/>
          </a:p>
        </p:txBody>
      </p:sp>
      <p:sp>
        <p:nvSpPr>
          <p:cNvPr id="7" name="Shape 5"/>
          <p:cNvSpPr/>
          <p:nvPr/>
        </p:nvSpPr>
        <p:spPr>
          <a:xfrm>
            <a:off x="548640" y="2377440"/>
            <a:ext cx="11094415" cy="914400"/>
          </a:xfrm>
          <a:prstGeom prst="roundRect">
            <a:avLst>
              <a:gd name="adj" fmla="val 8000"/>
            </a:avLst>
          </a:prstGeom>
          <a:solidFill>
            <a:srgbClr val="F2F5F9"/>
          </a:solidFill>
          <a:ln w="12700">
            <a:solidFill>
              <a:srgbClr val="F2F5F9"/>
            </a:solidFill>
            <a:prstDash val="solid"/>
          </a:ln>
        </p:spPr>
      </p:sp>
      <p:sp>
        <p:nvSpPr>
          <p:cNvPr id="8" name="Text 6"/>
          <p:cNvSpPr txBox="1"/>
          <p:nvPr/>
        </p:nvSpPr>
        <p:spPr>
          <a:xfrm>
            <a:off x="777240" y="2487168"/>
            <a:ext cx="2743200" cy="685800"/>
          </a:xfrm>
          <a:prstGeom prst="rect">
            <a:avLst/>
          </a:prstGeom>
          <a:noFill/>
          <a:ln/>
        </p:spPr>
        <p:txBody>
          <a:bodyPr wrap="square" lIns="0" tIns="0" rIns="0" bIns="0" rtlCol="0" anchor="ctr"/>
          <a:lstStyle/>
          <a:p>
            <a:pPr indent="0" marL="0">
              <a:buNone/>
            </a:pPr>
            <a:r>
              <a:rPr lang="en-US" sz="1400" b="1" dirty="0">
                <a:solidFill>
                  <a:srgbClr val="14304F"/>
                </a:solidFill>
                <a:latin typeface="Cambria" pitchFamily="34" charset="0"/>
                <a:ea typeface="Cambria" pitchFamily="34" charset="-122"/>
                <a:cs typeface="Cambria" pitchFamily="34" charset="-120"/>
              </a:rPr>
              <a:t>Ce qu'on maximise</a:t>
            </a:r>
            <a:endParaRPr lang="en-US" sz="1400" dirty="0"/>
          </a:p>
        </p:txBody>
      </p:sp>
      <p:sp>
        <p:nvSpPr>
          <p:cNvPr id="9" name="Text 7"/>
          <p:cNvSpPr txBox="1"/>
          <p:nvPr/>
        </p:nvSpPr>
        <p:spPr>
          <a:xfrm>
            <a:off x="3566160" y="2487168"/>
            <a:ext cx="7802575" cy="713232"/>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Calibri" pitchFamily="34" charset="0"/>
                <a:ea typeface="Calibri" pitchFamily="34" charset="-122"/>
                <a:cs typeface="Calibri" pitchFamily="34" charset="-120"/>
              </a:rPr>
              <a:t>Le rendement espéré du portefeuille : la moyenne des rendements de chaque support, pondérée par son poids</a:t>
            </a:r>
            <a:endParaRPr lang="en-US" sz="1200" dirty="0"/>
          </a:p>
        </p:txBody>
      </p:sp>
      <p:sp>
        <p:nvSpPr>
          <p:cNvPr id="10" name="Shape 8"/>
          <p:cNvSpPr/>
          <p:nvPr/>
        </p:nvSpPr>
        <p:spPr>
          <a:xfrm>
            <a:off x="548640" y="3401568"/>
            <a:ext cx="11094415" cy="914400"/>
          </a:xfrm>
          <a:prstGeom prst="roundRect">
            <a:avLst>
              <a:gd name="adj" fmla="val 8000"/>
            </a:avLst>
          </a:prstGeom>
          <a:solidFill>
            <a:srgbClr val="F2F5F9"/>
          </a:solidFill>
          <a:ln w="12700">
            <a:solidFill>
              <a:srgbClr val="F2F5F9"/>
            </a:solidFill>
            <a:prstDash val="solid"/>
          </a:ln>
        </p:spPr>
      </p:sp>
      <p:sp>
        <p:nvSpPr>
          <p:cNvPr id="11" name="Text 9"/>
          <p:cNvSpPr txBox="1"/>
          <p:nvPr/>
        </p:nvSpPr>
        <p:spPr>
          <a:xfrm>
            <a:off x="777240" y="3511296"/>
            <a:ext cx="2743200" cy="685800"/>
          </a:xfrm>
          <a:prstGeom prst="rect">
            <a:avLst/>
          </a:prstGeom>
          <a:noFill/>
          <a:ln/>
        </p:spPr>
        <p:txBody>
          <a:bodyPr wrap="square" lIns="0" tIns="0" rIns="0" bIns="0" rtlCol="0" anchor="ctr"/>
          <a:lstStyle/>
          <a:p>
            <a:pPr indent="0" marL="0">
              <a:buNone/>
            </a:pPr>
            <a:r>
              <a:rPr lang="en-US" sz="1400" b="1" dirty="0">
                <a:solidFill>
                  <a:srgbClr val="14304F"/>
                </a:solidFill>
                <a:latin typeface="Cambria" pitchFamily="34" charset="0"/>
                <a:ea typeface="Cambria" pitchFamily="34" charset="-122"/>
                <a:cs typeface="Cambria" pitchFamily="34" charset="-120"/>
              </a:rPr>
              <a:t>Ce qu'on s'interdit</a:t>
            </a:r>
            <a:endParaRPr lang="en-US" sz="1400" dirty="0"/>
          </a:p>
        </p:txBody>
      </p:sp>
      <p:sp>
        <p:nvSpPr>
          <p:cNvPr id="12" name="Text 10"/>
          <p:cNvSpPr txBox="1"/>
          <p:nvPr/>
        </p:nvSpPr>
        <p:spPr>
          <a:xfrm>
            <a:off x="3566160" y="3511296"/>
            <a:ext cx="7802575" cy="713232"/>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Calibri" pitchFamily="34" charset="0"/>
                <a:ea typeface="Calibri" pitchFamily="34" charset="-122"/>
                <a:cs typeface="Calibri" pitchFamily="34" charset="-120"/>
              </a:rPr>
              <a:t>Pour CHAQUE partage essayé, on rejoue les vingt ans : 100 M€ placés selon ces poids en octobre 2006, </a:t>
            </a:r>
            <a:pPr indent="0" marL="0">
              <a:spcAft>
                <a:spcPts val="600"/>
              </a:spcAft>
              <a:buNone/>
            </a:pPr>
            <a:r>
              <a:rPr lang="en-US" sz="1200" b="1" dirty="0">
                <a:solidFill>
                  <a:srgbClr val="14304F"/>
                </a:solidFill>
                <a:latin typeface="Calibri" pitchFamily="34" charset="0"/>
                <a:ea typeface="Calibri" pitchFamily="34" charset="-122"/>
                <a:cs typeface="Calibri" pitchFamily="34" charset="-120"/>
              </a:rPr>
              <a:t>remis à ces mêmes poids chaque mois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valeur suivie semaine après semaine. La plus forte baisse depuis un sommet doit rester sous 14 %</a:t>
            </a:r>
            <a:endParaRPr lang="en-US" sz="1200" dirty="0"/>
          </a:p>
        </p:txBody>
      </p:sp>
      <p:sp>
        <p:nvSpPr>
          <p:cNvPr id="13" name="Shape 11"/>
          <p:cNvSpPr/>
          <p:nvPr/>
        </p:nvSpPr>
        <p:spPr>
          <a:xfrm>
            <a:off x="548640" y="4425696"/>
            <a:ext cx="11094415" cy="914400"/>
          </a:xfrm>
          <a:prstGeom prst="roundRect">
            <a:avLst>
              <a:gd name="adj" fmla="val 8000"/>
            </a:avLst>
          </a:prstGeom>
          <a:solidFill>
            <a:srgbClr val="F2F5F9"/>
          </a:solidFill>
          <a:ln w="12700">
            <a:solidFill>
              <a:srgbClr val="F2F5F9"/>
            </a:solidFill>
            <a:prstDash val="solid"/>
          </a:ln>
        </p:spPr>
      </p:sp>
      <p:sp>
        <p:nvSpPr>
          <p:cNvPr id="14" name="Text 12"/>
          <p:cNvSpPr txBox="1"/>
          <p:nvPr/>
        </p:nvSpPr>
        <p:spPr>
          <a:xfrm>
            <a:off x="777240" y="4535424"/>
            <a:ext cx="2743200" cy="685800"/>
          </a:xfrm>
          <a:prstGeom prst="rect">
            <a:avLst/>
          </a:prstGeom>
          <a:noFill/>
          <a:ln/>
        </p:spPr>
        <p:txBody>
          <a:bodyPr wrap="square" lIns="0" tIns="0" rIns="0" bIns="0" rtlCol="0" anchor="ctr"/>
          <a:lstStyle/>
          <a:p>
            <a:pPr indent="0" marL="0">
              <a:buNone/>
            </a:pPr>
            <a:r>
              <a:rPr lang="en-US" sz="1400" b="1" dirty="0">
                <a:solidFill>
                  <a:srgbClr val="14304F"/>
                </a:solidFill>
                <a:latin typeface="Cambria" pitchFamily="34" charset="0"/>
                <a:ea typeface="Cambria" pitchFamily="34" charset="-122"/>
                <a:cs typeface="Cambria" pitchFamily="34" charset="-120"/>
              </a:rPr>
              <a:t>Ce qui borne les poids</a:t>
            </a:r>
            <a:endParaRPr lang="en-US" sz="1400" dirty="0"/>
          </a:p>
        </p:txBody>
      </p:sp>
      <p:sp>
        <p:nvSpPr>
          <p:cNvPr id="15" name="Text 13"/>
          <p:cNvSpPr txBox="1"/>
          <p:nvPr/>
        </p:nvSpPr>
        <p:spPr>
          <a:xfrm>
            <a:off x="3566160" y="4535424"/>
            <a:ext cx="7802575" cy="713232"/>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Calibri" pitchFamily="34" charset="0"/>
                <a:ea typeface="Calibri" pitchFamily="34" charset="-122"/>
                <a:cs typeface="Calibri" pitchFamily="34" charset="-120"/>
              </a:rPr>
              <a:t>Positifs, somme de 100 %, plancher de 10 % en AAA, clé actions 40/35/10/15, et les plafonds par support</a:t>
            </a:r>
            <a:endParaRPr lang="en-US" sz="1200" dirty="0"/>
          </a:p>
        </p:txBody>
      </p:sp>
      <p:sp>
        <p:nvSpPr>
          <p:cNvPr id="16" name="Shape 14"/>
          <p:cNvSpPr/>
          <p:nvPr/>
        </p:nvSpPr>
        <p:spPr>
          <a:xfrm>
            <a:off x="548640" y="5486400"/>
            <a:ext cx="11094415" cy="777240"/>
          </a:xfrm>
          <a:prstGeom prst="roundRect">
            <a:avLst>
              <a:gd name="adj" fmla="val 9412"/>
            </a:avLst>
          </a:prstGeom>
          <a:solidFill>
            <a:srgbClr val="F2F5F9"/>
          </a:solidFill>
          <a:ln w="12700">
            <a:solidFill>
              <a:srgbClr val="F2F5F9"/>
            </a:solidFill>
            <a:prstDash val="solid"/>
          </a:ln>
        </p:spPr>
      </p:sp>
      <p:sp>
        <p:nvSpPr>
          <p:cNvPr id="17" name="Text 15"/>
          <p:cNvSpPr txBox="1"/>
          <p:nvPr/>
        </p:nvSpPr>
        <p:spPr>
          <a:xfrm>
            <a:off x="777240" y="5623560"/>
            <a:ext cx="10637215" cy="5029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Pas de formule, donc on cherche.</a:t>
            </a:r>
            <a:pPr indent="0" marL="0">
              <a:buNone/>
            </a:pPr>
            <a:r>
              <a:rPr lang="en-US" sz="1250" dirty="0">
                <a:solidFill>
                  <a:srgbClr val="1F2937"/>
                </a:solidFill>
                <a:latin typeface="Calibri" pitchFamily="34" charset="0"/>
                <a:ea typeface="Calibri" pitchFamily="34" charset="-122"/>
                <a:cs typeface="Calibri" pitchFamily="34" charset="-120"/>
              </a:rPr>
              <a:t> La pire baisse est un minimum sur vingt ans de dates : déplacer un poids d'un dixième de point fait basculer la date qui la donne, et la contrainte saute au lieu de varier. Un solveur sous contraintes est relancé depuis </a:t>
            </a:r>
            <a:pPr indent="0" marL="0">
              <a:buNone/>
            </a:pPr>
            <a:r>
              <a:rPr lang="en-US" sz="1250" b="1" dirty="0">
                <a:solidFill>
                  <a:srgbClr val="1F2937"/>
                </a:solidFill>
                <a:latin typeface="Calibri" pitchFamily="34" charset="0"/>
                <a:ea typeface="Calibri" pitchFamily="34" charset="-122"/>
                <a:cs typeface="Calibri" pitchFamily="34" charset="-120"/>
              </a:rPr>
              <a:t>seize départs</a:t>
            </a:r>
            <a:pPr indent="0" marL="0">
              <a:buNone/>
            </a:pPr>
            <a:r>
              <a:rPr lang="en-US" sz="1250" dirty="0">
                <a:solidFill>
                  <a:srgbClr val="1F2937"/>
                </a:solidFill>
                <a:latin typeface="Calibri" pitchFamily="34" charset="0"/>
                <a:ea typeface="Calibri" pitchFamily="34" charset="-122"/>
                <a:cs typeface="Calibri" pitchFamily="34" charset="-120"/>
              </a:rPr>
              <a:t>, on garde le meilleur résultat admissible.</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H — Pourquoi seulement 3,3 % d'or</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 · un poids que personne n'a choisi</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46</a:t>
            </a:r>
            <a:endParaRPr lang="en-US" sz="900" dirty="0"/>
          </a:p>
        </p:txBody>
      </p:sp>
      <p:sp>
        <p:nvSpPr>
          <p:cNvPr id="5" name="Shape 3"/>
          <p:cNvSpPr/>
          <p:nvPr/>
        </p:nvSpPr>
        <p:spPr>
          <a:xfrm>
            <a:off x="548640" y="1371600"/>
            <a:ext cx="11094415" cy="822960"/>
          </a:xfrm>
          <a:prstGeom prst="roundRect">
            <a:avLst>
              <a:gd name="adj" fmla="val 8889"/>
            </a:avLst>
          </a:prstGeom>
          <a:solidFill>
            <a:srgbClr val="14304F"/>
          </a:solidFill>
          <a:ln w="12700">
            <a:solidFill>
              <a:srgbClr val="14304F"/>
            </a:solidFill>
            <a:prstDash val="solid"/>
          </a:ln>
        </p:spPr>
      </p:sp>
      <p:sp>
        <p:nvSpPr>
          <p:cNvPr id="6" name="Text 4"/>
          <p:cNvSpPr txBox="1"/>
          <p:nvPr/>
        </p:nvSpPr>
        <p:spPr>
          <a:xfrm>
            <a:off x="777240" y="1508760"/>
            <a:ext cx="10637215" cy="548640"/>
          </a:xfrm>
          <a:prstGeom prst="rect">
            <a:avLst/>
          </a:prstGeom>
          <a:noFill/>
          <a:ln/>
        </p:spPr>
        <p:txBody>
          <a:bodyPr wrap="square" lIns="0" tIns="0" rIns="0" bIns="0" rtlCol="0" anchor="ctr"/>
          <a:lstStyle/>
          <a:p>
            <a:pPr indent="0" marL="0">
              <a:buNone/>
            </a:pPr>
            <a:r>
              <a:rPr lang="en-US" sz="1450" b="1" dirty="0">
                <a:solidFill>
                  <a:srgbClr val="F5C969"/>
                </a:solidFill>
                <a:latin typeface="Calibri" pitchFamily="34" charset="0"/>
                <a:ea typeface="Calibri" pitchFamily="34" charset="-122"/>
                <a:cs typeface="Calibri" pitchFamily="34" charset="-120"/>
              </a:rPr>
              <a:t>Personne n'a choisi ce chiffre : c'est un résidu de calcul.</a:t>
            </a:r>
            <a:pPr indent="0" marL="0">
              <a:buNone/>
            </a:pPr>
            <a:r>
              <a:rPr lang="en-US" sz="1450" dirty="0">
                <a:solidFill>
                  <a:srgbClr val="FFFFFF"/>
                </a:solidFill>
                <a:latin typeface="Calibri" pitchFamily="34" charset="0"/>
                <a:ea typeface="Calibri" pitchFamily="34" charset="-122"/>
                <a:cs typeface="Calibri" pitchFamily="34" charset="-120"/>
              </a:rPr>
              <a:t> Le plafond autorise 10 % et le calcul n'en prend que 3,3 % — </a:t>
            </a:r>
            <a:pPr indent="0" marL="0">
              <a:buNone/>
            </a:pPr>
            <a:r>
              <a:rPr lang="en-US" sz="1450" b="1" dirty="0">
                <a:solidFill>
                  <a:srgbClr val="F5C969"/>
                </a:solidFill>
                <a:latin typeface="Calibri" pitchFamily="34" charset="0"/>
                <a:ea typeface="Calibri" pitchFamily="34" charset="-122"/>
                <a:cs typeface="Calibri" pitchFamily="34" charset="-120"/>
              </a:rPr>
              <a:t>le plafond n'est donc pas la contrainte qui mord.</a:t>
            </a:r>
            <a:endParaRPr lang="en-US" sz="14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5669280" cy="914400"/>
        </p:xfrm>
        <a:graphic>
          <a:graphicData uri="http://schemas.openxmlformats.org/drawingml/2006/table">
            <a:tbl>
              <a:tblPr/>
              <a:tblGrid>
                <a:gridCol w="1280160"/>
                <a:gridCol w="1463040"/>
                <a:gridCol w="1554480"/>
                <a:gridCol w="137160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Crise</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L'or</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La poche d'actions</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Emprunts d'État</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310896">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2008</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22,2 %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−39,3 %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15,5 %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2011</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25,6 %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5,1 %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8,4 %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310896">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2020</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11,2 %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−7,1 %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−0,1 %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16,9 %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0,3 %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−8,2 %</a:t>
                      </a:r>
                      <a:endParaRPr lang="en-US" sz="110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bl>
          </a:graphicData>
        </a:graphic>
      </p:graphicFrame>
      <p:sp>
        <p:nvSpPr>
          <p:cNvPr id="8" name="Text 5"/>
          <p:cNvSpPr txBox="1"/>
          <p:nvPr/>
        </p:nvSpPr>
        <p:spPr>
          <a:xfrm>
            <a:off x="548640" y="4251960"/>
            <a:ext cx="5669280" cy="685800"/>
          </a:xfrm>
          <a:prstGeom prst="rect">
            <a:avLst/>
          </a:prstGeom>
          <a:noFill/>
          <a:ln/>
        </p:spPr>
        <p:txBody>
          <a:bodyPr wrap="square" lIns="0" tIns="0" rIns="0" bIns="0" rtlCol="0" anchor="t"/>
          <a:lstStyle/>
          <a:p>
            <a:pPr indent="0" marL="0">
              <a:spcAft>
                <a:spcPts val="600"/>
              </a:spcAft>
              <a:buNone/>
            </a:pPr>
            <a:r>
              <a:rPr lang="en-US" sz="1150" dirty="0">
                <a:solidFill>
                  <a:srgbClr val="1F2937"/>
                </a:solidFill>
                <a:latin typeface="Calibri" pitchFamily="34" charset="0"/>
                <a:ea typeface="Calibri" pitchFamily="34" charset="-122"/>
                <a:cs typeface="Calibri" pitchFamily="34" charset="-120"/>
              </a:rPr>
              <a:t>Performance </a:t>
            </a:r>
            <a:pPr indent="0" marL="0">
              <a:spcAft>
                <a:spcPts val="600"/>
              </a:spcAft>
              <a:buNone/>
            </a:pPr>
            <a:r>
              <a:rPr lang="en-US" sz="1150" b="1" dirty="0">
                <a:solidFill>
                  <a:srgbClr val="14304F"/>
                </a:solidFill>
                <a:latin typeface="Calibri" pitchFamily="34" charset="0"/>
                <a:ea typeface="Calibri" pitchFamily="34" charset="-122"/>
                <a:cs typeface="Calibri" pitchFamily="34" charset="-120"/>
              </a:rPr>
              <a:t>sur</a:t>
            </a:r>
            <a:pPr indent="0" marL="0">
              <a:spcAft>
                <a:spcPts val="600"/>
              </a:spcAft>
              <a:buNone/>
            </a:pPr>
            <a:r>
              <a:rPr lang="en-US" sz="1150" dirty="0">
                <a:solidFill>
                  <a:srgbClr val="1F2937"/>
                </a:solidFill>
                <a:latin typeface="Calibri" pitchFamily="34" charset="0"/>
                <a:ea typeface="Calibri" pitchFamily="34" charset="-122"/>
                <a:cs typeface="Calibri" pitchFamily="34" charset="-120"/>
              </a:rPr>
              <a:t> la fenêtre de crise, en euros. L'or est </a:t>
            </a:r>
            <a:pPr indent="0" marL="0">
              <a:spcAft>
                <a:spcPts val="600"/>
              </a:spcAft>
              <a:buNone/>
            </a:pPr>
            <a:r>
              <a:rPr lang="en-US" sz="1150" b="1" dirty="0">
                <a:solidFill>
                  <a:srgbClr val="14304F"/>
                </a:solidFill>
                <a:latin typeface="Calibri" pitchFamily="34" charset="0"/>
                <a:ea typeface="Calibri" pitchFamily="34" charset="-122"/>
                <a:cs typeface="Calibri" pitchFamily="34" charset="-120"/>
              </a:rPr>
              <a:t>le seul support du portefeuille à finir positif sur les quatre</a:t>
            </a:r>
            <a:pPr indent="0" marL="0">
              <a:spcAft>
                <a:spcPts val="600"/>
              </a:spcAft>
              <a:buNone/>
            </a:pPr>
            <a:r>
              <a:rPr lang="en-US" sz="1150" dirty="0">
                <a:solidFill>
                  <a:srgbClr val="1F2937"/>
                </a:solidFill>
                <a:latin typeface="Calibri" pitchFamily="34" charset="0"/>
                <a:ea typeface="Calibri" pitchFamily="34" charset="-122"/>
                <a:cs typeface="Calibri" pitchFamily="34" charset="-120"/>
              </a:rPr>
              <a:t>.</a:t>
            </a:r>
            <a:endParaRPr lang="en-US" sz="1150" dirty="0"/>
          </a:p>
        </p:txBody>
      </p:sp>
      <p:sp>
        <p:nvSpPr>
          <p:cNvPr id="9" name="Shape 6"/>
          <p:cNvSpPr/>
          <p:nvPr/>
        </p:nvSpPr>
        <p:spPr>
          <a:xfrm>
            <a:off x="6355080" y="2377440"/>
            <a:ext cx="5287975" cy="2560320"/>
          </a:xfrm>
          <a:prstGeom prst="roundRect">
            <a:avLst>
              <a:gd name="adj" fmla="val 2857"/>
            </a:avLst>
          </a:prstGeom>
          <a:solidFill>
            <a:srgbClr val="F2F5F9"/>
          </a:solidFill>
          <a:ln w="12700">
            <a:solidFill>
              <a:srgbClr val="F2F5F9"/>
            </a:solidFill>
            <a:prstDash val="solid"/>
          </a:ln>
        </p:spPr>
      </p:sp>
      <p:sp>
        <p:nvSpPr>
          <p:cNvPr id="10" name="Text 7"/>
          <p:cNvSpPr txBox="1"/>
          <p:nvPr/>
        </p:nvSpPr>
        <p:spPr>
          <a:xfrm>
            <a:off x="6583680" y="2487168"/>
            <a:ext cx="4937760" cy="347472"/>
          </a:xfrm>
          <a:prstGeom prst="rect">
            <a:avLst/>
          </a:prstGeom>
          <a:noFill/>
          <a:ln/>
        </p:spPr>
        <p:txBody>
          <a:bodyPr wrap="square" lIns="0" tIns="0" rIns="0" bIns="0" rtlCol="0" anchor="ctr"/>
          <a:lstStyle/>
          <a:p>
            <a:pPr indent="0" marL="0">
              <a:buNone/>
            </a:pPr>
            <a:r>
              <a:rPr lang="en-US" sz="1500" b="1" dirty="0">
                <a:solidFill>
                  <a:srgbClr val="14304F"/>
                </a:solidFill>
                <a:latin typeface="Cambria" pitchFamily="34" charset="0"/>
                <a:ea typeface="Cambria" pitchFamily="34" charset="-122"/>
                <a:cs typeface="Cambria" pitchFamily="34" charset="-120"/>
              </a:rPr>
              <a:t>Ce que le calcul arbitre</a:t>
            </a:r>
            <a:endParaRPr lang="en-US" sz="1500" dirty="0"/>
          </a:p>
        </p:txBody>
      </p:sp>
      <p:sp>
        <p:nvSpPr>
          <p:cNvPr id="11" name="Text 8"/>
          <p:cNvSpPr txBox="1"/>
          <p:nvPr/>
        </p:nvSpPr>
        <p:spPr>
          <a:xfrm>
            <a:off x="6583680" y="2880360"/>
            <a:ext cx="4830775" cy="1920240"/>
          </a:xfrm>
          <a:prstGeom prst="rect">
            <a:avLst/>
          </a:prstGeom>
          <a:noFill/>
          <a:ln/>
        </p:spPr>
        <p:txBody>
          <a:bodyPr wrap="square" lIns="0" tIns="0" rIns="0" bIns="0" rtlCol="0" anchor="t"/>
          <a:lstStyle/>
          <a:p>
            <a:pPr indent="0" marL="0">
              <a:spcAft>
                <a:spcPts val="600"/>
              </a:spcAft>
              <a:buNone/>
            </a:pPr>
            <a:r>
              <a:rPr lang="en-US" sz="1200" dirty="0">
                <a:solidFill>
                  <a:srgbClr val="1F2937"/>
                </a:solidFill>
                <a:latin typeface="Calibri" pitchFamily="34" charset="0"/>
                <a:ea typeface="Calibri" pitchFamily="34" charset="-122"/>
                <a:cs typeface="Calibri" pitchFamily="34" charset="-120"/>
              </a:rPr>
              <a:t>L'or a le </a:t>
            </a:r>
            <a:pPr indent="0" marL="0">
              <a:spcAft>
                <a:spcPts val="600"/>
              </a:spcAft>
              <a:buNone/>
            </a:pPr>
            <a:r>
              <a:rPr lang="en-US" sz="1200" b="1" dirty="0">
                <a:solidFill>
                  <a:srgbClr val="14304F"/>
                </a:solidFill>
                <a:latin typeface="Calibri" pitchFamily="34" charset="0"/>
                <a:ea typeface="Calibri" pitchFamily="34" charset="-122"/>
                <a:cs typeface="Calibri" pitchFamily="34" charset="-120"/>
              </a:rPr>
              <a:t>rendement espéré le plus faible du modèle</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4,00 %, à peine au-dessus des 3,63 % des emprunts d'État à 2-10 ans.</a:t>
            </a:r>
            <a:endParaRPr lang="en-US" sz="1200" dirty="0"/>
          </a:p>
          <a:p>
            <a:pPr indent="0" marL="0">
              <a:spcAft>
                <a:spcPts val="600"/>
              </a:spcAft>
              <a:buNone/>
            </a:pPr>
            <a:endParaRPr lang="en-US" sz="1200" dirty="0"/>
          </a:p>
          <a:p>
            <a:pPr indent="0" marL="0">
              <a:spcAft>
                <a:spcPts val="600"/>
              </a:spcAft>
              <a:buNone/>
            </a:pPr>
            <a:r>
              <a:rPr lang="en-US" sz="1200" dirty="0">
                <a:solidFill>
                  <a:srgbClr val="1F2937"/>
                </a:solidFill>
                <a:latin typeface="Calibri" pitchFamily="34" charset="0"/>
                <a:ea typeface="Calibri" pitchFamily="34" charset="-122"/>
                <a:cs typeface="Calibri" pitchFamily="34" charset="-120"/>
              </a:rPr>
              <a:t>On ne le détient donc pas pour ce qu'il rapporte mais pour sa tenue en crise : c'est de la protection </a:t>
            </a:r>
            <a:endParaRPr lang="en-US" sz="1200" dirty="0"/>
          </a:p>
          <a:p>
            <a:pPr indent="0" marL="0">
              <a:spcAft>
                <a:spcPts val="600"/>
              </a:spcAft>
              <a:buNone/>
            </a:pPr>
            <a:r>
              <a:rPr lang="en-US" sz="1200" b="1" dirty="0">
                <a:solidFill>
                  <a:srgbClr val="14304F"/>
                </a:solidFill>
                <a:latin typeface="Calibri" pitchFamily="34" charset="0"/>
                <a:ea typeface="Calibri" pitchFamily="34" charset="-122"/>
                <a:cs typeface="Calibri" pitchFamily="34" charset="-120"/>
              </a:rPr>
              <a:t>achetée avec du rendement</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Le calcul en prend juste ce qu'il faut pour que la poche d'actions atteigne 30,41 % sous la limite. Au-delà, chaque euro d'or coûte du rendement sans acheter assez de protection pour financer une action de plus.</a:t>
            </a:r>
            <a:endParaRPr lang="en-US" sz="1200" dirty="0"/>
          </a:p>
        </p:txBody>
      </p:sp>
      <p:sp>
        <p:nvSpPr>
          <p:cNvPr id="12" name="Shape 9"/>
          <p:cNvSpPr/>
          <p:nvPr/>
        </p:nvSpPr>
        <p:spPr>
          <a:xfrm>
            <a:off x="548640" y="5120640"/>
            <a:ext cx="11094415" cy="1005840"/>
          </a:xfrm>
          <a:prstGeom prst="roundRect">
            <a:avLst>
              <a:gd name="adj" fmla="val 7273"/>
            </a:avLst>
          </a:prstGeom>
          <a:solidFill>
            <a:srgbClr val="F2F5F9"/>
          </a:solidFill>
          <a:ln w="12700">
            <a:solidFill>
              <a:srgbClr val="F2F5F9"/>
            </a:solidFill>
            <a:prstDash val="solid"/>
          </a:ln>
        </p:spPr>
      </p:sp>
      <p:sp>
        <p:nvSpPr>
          <p:cNvPr id="13" name="Text 10"/>
          <p:cNvSpPr txBox="1"/>
          <p:nvPr/>
        </p:nvSpPr>
        <p:spPr>
          <a:xfrm>
            <a:off x="777240" y="5257800"/>
            <a:ext cx="10637215" cy="7315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Attention à ne pas confondre avec la table des pires baisses</a:t>
            </a:r>
            <a:pPr indent="0" marL="0">
              <a:buNone/>
            </a:pPr>
            <a:r>
              <a:rPr lang="en-US" sz="1250" dirty="0">
                <a:solidFill>
                  <a:srgbClr val="1F2937"/>
                </a:solidFill>
                <a:latin typeface="Calibri" pitchFamily="34" charset="0"/>
                <a:ea typeface="Calibri" pitchFamily="34" charset="-122"/>
                <a:cs typeface="Calibri" pitchFamily="34" charset="-120"/>
              </a:rPr>
              <a:t>, où l'or affiche −25,7 % en 2008 : les deux sont vrais et ne mesurent pas la même chose. Il a bien reculé de 25,7 % </a:t>
            </a:r>
            <a:pPr indent="0" marL="0">
              <a:buNone/>
            </a:pPr>
            <a:r>
              <a:rPr lang="en-US" sz="1250" b="1" dirty="0">
                <a:solidFill>
                  <a:srgbClr val="1F2937"/>
                </a:solidFill>
                <a:latin typeface="Calibri" pitchFamily="34" charset="0"/>
                <a:ea typeface="Calibri" pitchFamily="34" charset="-122"/>
                <a:cs typeface="Calibri" pitchFamily="34" charset="-120"/>
              </a:rPr>
              <a:t>à l'intérieur</a:t>
            </a:r>
            <a:pPr indent="0" marL="0">
              <a:buNone/>
            </a:pPr>
            <a:r>
              <a:rPr lang="en-US" sz="1250" dirty="0">
                <a:solidFill>
                  <a:srgbClr val="1F2937"/>
                </a:solidFill>
                <a:latin typeface="Calibri" pitchFamily="34" charset="0"/>
                <a:ea typeface="Calibri" pitchFamily="34" charset="-122"/>
                <a:cs typeface="Calibri" pitchFamily="34" charset="-120"/>
              </a:rPr>
              <a:t> de la fenêtre avant de la finir en hausse. Résultat stable sur huit tirages.</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685800"/>
          </a:xfrm>
          <a:prstGeom prst="rect">
            <a:avLst/>
          </a:prstGeom>
          <a:noFill/>
          <a:ln/>
        </p:spPr>
        <p:txBody>
          <a:bodyPr wrap="square" lIns="0" tIns="0" rIns="0" bIns="0" rtlCol="0" anchor="ctr"/>
          <a:lstStyle/>
          <a:p>
            <a:pPr indent="0" marL="0">
              <a:buNone/>
            </a:pPr>
            <a:r>
              <a:rPr lang="en-US" sz="2600" b="1" dirty="0">
                <a:solidFill>
                  <a:srgbClr val="14304F"/>
                </a:solidFill>
                <a:latin typeface="Cambria" pitchFamily="34" charset="0"/>
                <a:ea typeface="Cambria" pitchFamily="34" charset="-122"/>
                <a:cs typeface="Cambria" pitchFamily="34" charset="-120"/>
              </a:rPr>
              <a:t>Annexe I — Où agit la lecture macro, et où elle n'agit pas</a:t>
            </a:r>
            <a:endParaRPr lang="en-US" sz="2600" dirty="0"/>
          </a:p>
        </p:txBody>
      </p:sp>
      <p:sp>
        <p:nvSpPr>
          <p:cNvPr id="3" name="Text 1"/>
          <p:cNvSpPr txBox="1"/>
          <p:nvPr/>
        </p:nvSpPr>
        <p:spPr>
          <a:xfrm>
            <a:off x="548640" y="96012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Pour les questions techniques · un portefeuille, un pari</a:t>
            </a:r>
            <a:endParaRPr lang="en-US" sz="14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47</a:t>
            </a:r>
            <a:endParaRPr lang="en-US" sz="900" dirty="0"/>
          </a:p>
        </p:txBody>
      </p:sp>
      <p:sp>
        <p:nvSpPr>
          <p:cNvPr id="5" name="Shape 3"/>
          <p:cNvSpPr/>
          <p:nvPr/>
        </p:nvSpPr>
        <p:spPr>
          <a:xfrm>
            <a:off x="548640" y="1371600"/>
            <a:ext cx="11094415" cy="822960"/>
          </a:xfrm>
          <a:prstGeom prst="roundRect">
            <a:avLst>
              <a:gd name="adj" fmla="val 8889"/>
            </a:avLst>
          </a:prstGeom>
          <a:solidFill>
            <a:srgbClr val="14304F"/>
          </a:solidFill>
          <a:ln w="12700">
            <a:solidFill>
              <a:srgbClr val="14304F"/>
            </a:solidFill>
            <a:prstDash val="solid"/>
          </a:ln>
        </p:spPr>
      </p:sp>
      <p:sp>
        <p:nvSpPr>
          <p:cNvPr id="6" name="Text 4"/>
          <p:cNvSpPr txBox="1"/>
          <p:nvPr/>
        </p:nvSpPr>
        <p:spPr>
          <a:xfrm>
            <a:off x="777240" y="1508760"/>
            <a:ext cx="10637215" cy="548640"/>
          </a:xfrm>
          <a:prstGeom prst="rect">
            <a:avLst/>
          </a:prstGeom>
          <a:noFill/>
          <a:ln/>
        </p:spPr>
        <p:txBody>
          <a:bodyPr wrap="square" lIns="0" tIns="0" rIns="0" bIns="0" rtlCol="0" anchor="ctr"/>
          <a:lstStyle/>
          <a:p>
            <a:pPr indent="0" marL="0">
              <a:buNone/>
            </a:pPr>
            <a:r>
              <a:rPr lang="en-US" sz="1450" b="1" dirty="0">
                <a:solidFill>
                  <a:srgbClr val="F5C969"/>
                </a:solidFill>
                <a:latin typeface="Calibri" pitchFamily="34" charset="0"/>
                <a:ea typeface="Calibri" pitchFamily="34" charset="-122"/>
                <a:cs typeface="Calibri" pitchFamily="34" charset="-120"/>
              </a:rPr>
              <a:t>La lecture macro ne choisit aucun poids.</a:t>
            </a:r>
            <a:pPr indent="0" marL="0">
              <a:buNone/>
            </a:pPr>
            <a:r>
              <a:rPr lang="en-US" sz="1450" dirty="0">
                <a:solidFill>
                  <a:srgbClr val="FFFFFF"/>
                </a:solidFill>
                <a:latin typeface="Calibri" pitchFamily="34" charset="0"/>
                <a:ea typeface="Calibri" pitchFamily="34" charset="-122"/>
                <a:cs typeface="Calibri" pitchFamily="34" charset="-120"/>
              </a:rPr>
              <a:t> Elle fixe les rendements espérés de chaque classe, et c'est le calcul de l'étape 4 qui les convertit en poids sous la limite de perte.</a:t>
            </a:r>
            <a:endParaRPr lang="en-US" sz="14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926080"/>
                <a:gridCol w="1737360"/>
                <a:gridCol w="640080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Décision</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 macro tranche ?</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 quel canal</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4304F"/>
                    </a:solidFill>
                  </a:tcPr>
                </a:tc>
              </a:tr>
              <a:tr h="4754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Combien d'actions au total</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OUI</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Par les rendements espérés des quatre zones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754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Quelle zone d'actions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La clé 40 / 35 / 10 / 15 est fixée d'avance, pour que la vue de zone ne devienne pas un pari</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754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Quels secteurs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La note de l'étape 3 compare chaque société à son propre secteur : elle est aveugle aux secteurs par construction</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4754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Combien d'indexées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OUI</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L'inflation de l'énoncé les porte à 5,43 %, le meilleur rendement obligataire : le calcul sature leur plafond de 15 %</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2F5F9"/>
                    </a:solidFill>
                  </a:tcPr>
                </a:tc>
              </a:tr>
              <a:tr h="4754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Combien de crédit</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Zéro, mais par une mesure de MARCHÉ de l'étape 3 : 3,39 % défauts déduits, sous les 3,63 % des États</a:t>
                      </a:r>
                      <a:endParaRPr lang="en-US" sz="1050" dirty="0">
                        <a:latin typeface="Calibri" charset="0"/>
                        <a:ea typeface="Calibri" charset="0"/>
                        <a:cs typeface="Calibri" charset="0"/>
                      </a:endParaRPr>
                    </a:p>
                  </a:txBody>
                  <a:tcPr marL="76200" marR="762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8" name="Shape 5"/>
          <p:cNvSpPr/>
          <p:nvPr/>
        </p:nvSpPr>
        <p:spPr>
          <a:xfrm>
            <a:off x="548640" y="5486400"/>
            <a:ext cx="11094415" cy="822960"/>
          </a:xfrm>
          <a:prstGeom prst="roundRect">
            <a:avLst>
              <a:gd name="adj" fmla="val 8889"/>
            </a:avLst>
          </a:prstGeom>
          <a:solidFill>
            <a:srgbClr val="F2F5F9"/>
          </a:solidFill>
          <a:ln w="12700">
            <a:solidFill>
              <a:srgbClr val="F2F5F9"/>
            </a:solidFill>
            <a:prstDash val="solid"/>
          </a:ln>
        </p:spPr>
      </p:sp>
      <p:sp>
        <p:nvSpPr>
          <p:cNvPr id="9" name="Text 6"/>
          <p:cNvSpPr txBox="1"/>
          <p:nvPr/>
        </p:nvSpPr>
        <p:spPr>
          <a:xfrm>
            <a:off x="777240" y="5623560"/>
            <a:ext cx="10637215" cy="54864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Et la contrainte qui commande n'est pas macro.</a:t>
            </a:r>
            <a:pPr indent="0" marL="0">
              <a:buNone/>
            </a:pPr>
            <a:r>
              <a:rPr lang="en-US" sz="1250" dirty="0">
                <a:solidFill>
                  <a:srgbClr val="1F2937"/>
                </a:solidFill>
                <a:latin typeface="Calibri" pitchFamily="34" charset="0"/>
                <a:ea typeface="Calibri" pitchFamily="34" charset="-122"/>
                <a:cs typeface="Calibri" pitchFamily="34" charset="-120"/>
              </a:rPr>
              <a:t> Sur dix bornes, deux mordent — le plancher de 10 % en AAA et le plafond de 15 % sur les indexées. Ce qui borne vraiment le portefeuille, c'est la </a:t>
            </a:r>
            <a:pPr indent="0" marL="0">
              <a:buNone/>
            </a:pPr>
            <a:r>
              <a:rPr lang="en-US" sz="1250" b="1" dirty="0">
                <a:solidFill>
                  <a:srgbClr val="1F2937"/>
                </a:solidFill>
                <a:latin typeface="Calibri" pitchFamily="34" charset="0"/>
                <a:ea typeface="Calibri" pitchFamily="34" charset="-122"/>
                <a:cs typeface="Calibri" pitchFamily="34" charset="-120"/>
              </a:rPr>
              <a:t>limite de perte</a:t>
            </a:r>
            <a:pPr indent="0" marL="0">
              <a:buNone/>
            </a:pPr>
            <a:r>
              <a:rPr lang="en-US" sz="1250" dirty="0">
                <a:solidFill>
                  <a:srgbClr val="1F2937"/>
                </a:solidFill>
                <a:latin typeface="Calibri" pitchFamily="34" charset="0"/>
                <a:ea typeface="Calibri" pitchFamily="34" charset="-122"/>
                <a:cs typeface="Calibri" pitchFamily="34" charset="-120"/>
              </a:rPr>
              <a:t>, atteinte à −14,00 %.</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Mandat Lauren — proposition de gestion</dc:title>
  <dc:subject>PptxGenJS Presentation</dc:subject>
  <dc:creator>Allan Guichard</dc:creator>
  <cp:lastModifiedBy>Allan Guichard</cp:lastModifiedBy>
  <cp:revision>1</cp:revision>
  <dcterms:created xsi:type="dcterms:W3CDTF">2026-09-25T10:50:35Z</dcterms:created>
  <dcterms:modified xsi:type="dcterms:W3CDTF">2026-09-25T10:50:35Z</dcterms:modified>
</cp:coreProperties>
</file>