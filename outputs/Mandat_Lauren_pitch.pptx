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 on en retient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Enfin, des plafonds par secteur et par pays évitent qu'un seul thème ne prenne toute la place. Détail technique si on me le demande : chaque indicateur est mesuré en écarts-types par rapport à la moyenne du secteur, après avoir écarté les données aberrantes.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retenus, investis à parts égales. Ils couvrent 10 secteurs sur 11 et 11 pays. La sélection ne ressemble pas à l'indice, et c'est voulu : la note ignore la taille des sociétés, elle ne regarde que leurs qualités face à leurs concurrentes. Je peux ouvrir la fiche de n'importe quel titre dans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−12,8 % contre −18,4 %. En 2020, les deux ont baissé d'environ un tiers.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les emprunts d'État gagnent 14 % et l'or 39 %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−0,68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1,17 point de rendement espéré : c'est le prix d'un portefeuille robuste.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Un point de méthode important : le rendement brut est de 5,31 %, mais l'objectif du client est un objectif NET — ce qui doit battre l'inflation, c'est ce qui lui reste. On retire donc les frais des fonds, 0,05 point, et nos frais de mandat, 0,40 point : il reste 4,86 % nets, soit 0,86 point au-dessus de l'inflation de l'énoncé. Si on me demande la fiscalité : elle est hors périmètre de cet exercice et retirerait encore environ 0,30 point. Pire baisse sur vingt ans : 14,0 %. Les actions ne font que 30 % du patrimoine mais apportent près de la moitié du rendement ; les obligations tiennent la limite de perte.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30 actions européennes, à 400 000 euros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Ce chiffre-là, il ne faut pas le comparer aux 4 % de l'énoncé : ces 4 % décrivent un monde à 4 % d'inflation, or la zone euro en a connu 2,18 % par an sur cette période, 53,5 % cumulés. Jugé contre l'inflation réellement constatée, le portefeuille a donc dégagé 2,29 point de rendement réel par an. L'objectif du client a été tenu, et largement. Je dois être honnête en revanche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Un chiffre que je préfère donner moi-même plutôt qu'on me le sorte : 29 % des années glissantes n'ont pas battu l'inflation de leur époque. C'est normal, et c'est important à dire : préserver le pouvoir d'achat est un objectif de moyenne longue, aucun portefeuille tenu à 15 % de perte maximum ne peut le garantir chaque année. Précaution enfin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4,86 % espérés par an NETS de tous frais, soit 0,86 point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30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792328" y="1463040"/>
            <a:ext cx="10607040" cy="621792"/>
          </a:xfrm>
          <a:prstGeom prst="roundRect">
            <a:avLst>
              <a:gd name="adj" fmla="val 8824"/>
            </a:avLst>
          </a:prstGeom>
          <a:solidFill>
            <a:srgbClr val="14304F"/>
          </a:solidFill>
          <a:ln w="12700">
            <a:solidFill>
              <a:srgbClr val="14304F"/>
            </a:solidFill>
            <a:prstDash val="solid"/>
          </a:ln>
        </p:spPr>
      </p:sp>
      <p:sp>
        <p:nvSpPr>
          <p:cNvPr id="18" name="Text 16"/>
          <p:cNvSpPr txBox="1"/>
          <p:nvPr/>
        </p:nvSpPr>
        <p:spPr>
          <a:xfrm>
            <a:off x="792328" y="1463040"/>
            <a:ext cx="106070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600  </a:t>
            </a:r>
            <a:pPr algn="ctr" indent="0" marL="0">
              <a:buNone/>
            </a:pPr>
            <a:r>
              <a:rPr lang="en-US" sz="1400" dirty="0">
                <a:solidFill>
                  <a:srgbClr val="FFFFFF"/>
                </a:solidFill>
                <a:latin typeface="Calibri" pitchFamily="34" charset="0"/>
                <a:ea typeface="Calibri" pitchFamily="34" charset="-122"/>
                <a:cs typeface="Calibri" pitchFamily="34" charset="-120"/>
              </a:rPr>
              <a:t>valeurs du STOXX 600</a:t>
            </a:r>
            <a:endParaRPr lang="en-US" sz="2000" dirty="0"/>
          </a:p>
        </p:txBody>
      </p:sp>
      <p:sp>
        <p:nvSpPr>
          <p:cNvPr id="19" name="Shape 17"/>
          <p:cNvSpPr/>
          <p:nvPr/>
        </p:nvSpPr>
        <p:spPr>
          <a:xfrm>
            <a:off x="1500988" y="2194560"/>
            <a:ext cx="9189720" cy="621792"/>
          </a:xfrm>
          <a:prstGeom prst="roundRect">
            <a:avLst>
              <a:gd name="adj" fmla="val 8824"/>
            </a:avLst>
          </a:prstGeom>
          <a:solidFill>
            <a:srgbClr val="3B5A80"/>
          </a:solidFill>
          <a:ln w="12700">
            <a:solidFill>
              <a:srgbClr val="3B5A80"/>
            </a:solidFill>
            <a:prstDash val="solid"/>
          </a:ln>
        </p:spPr>
      </p:sp>
      <p:sp>
        <p:nvSpPr>
          <p:cNvPr id="20" name="Text 18"/>
          <p:cNvSpPr txBox="1"/>
          <p:nvPr/>
        </p:nvSpPr>
        <p:spPr>
          <a:xfrm>
            <a:off x="1500988" y="2194560"/>
            <a:ext cx="918972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  </a:t>
            </a:r>
            <a:pPr algn="ctr" indent="0" marL="0">
              <a:buNone/>
            </a:pPr>
            <a:r>
              <a:rPr lang="en-US" sz="1400" dirty="0">
                <a:solidFill>
                  <a:srgbClr val="FFFFFF"/>
                </a:solidFill>
                <a:latin typeface="Calibri" pitchFamily="34" charset="0"/>
                <a:ea typeface="Calibri" pitchFamily="34" charset="-122"/>
                <a:cs typeface="Calibri" pitchFamily="34" charset="-120"/>
              </a:rPr>
              <a:t>exclues : tabac, armement, charbon</a:t>
            </a:r>
            <a:endParaRPr lang="en-US" sz="2000" dirty="0"/>
          </a:p>
        </p:txBody>
      </p:sp>
      <p:sp>
        <p:nvSpPr>
          <p:cNvPr id="21" name="Shape 19"/>
          <p:cNvSpPr/>
          <p:nvPr/>
        </p:nvSpPr>
        <p:spPr>
          <a:xfrm>
            <a:off x="2209648" y="2926080"/>
            <a:ext cx="7772400" cy="621792"/>
          </a:xfrm>
          <a:prstGeom prst="roundRect">
            <a:avLst>
              <a:gd name="adj" fmla="val 8824"/>
            </a:avLst>
          </a:prstGeom>
          <a:solidFill>
            <a:srgbClr val="3B5A80"/>
          </a:solidFill>
          <a:ln w="12700">
            <a:solidFill>
              <a:srgbClr val="3B5A80"/>
            </a:solidFill>
            <a:prstDash val="solid"/>
          </a:ln>
        </p:spPr>
      </p:sp>
      <p:sp>
        <p:nvSpPr>
          <p:cNvPr id="22" name="Text 20"/>
          <p:cNvSpPr txBox="1"/>
          <p:nvPr/>
        </p:nvSpPr>
        <p:spPr>
          <a:xfrm>
            <a:off x="2209648" y="2926080"/>
            <a:ext cx="777240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− 11  </a:t>
            </a:r>
            <a:pPr algn="ctr" indent="0" marL="0">
              <a:buNone/>
            </a:pPr>
            <a:r>
              <a:rPr lang="en-US" sz="1400" dirty="0">
                <a:solidFill>
                  <a:srgbClr val="FFFFFF"/>
                </a:solidFill>
                <a:latin typeface="Calibri" pitchFamily="34" charset="0"/>
                <a:ea typeface="Calibri" pitchFamily="34" charset="-122"/>
                <a:cs typeface="Calibri" pitchFamily="34" charset="-120"/>
              </a:rPr>
              <a:t>sociétés d'investissement, non notables</a:t>
            </a:r>
            <a:endParaRPr lang="en-US" sz="2000" dirty="0"/>
          </a:p>
        </p:txBody>
      </p:sp>
      <p:sp>
        <p:nvSpPr>
          <p:cNvPr id="23" name="Shape 21"/>
          <p:cNvSpPr/>
          <p:nvPr/>
        </p:nvSpPr>
        <p:spPr>
          <a:xfrm>
            <a:off x="2918308" y="3657600"/>
            <a:ext cx="6355080" cy="621792"/>
          </a:xfrm>
          <a:prstGeom prst="roundRect">
            <a:avLst>
              <a:gd name="adj" fmla="val 8824"/>
            </a:avLst>
          </a:prstGeom>
          <a:solidFill>
            <a:srgbClr val="3B5A80"/>
          </a:solidFill>
          <a:ln w="12700">
            <a:solidFill>
              <a:srgbClr val="3B5A80"/>
            </a:solidFill>
            <a:prstDash val="solid"/>
          </a:ln>
        </p:spPr>
      </p:sp>
      <p:sp>
        <p:nvSpPr>
          <p:cNvPr id="24" name="Text 22"/>
          <p:cNvSpPr txBox="1"/>
          <p:nvPr/>
        </p:nvSpPr>
        <p:spPr>
          <a:xfrm>
            <a:off x="2918308" y="3657600"/>
            <a:ext cx="635508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− 262  </a:t>
            </a:r>
            <a:pPr algn="ctr" indent="0" marL="0">
              <a:buNone/>
            </a:pPr>
            <a:r>
              <a:rPr lang="en-US" sz="1400" dirty="0">
                <a:solidFill>
                  <a:srgbClr val="FFFFFF"/>
                </a:solidFill>
                <a:latin typeface="Calibri" pitchFamily="34" charset="0"/>
                <a:ea typeface="Calibri" pitchFamily="34" charset="-122"/>
                <a:cs typeface="Calibri" pitchFamily="34" charset="-120"/>
              </a:rPr>
              <a:t>trop petites (&lt; 10 Md€)</a:t>
            </a:r>
            <a:endParaRPr lang="en-US" sz="2000" dirty="0"/>
          </a:p>
        </p:txBody>
      </p:sp>
      <p:sp>
        <p:nvSpPr>
          <p:cNvPr id="25" name="Shape 23"/>
          <p:cNvSpPr/>
          <p:nvPr/>
        </p:nvSpPr>
        <p:spPr>
          <a:xfrm>
            <a:off x="3626968" y="4389120"/>
            <a:ext cx="4937760" cy="621792"/>
          </a:xfrm>
          <a:prstGeom prst="roundRect">
            <a:avLst>
              <a:gd name="adj" fmla="val 8824"/>
            </a:avLst>
          </a:prstGeom>
          <a:solidFill>
            <a:srgbClr val="3B5A80"/>
          </a:solidFill>
          <a:ln w="12700">
            <a:solidFill>
              <a:srgbClr val="3B5A80"/>
            </a:solidFill>
            <a:prstDash val="solid"/>
          </a:ln>
        </p:spPr>
      </p:sp>
      <p:sp>
        <p:nvSpPr>
          <p:cNvPr id="26" name="Text 24"/>
          <p:cNvSpPr txBox="1"/>
          <p:nvPr/>
        </p:nvSpPr>
        <p:spPr>
          <a:xfrm>
            <a:off x="3626968" y="4389120"/>
            <a:ext cx="493776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300  </a:t>
            </a:r>
            <a:pPr algn="ctr" indent="0" marL="0">
              <a:buNone/>
            </a:pPr>
            <a:r>
              <a:rPr lang="en-US" sz="1400" dirty="0">
                <a:solidFill>
                  <a:srgbClr val="FFFFFF"/>
                </a:solidFill>
                <a:latin typeface="Calibri" pitchFamily="34" charset="0"/>
                <a:ea typeface="Calibri" pitchFamily="34" charset="-122"/>
                <a:cs typeface="Calibri" pitchFamily="34" charset="-120"/>
              </a:rPr>
              <a:t>notées sur cinq piliers</a:t>
            </a:r>
            <a:endParaRPr lang="en-US" sz="2000" dirty="0"/>
          </a:p>
        </p:txBody>
      </p:sp>
      <p:sp>
        <p:nvSpPr>
          <p:cNvPr id="27" name="Shape 25"/>
          <p:cNvSpPr/>
          <p:nvPr/>
        </p:nvSpPr>
        <p:spPr>
          <a:xfrm>
            <a:off x="4335628" y="5120640"/>
            <a:ext cx="3520440" cy="621792"/>
          </a:xfrm>
          <a:prstGeom prst="roundRect">
            <a:avLst>
              <a:gd name="adj" fmla="val 8824"/>
            </a:avLst>
          </a:prstGeom>
          <a:solidFill>
            <a:srgbClr val="C98A1B"/>
          </a:solidFill>
          <a:ln w="12700">
            <a:solidFill>
              <a:srgbClr val="C98A1B"/>
            </a:solidFill>
            <a:prstDash val="solid"/>
          </a:ln>
        </p:spPr>
      </p:sp>
      <p:sp>
        <p:nvSpPr>
          <p:cNvPr id="28" name="Text 26"/>
          <p:cNvSpPr txBox="1"/>
          <p:nvPr/>
        </p:nvSpPr>
        <p:spPr>
          <a:xfrm>
            <a:off x="4335628" y="5120640"/>
            <a:ext cx="35204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  </a:t>
            </a:r>
            <a:pPr algn="ctr" indent="0" marL="0">
              <a:buNone/>
            </a:pPr>
            <a:r>
              <a:rPr lang="en-US" sz="1400" dirty="0">
                <a:solidFill>
                  <a:srgbClr val="FFFFFF"/>
                </a:solidFill>
                <a:latin typeface="Calibri" pitchFamily="34" charset="0"/>
                <a:ea typeface="Calibri" pitchFamily="34" charset="-122"/>
                <a:cs typeface="Calibri" pitchFamily="34" charset="-120"/>
              </a:rPr>
              <a:t>retenues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4 titres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au plus par secteur,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6</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par pays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Aucun titre parmi les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10 % les plus volatils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Données aberrantes écartées (un PER de 1 042…)</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30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note = écart à la moyenne du secteur (+1 = nettement meilleure)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EMS-CHEMIE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Suisse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titres à parts égales, en euros, face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Shape 15"/>
          <p:cNvSpPr/>
          <p:nvPr/>
        </p:nvSpPr>
        <p:spPr>
          <a:xfrm>
            <a:off x="548640" y="1554480"/>
            <a:ext cx="3520440" cy="2377440"/>
          </a:xfrm>
          <a:prstGeom prst="roundRect">
            <a:avLst>
              <a:gd name="adj" fmla="val 3077"/>
            </a:avLst>
          </a:prstGeom>
          <a:solidFill>
            <a:srgbClr val="F2F5F9"/>
          </a:solidFill>
          <a:ln w="12700">
            <a:solidFill>
              <a:srgbClr val="F2F5F9"/>
            </a:solidFill>
            <a:prstDash val="solid"/>
          </a:ln>
        </p:spPr>
      </p:sp>
      <p:sp>
        <p:nvSpPr>
          <p:cNvPr id="18" name="Text 16"/>
          <p:cNvSpPr txBox="1"/>
          <p:nvPr/>
        </p:nvSpPr>
        <p:spPr>
          <a:xfrm>
            <a:off x="77724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10,4 %</a:t>
            </a:r>
            <a:endParaRPr lang="en-US" sz="4000" dirty="0"/>
          </a:p>
        </p:txBody>
      </p:sp>
      <p:sp>
        <p:nvSpPr>
          <p:cNvPr id="20" name="Text 18"/>
          <p:cNvSpPr txBox="1"/>
          <p:nvPr/>
        </p:nvSpPr>
        <p:spPr>
          <a:xfrm>
            <a:off x="77724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12,8 %</a:t>
            </a:r>
            <a:endParaRPr lang="en-US" sz="1500" dirty="0"/>
          </a:p>
        </p:txBody>
      </p:sp>
      <p:sp>
        <p:nvSpPr>
          <p:cNvPr id="21" name="Shape 19"/>
          <p:cNvSpPr/>
          <p:nvPr/>
        </p:nvSpPr>
        <p:spPr>
          <a:xfrm>
            <a:off x="4297680" y="1554480"/>
            <a:ext cx="3520440" cy="2377440"/>
          </a:xfrm>
          <a:prstGeom prst="roundRect">
            <a:avLst>
              <a:gd name="adj" fmla="val 3077"/>
            </a:avLst>
          </a:prstGeom>
          <a:solidFill>
            <a:srgbClr val="F2F5F9"/>
          </a:solidFill>
          <a:ln w="12700">
            <a:solidFill>
              <a:srgbClr val="F2F5F9"/>
            </a:solidFill>
            <a:prstDash val="solid"/>
          </a:ln>
        </p:spPr>
      </p:sp>
      <p:sp>
        <p:nvSpPr>
          <p:cNvPr id="22" name="Text 20"/>
          <p:cNvSpPr txBox="1"/>
          <p:nvPr/>
        </p:nvSpPr>
        <p:spPr>
          <a:xfrm>
            <a:off x="452628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3" name="Text 21"/>
          <p:cNvSpPr txBox="1"/>
          <p:nvPr/>
        </p:nvSpPr>
        <p:spPr>
          <a:xfrm>
            <a:off x="452628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−34,0 %</a:t>
            </a:r>
            <a:endParaRPr lang="en-US" sz="4000" dirty="0"/>
          </a:p>
        </p:txBody>
      </p:sp>
      <p:sp>
        <p:nvSpPr>
          <p:cNvPr id="24" name="Text 22"/>
          <p:cNvSpPr txBox="1"/>
          <p:nvPr/>
        </p:nvSpPr>
        <p:spPr>
          <a:xfrm>
            <a:off x="452628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−32,1 %</a:t>
            </a:r>
            <a:endParaRPr lang="en-US" sz="1500" dirty="0"/>
          </a:p>
        </p:txBody>
      </p:sp>
      <p:sp>
        <p:nvSpPr>
          <p:cNvPr id="25" name="Shape 23"/>
          <p:cNvSpPr/>
          <p:nvPr/>
        </p:nvSpPr>
        <p:spPr>
          <a:xfrm>
            <a:off x="8046720" y="1554480"/>
            <a:ext cx="3520440" cy="2377440"/>
          </a:xfrm>
          <a:prstGeom prst="roundRect">
            <a:avLst>
              <a:gd name="adj" fmla="val 3077"/>
            </a:avLst>
          </a:prstGeom>
          <a:solidFill>
            <a:srgbClr val="F2F5F9"/>
          </a:solidFill>
          <a:ln w="12700">
            <a:solidFill>
              <a:srgbClr val="F2F5F9"/>
            </a:solidFill>
            <a:prstDash val="solid"/>
          </a:ln>
        </p:spPr>
      </p:sp>
      <p:sp>
        <p:nvSpPr>
          <p:cNvPr id="26" name="Text 24"/>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7" name="Text 25"/>
          <p:cNvSpPr txBox="1"/>
          <p:nvPr/>
        </p:nvSpPr>
        <p:spPr>
          <a:xfrm>
            <a:off x="827532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−12,8 %</a:t>
            </a:r>
            <a:endParaRPr lang="en-US" sz="4000" dirty="0"/>
          </a:p>
        </p:txBody>
      </p:sp>
      <p:sp>
        <p:nvSpPr>
          <p:cNvPr id="28" name="Text 26"/>
          <p:cNvSpPr txBox="1"/>
          <p:nvPr/>
        </p:nvSpPr>
        <p:spPr>
          <a:xfrm>
            <a:off x="827532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−18,4 %</a:t>
            </a:r>
            <a:endParaRPr lang="en-US" sz="1500" dirty="0"/>
          </a:p>
        </p:txBody>
      </p:sp>
      <p:sp>
        <p:nvSpPr>
          <p:cNvPr id="29" name="Shape 27"/>
          <p:cNvSpPr/>
          <p:nvPr/>
        </p:nvSpPr>
        <p:spPr>
          <a:xfrm>
            <a:off x="548640" y="4297680"/>
            <a:ext cx="11094415" cy="1554480"/>
          </a:xfrm>
          <a:prstGeom prst="roundRect">
            <a:avLst>
              <a:gd name="adj" fmla="val 4706"/>
            </a:avLst>
          </a:prstGeom>
          <a:solidFill>
            <a:srgbClr val="14304F"/>
          </a:solidFill>
          <a:ln w="12700">
            <a:solidFill>
              <a:srgbClr val="14304F"/>
            </a:solidFill>
            <a:prstDash val="solid"/>
          </a:ln>
        </p:spPr>
      </p:sp>
      <p:sp>
        <p:nvSpPr>
          <p:cNvPr id="30" name="Text 28"/>
          <p:cNvSpPr txBox="1"/>
          <p:nvPr/>
        </p:nvSpPr>
        <p:spPr>
          <a:xfrm>
            <a:off x="777240" y="4434840"/>
            <a:ext cx="10637215" cy="12801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Moins agité au quotidien, nettement mieux tenu en 2022, à égalité en 2020. Mais en crise, il perd </a:t>
            </a:r>
            <a:pPr indent="0" marL="0">
              <a:buNone/>
            </a:pPr>
            <a:r>
              <a:rPr lang="en-US" sz="1550" b="1" dirty="0">
                <a:solidFill>
                  <a:srgbClr val="F5C969"/>
                </a:solidFill>
                <a:latin typeface="Calibri" pitchFamily="34" charset="0"/>
                <a:ea typeface="Calibri" pitchFamily="34" charset="-122"/>
                <a:cs typeface="Calibri" pitchFamily="34" charset="-120"/>
              </a:rPr>
              <a:t>bien plus que 15 %</a:t>
            </a:r>
            <a:pPr indent="0" marL="0">
              <a:buNone/>
            </a:pPr>
            <a:r>
              <a:rPr lang="en-US" sz="15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377440"/>
                <a:gridCol w="356616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États-Unis et Japon séparés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plutôt qu'un fonds Monde qui recompterait l'Europe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Infrastructure retirée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aucun fonds à la fois assez gros et conforme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Neuf libellés faux</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corrigés dans l'univers de départ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court rapporte à peine plus que l'État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Fonds retenu : QDVL, obligations d'entreprises bien notées, durée 1,4 an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18" name="Text 16"/>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19" name="Text 17"/>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20" name="Text 18"/>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21" name="Text 19"/>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22" name="Text 20"/>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23" name="Text 21"/>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24"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26" name="Text 23"/>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rendement de l'indice (le panier n'est pas supposé battre son marché)</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874520"/>
          </a:xfrm>
          <a:prstGeom prst="roundRect">
            <a:avLst>
              <a:gd name="adj" fmla="val 3902"/>
            </a:avLst>
          </a:prstGeom>
          <a:solidFill>
            <a:srgbClr val="14304F"/>
          </a:solidFill>
          <a:ln w="12700">
            <a:solidFill>
              <a:srgbClr val="14304F"/>
            </a:solidFill>
            <a:prstDash val="solid"/>
          </a:ln>
        </p:spPr>
      </p:sp>
      <p:sp>
        <p:nvSpPr>
          <p:cNvPr id="23" name="Text 20"/>
          <p:cNvSpPr txBox="1"/>
          <p:nvPr/>
        </p:nvSpPr>
        <p:spPr>
          <a:xfrm>
            <a:off x="7818120" y="4480560"/>
            <a:ext cx="3593592" cy="1600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6,46 %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(−0,68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−1,17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257800"/>
            <a:ext cx="4480560" cy="1005840"/>
          </a:xfrm>
          <a:prstGeom prst="rect">
            <a:avLst/>
          </a:prstGeom>
          <a:noFill/>
          <a:ln/>
        </p:spPr>
        <p:txBody>
          <a:bodyPr wrap="square" lIns="0" tIns="0" rIns="0" bIns="0" rtlCol="0" anchor="t"/>
          <a:lstStyle/>
          <a:p>
            <a:pPr indent="0" marL="0">
              <a:spcAft>
                <a:spcPts val="600"/>
              </a:spcAft>
              <a:buNone/>
            </a:pPr>
            <a:r>
              <a:rPr lang="en-US" sz="115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4,86 %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NET de frais</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+0,86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4,86 % nets espérés</a:t>
            </a:r>
            <a:pPr indent="0" marL="0">
              <a:buNone/>
            </a:pPr>
            <a:r>
              <a:rPr lang="en-US" sz="1500" dirty="0">
                <a:solidFill>
                  <a:srgbClr val="FFFFFF"/>
                </a:solidFill>
                <a:latin typeface="Calibri" pitchFamily="34" charset="0"/>
                <a:ea typeface="Calibri" pitchFamily="34" charset="-122"/>
                <a:cs typeface="Calibri" pitchFamily="34" charset="-120"/>
              </a:rPr>
              <a:t> contre 4 % à battre,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 frais de mandat 0,40 % · aucune ligne ne dépasse 1 % de son fonds</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30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0,41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Rendement espéré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net de frais : 4,86 %</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 · inflation zone euro constatée : FRED, IPCH, 53,5 % cumulés sur la période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834640"/>
            <a:ext cx="3200400" cy="640080"/>
          </a:xfrm>
          <a:prstGeom prst="rect">
            <a:avLst/>
          </a:prstGeom>
          <a:noFill/>
          <a:ln/>
        </p:spPr>
        <p:txBody>
          <a:bodyPr wrap="square" lIns="0" tIns="0" rIns="0" bIns="0" rtlCol="0" anchor="b"/>
          <a:lstStyle/>
          <a:p>
            <a:pPr indent="0" marL="0">
              <a:buNone/>
            </a:pPr>
            <a:r>
              <a:rPr lang="en-US" sz="3800" b="1" dirty="0">
                <a:solidFill>
                  <a:srgbClr val="2A78D6"/>
                </a:solidFill>
                <a:latin typeface="Cambria" pitchFamily="34" charset="0"/>
                <a:ea typeface="Cambria" pitchFamily="34" charset="-122"/>
                <a:cs typeface="Cambria" pitchFamily="34" charset="-120"/>
              </a:rPr>
              <a:t>+2,29 pt</a:t>
            </a:r>
            <a:endParaRPr lang="en-US" sz="3800" dirty="0"/>
          </a:p>
        </p:txBody>
      </p:sp>
      <p:sp>
        <p:nvSpPr>
          <p:cNvPr id="22" name="Text 19"/>
          <p:cNvSpPr txBox="1"/>
          <p:nvPr/>
        </p:nvSpPr>
        <p:spPr>
          <a:xfrm>
            <a:off x="8412480" y="34930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AU-DELÀ de l'inflation, qui a fait 2,18 % sur la période</a:t>
            </a:r>
            <a:endParaRPr lang="en-US" sz="1200" dirty="0"/>
          </a:p>
        </p:txBody>
      </p:sp>
      <p:sp>
        <p:nvSpPr>
          <p:cNvPr id="23" name="Text 20"/>
          <p:cNvSpPr txBox="1"/>
          <p:nvPr/>
        </p:nvSpPr>
        <p:spPr>
          <a:xfrm>
            <a:off x="8412480" y="420624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4" name="Text 21"/>
          <p:cNvSpPr txBox="1"/>
          <p:nvPr/>
        </p:nvSpPr>
        <p:spPr>
          <a:xfrm>
            <a:off x="8412480" y="48646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5" name="Shape 22"/>
          <p:cNvSpPr/>
          <p:nvPr/>
        </p:nvSpPr>
        <p:spPr>
          <a:xfrm>
            <a:off x="8412480" y="5486400"/>
            <a:ext cx="3227832" cy="777240"/>
          </a:xfrm>
          <a:prstGeom prst="roundRect">
            <a:avLst>
              <a:gd name="adj" fmla="val 9412"/>
            </a:avLst>
          </a:prstGeom>
          <a:solidFill>
            <a:srgbClr val="14304F"/>
          </a:solidFill>
          <a:ln w="12700">
            <a:solidFill>
              <a:srgbClr val="14304F"/>
            </a:solidFill>
            <a:prstDash val="solid"/>
          </a:ln>
        </p:spPr>
      </p:sp>
      <p:sp>
        <p:nvSpPr>
          <p:cNvPr id="26" name="Text 23"/>
          <p:cNvSpPr txBox="1"/>
          <p:nvPr/>
        </p:nvSpPr>
        <p:spPr>
          <a:xfrm>
            <a:off x="8641080" y="5623560"/>
            <a:ext cx="2770632"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29 %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n'ont pas battu l'inflation</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Et préserver le pouvoir d'achat est </a:t>
            </a:r>
            <a:pPr indent="0" marL="0">
              <a:buNone/>
            </a:pPr>
            <a:r>
              <a:rPr lang="en-US" sz="1350" b="1" dirty="0">
                <a:solidFill>
                  <a:srgbClr val="F5C969"/>
                </a:solidFill>
                <a:latin typeface="Calibri" pitchFamily="34" charset="0"/>
                <a:ea typeface="Calibri" pitchFamily="34" charset="-122"/>
                <a:cs typeface="Calibri" pitchFamily="34" charset="-120"/>
              </a:rPr>
              <a:t>un objectif de moyenne longue, pas une garantie annuelle.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4,86 %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net de frais</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30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2026-09-21T12:35:08Z</dcterms:created>
  <dcterms:modified xsi:type="dcterms:W3CDTF">2026-09-21T12:35:08Z</dcterms:modified>
</cp:coreProperties>
</file>