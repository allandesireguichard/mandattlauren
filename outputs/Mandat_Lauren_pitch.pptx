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annuel en euros, seuil de l'énoncé : 4 %</a:t>
            </a:r>
          </a:p>
        </c:rich>
      </c:tx>
      <c:layout/>
      <c:overlay val="0"/>
    </c:title>
    <c:autoTitleDeleted val="0"/>
    <c:plotArea>
      <c:layout/>
      <c:barChart>
        <c:barDir val="bar"/>
        <c:grouping val="stacked"/>
        <c:varyColors val="0"/>
        <c:ser>
          <c:idx val="0"/>
          <c:order val="0"/>
          <c:tx>
            <c:strRef>
              <c:f>Sheet1!$B$1</c:f>
              <c:strCache>
                <c:ptCount val="1"/>
                <c:pt idx="0">
                  <c:v>Sous le seuil</c:v>
                </c:pt>
              </c:strCache>
            </c:strRef>
          </c:tx>
          <c:spPr>
            <a:solidFill>
              <a:srgbClr val="9CA3AF"/>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Sheet1!$B$2:$B$11</c:f>
              <c:numCache>
                <c:formatCode>General</c:formatCode>
                <c:ptCount val="10"/>
                <c:pt idx="0">
                  <c:v>2.44</c:v>
                </c:pt>
                <c:pt idx="1">
                  <c:v>3.2145</c:v>
                </c:pt>
                <c:pt idx="2">
                  <c:v>3.31</c:v>
                </c:pt>
                <c:pt idx="3">
                  <c:v>3.77</c:v>
                </c:pt>
                <c:pt idx="4">
                  <c:v>0</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1BAF7A"/>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Sheet1!$C$2:$C$11</c:f>
              <c:numCache>
                <c:formatCode>General</c:formatCode>
                <c:ptCount val="10"/>
                <c:pt idx="0">
                  <c:v>0</c:v>
                </c:pt>
                <c:pt idx="1">
                  <c:v>0</c:v>
                </c:pt>
                <c:pt idx="2">
                  <c:v>0</c:v>
                </c:pt>
                <c:pt idx="3">
                  <c:v>0</c:v>
                </c:pt>
                <c:pt idx="4">
                  <c:v>4.040000000000001</c:v>
                </c:pt>
                <c:pt idx="5">
                  <c:v>4.15</c:v>
                </c:pt>
                <c:pt idx="6">
                  <c:v>4.4</c:v>
                </c:pt>
                <c:pt idx="7">
                  <c:v>5.43</c:v>
                </c:pt>
                <c:pt idx="8">
                  <c:v>5.83</c:v>
                </c:pt>
                <c:pt idx="9">
                  <c:v>6.05</c:v>
                </c:pt>
              </c:numCache>
            </c:numRef>
          </c:val>
        </c:ser>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7"/>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Primes de crédit, en points au-dessus de l'État</a:t>
            </a:r>
          </a:p>
        </c:rich>
      </c:tx>
      <c:layout/>
      <c:overlay val="0"/>
    </c:title>
    <c:autoTitleDeleted val="0"/>
    <c:plotArea>
      <c:layout/>
      <c:lineChart>
        <c:varyColors val="0"/>
        <c:ser>
          <c:idx val="0"/>
          <c:order val="0"/>
          <c:tx>
            <c:strRef>
              <c:f>Sheet1!$B$1</c:f>
              <c:strCache>
                <c:ptCount val="1"/>
                <c:pt idx="0">
                  <c:v>Entreprises notées Baa (US)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Sheet1!$B$2:$B$164</c:f>
              <c:numCache>
                <c:formatCode>General</c:formatCode>
                <c:ptCount val="163"/>
                <c:pt idx="0">
                  <c:v>2.45</c:v>
                </c:pt>
                <c:pt idx="1">
                  <c:v>2.67</c:v>
                </c:pt>
                <c:pt idx="2">
                  <c:v>2.88</c:v>
                </c:pt>
                <c:pt idx="3">
                  <c:v>2.83</c:v>
                </c:pt>
                <c:pt idx="4">
                  <c:v>2.47</c:v>
                </c:pt>
                <c:pt idx="5">
                  <c:v>2.02</c:v>
                </c:pt>
                <c:pt idx="6">
                  <c:v>2.03</c:v>
                </c:pt>
                <c:pt idx="7">
                  <c:v>2.25</c:v>
                </c:pt>
                <c:pt idx="8">
                  <c:v>2.33</c:v>
                </c:pt>
                <c:pt idx="9">
                  <c:v>2.07</c:v>
                </c:pt>
                <c:pt idx="10">
                  <c:v>1.98</c:v>
                </c:pt>
                <c:pt idx="11">
                  <c:v>1.56</c:v>
                </c:pt>
                <c:pt idx="12">
                  <c:v>1.43</c:v>
                </c:pt>
                <c:pt idx="13">
                  <c:v>1.6</c:v>
                </c:pt>
                <c:pt idx="14">
                  <c:v>1.78</c:v>
                </c:pt>
                <c:pt idx="15">
                  <c:v>1.91</c:v>
                </c:pt>
                <c:pt idx="16">
                  <c:v>1.68</c:v>
                </c:pt>
                <c:pt idx="17">
                  <c:v>1.64</c:v>
                </c:pt>
                <c:pt idx="18">
                  <c:v>1.71</c:v>
                </c:pt>
                <c:pt idx="19">
                  <c:v>2.2</c:v>
                </c:pt>
                <c:pt idx="20">
                  <c:v>2.19</c:v>
                </c:pt>
                <c:pt idx="21">
                  <c:v>1.8</c:v>
                </c:pt>
                <c:pt idx="22">
                  <c:v>1.74</c:v>
                </c:pt>
                <c:pt idx="23">
                  <c:v>2.06</c:v>
                </c:pt>
                <c:pt idx="24">
                  <c:v>1.89</c:v>
                </c:pt>
                <c:pt idx="25">
                  <c:v>1.75</c:v>
                </c:pt>
                <c:pt idx="26">
                  <c:v>2.09</c:v>
                </c:pt>
                <c:pt idx="27">
                  <c:v>2.13</c:v>
                </c:pt>
                <c:pt idx="28">
                  <c:v>2.13</c:v>
                </c:pt>
                <c:pt idx="29">
                  <c:v>2.15</c:v>
                </c:pt>
                <c:pt idx="30">
                  <c:v>2.01</c:v>
                </c:pt>
                <c:pt idx="31">
                  <c:v>1.94</c:v>
                </c:pt>
                <c:pt idx="32">
                  <c:v>1.77</c:v>
                </c:pt>
                <c:pt idx="33">
                  <c:v>1.51</c:v>
                </c:pt>
                <c:pt idx="34">
                  <c:v>1.51</c:v>
                </c:pt>
                <c:pt idx="35">
                  <c:v>1.37</c:v>
                </c:pt>
                <c:pt idx="36">
                  <c:v>1.4</c:v>
                </c:pt>
                <c:pt idx="37">
                  <c:v>1.62</c:v>
                </c:pt>
                <c:pt idx="38">
                  <c:v>1.73</c:v>
                </c:pt>
                <c:pt idx="39">
                  <c:v>1.75</c:v>
                </c:pt>
                <c:pt idx="40">
                  <c:v>1.8</c:v>
                </c:pt>
                <c:pt idx="41">
                  <c:v>1.58</c:v>
                </c:pt>
                <c:pt idx="42">
                  <c:v>1.51</c:v>
                </c:pt>
                <c:pt idx="43">
                  <c:v>1.57</c:v>
                </c:pt>
                <c:pt idx="44">
                  <c:v>1.51</c:v>
                </c:pt>
                <c:pt idx="45">
                  <c:v>1.49</c:v>
                </c:pt>
                <c:pt idx="46">
                  <c:v>1.52</c:v>
                </c:pt>
                <c:pt idx="47">
                  <c:v>1.53</c:v>
                </c:pt>
                <c:pt idx="48">
                  <c:v>1.67</c:v>
                </c:pt>
                <c:pt idx="49">
                  <c:v>1.66</c:v>
                </c:pt>
                <c:pt idx="50">
                  <c:v>1.92</c:v>
                </c:pt>
                <c:pt idx="51">
                  <c:v>2.58</c:v>
                </c:pt>
                <c:pt idx="52">
                  <c:v>2.41</c:v>
                </c:pt>
                <c:pt idx="53">
                  <c:v>2.2</c:v>
                </c:pt>
                <c:pt idx="54">
                  <c:v>2.22</c:v>
                </c:pt>
                <c:pt idx="55">
                  <c:v>2.09</c:v>
                </c:pt>
                <c:pt idx="56">
                  <c:v>1.86</c:v>
                </c:pt>
                <c:pt idx="57">
                  <c:v>2.42</c:v>
                </c:pt>
                <c:pt idx="58">
                  <c:v>2.42</c:v>
                </c:pt>
                <c:pt idx="59">
                  <c:v>2.65</c:v>
                </c:pt>
                <c:pt idx="60">
                  <c:v>2.84</c:v>
                </c:pt>
                <c:pt idx="61">
                  <c:v>2.76</c:v>
                </c:pt>
                <c:pt idx="62">
                  <c:v>2.94</c:v>
                </c:pt>
                <c:pt idx="63">
                  <c:v>3.16</c:v>
                </c:pt>
                <c:pt idx="64">
                  <c:v>2.88</c:v>
                </c:pt>
                <c:pt idx="65">
                  <c:v>2.92</c:v>
                </c:pt>
                <c:pt idx="66">
                  <c:v>3.36</c:v>
                </c:pt>
                <c:pt idx="67">
                  <c:v>3.6</c:v>
                </c:pt>
                <c:pt idx="68">
                  <c:v>3.2</c:v>
                </c:pt>
                <c:pt idx="69">
                  <c:v>2.85</c:v>
                </c:pt>
                <c:pt idx="70">
                  <c:v>2.58</c:v>
                </c:pt>
                <c:pt idx="71">
                  <c:v>2.38</c:v>
                </c:pt>
                <c:pt idx="72">
                  <c:v>2.26</c:v>
                </c:pt>
                <c:pt idx="73">
                  <c:v>2.06</c:v>
                </c:pt>
                <c:pt idx="74">
                  <c:v>2.15</c:v>
                </c:pt>
                <c:pt idx="75">
                  <c:v>2.01</c:v>
                </c:pt>
                <c:pt idx="76">
                  <c:v>1.67</c:v>
                </c:pt>
                <c:pt idx="77">
                  <c:v>1.81</c:v>
                </c:pt>
                <c:pt idx="78">
                  <c:v>1.77</c:v>
                </c:pt>
                <c:pt idx="79">
                  <c:v>1.85</c:v>
                </c:pt>
                <c:pt idx="80">
                  <c:v>1.73</c:v>
                </c:pt>
                <c:pt idx="81">
                  <c:v>1.67</c:v>
                </c:pt>
                <c:pt idx="82">
                  <c:v>1.7</c:v>
                </c:pt>
                <c:pt idx="83">
                  <c:v>1.65</c:v>
                </c:pt>
                <c:pt idx="84">
                  <c:v>1.62</c:v>
                </c:pt>
                <c:pt idx="85">
                  <c:v>1.64</c:v>
                </c:pt>
                <c:pt idx="86">
                  <c:v>1.9</c:v>
                </c:pt>
                <c:pt idx="87">
                  <c:v>2.24</c:v>
                </c:pt>
                <c:pt idx="88">
                  <c:v>3.08</c:v>
                </c:pt>
                <c:pt idx="89">
                  <c:v>3.11</c:v>
                </c:pt>
                <c:pt idx="90">
                  <c:v>3.34</c:v>
                </c:pt>
                <c:pt idx="91">
                  <c:v>5.58</c:v>
                </c:pt>
                <c:pt idx="92">
                  <c:v>5.49</c:v>
                </c:pt>
                <c:pt idx="93">
                  <c:v>4.65</c:v>
                </c:pt>
                <c:pt idx="94">
                  <c:v>3.15</c:v>
                </c:pt>
                <c:pt idx="95">
                  <c:v>2.86</c:v>
                </c:pt>
                <c:pt idx="96">
                  <c:v>2.57</c:v>
                </c:pt>
                <c:pt idx="97">
                  <c:v>2.69</c:v>
                </c:pt>
                <c:pt idx="98">
                  <c:v>2.99</c:v>
                </c:pt>
                <c:pt idx="99">
                  <c:v>3.04</c:v>
                </c:pt>
                <c:pt idx="100">
                  <c:v>2.63</c:v>
                </c:pt>
                <c:pt idx="101">
                  <c:v>2.65</c:v>
                </c:pt>
                <c:pt idx="102">
                  <c:v>3.04</c:v>
                </c:pt>
                <c:pt idx="103">
                  <c:v>3.21</c:v>
                </c:pt>
                <c:pt idx="104">
                  <c:v>3.16</c:v>
                </c:pt>
                <c:pt idx="105">
                  <c:v>3.27</c:v>
                </c:pt>
                <c:pt idx="106">
                  <c:v>3.23</c:v>
                </c:pt>
                <c:pt idx="107">
                  <c:v>2.87</c:v>
                </c:pt>
                <c:pt idx="108">
                  <c:v>2.86</c:v>
                </c:pt>
                <c:pt idx="109">
                  <c:v>2.84</c:v>
                </c:pt>
                <c:pt idx="110">
                  <c:v>2.7</c:v>
                </c:pt>
                <c:pt idx="111">
                  <c:v>2.61</c:v>
                </c:pt>
                <c:pt idx="112">
                  <c:v>2.35</c:v>
                </c:pt>
                <c:pt idx="113">
                  <c:v>2.2</c:v>
                </c:pt>
                <c:pt idx="114">
                  <c:v>2.24</c:v>
                </c:pt>
                <c:pt idx="115">
                  <c:v>2.46</c:v>
                </c:pt>
                <c:pt idx="116">
                  <c:v>2.53</c:v>
                </c:pt>
                <c:pt idx="117">
                  <c:v>2.67</c:v>
                </c:pt>
                <c:pt idx="118">
                  <c:v>3.02</c:v>
                </c:pt>
                <c:pt idx="119">
                  <c:v>3.23</c:v>
                </c:pt>
                <c:pt idx="120">
                  <c:v>3.38</c:v>
                </c:pt>
                <c:pt idx="121">
                  <c:v>2.91</c:v>
                </c:pt>
                <c:pt idx="122">
                  <c:v>2.69</c:v>
                </c:pt>
                <c:pt idx="123">
                  <c:v>2.5</c:v>
                </c:pt>
                <c:pt idx="124">
                  <c:v>2.22</c:v>
                </c:pt>
                <c:pt idx="125">
                  <c:v>2.23</c:v>
                </c:pt>
                <c:pt idx="126">
                  <c:v>2.09</c:v>
                </c:pt>
                <c:pt idx="127">
                  <c:v>1.9</c:v>
                </c:pt>
                <c:pt idx="128">
                  <c:v>1.71</c:v>
                </c:pt>
                <c:pt idx="129">
                  <c:v>1.86</c:v>
                </c:pt>
                <c:pt idx="130">
                  <c:v>1.89</c:v>
                </c:pt>
                <c:pt idx="131">
                  <c:v>2.1</c:v>
                </c:pt>
                <c:pt idx="132">
                  <c:v>2.32</c:v>
                </c:pt>
                <c:pt idx="133">
                  <c:v>2.26</c:v>
                </c:pt>
                <c:pt idx="134">
                  <c:v>2.23</c:v>
                </c:pt>
                <c:pt idx="135">
                  <c:v>2.12</c:v>
                </c:pt>
                <c:pt idx="136">
                  <c:v>2.54</c:v>
                </c:pt>
                <c:pt idx="137">
                  <c:v>3.22</c:v>
                </c:pt>
                <c:pt idx="138">
                  <c:v>2.67</c:v>
                </c:pt>
                <c:pt idx="139">
                  <c:v>2.43</c:v>
                </c:pt>
                <c:pt idx="140">
                  <c:v>2.15</c:v>
                </c:pt>
                <c:pt idx="141">
                  <c:v>1.96</c:v>
                </c:pt>
                <c:pt idx="142">
                  <c:v>1.91</c:v>
                </c:pt>
                <c:pt idx="143">
                  <c:v>1.78</c:v>
                </c:pt>
                <c:pt idx="144">
                  <c:v>2.01</c:v>
                </c:pt>
                <c:pt idx="145">
                  <c:v>2.09</c:v>
                </c:pt>
                <c:pt idx="146">
                  <c:v>2.25</c:v>
                </c:pt>
                <c:pt idx="147">
                  <c:v>2.14</c:v>
                </c:pt>
                <c:pt idx="148">
                  <c:v>1.96</c:v>
                </c:pt>
                <c:pt idx="149">
                  <c:v>2.09</c:v>
                </c:pt>
                <c:pt idx="150">
                  <c:v>1.82</c:v>
                </c:pt>
                <c:pt idx="151">
                  <c:v>1.75</c:v>
                </c:pt>
                <c:pt idx="152">
                  <c:v>1.57</c:v>
                </c:pt>
                <c:pt idx="153">
                  <c:v>1.48</c:v>
                </c:pt>
                <c:pt idx="154">
                  <c:v>1.67</c:v>
                </c:pt>
                <c:pt idx="155">
                  <c:v>1.46</c:v>
                </c:pt>
                <c:pt idx="156">
                  <c:v>1.52</c:v>
                </c:pt>
                <c:pt idx="157">
                  <c:v>1.85</c:v>
                </c:pt>
                <c:pt idx="158">
                  <c:v>1.72</c:v>
                </c:pt>
                <c:pt idx="159">
                  <c:v>1.73</c:v>
                </c:pt>
                <c:pt idx="160">
                  <c:v>1.72</c:v>
                </c:pt>
                <c:pt idx="161">
                  <c:v>1.62</c:v>
                </c:pt>
                <c:pt idx="162">
                  <c:v>1.59</c:v>
                </c:pt>
              </c:numCache>
            </c:numRef>
          </c:val>
          <c:smooth val="0"/>
        </c:ser>
        <c:ser>
          <c:idx val="1"/>
          <c:order val="1"/>
          <c:tx>
            <c:strRef>
              <c:f>Sheet1!$C$1</c:f>
              <c:strCache>
                <c:ptCount val="1"/>
                <c:pt idx="0">
                  <c:v>Haut rendement (US)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Sheet1!$C$2:$C$164</c:f>
              <c:numCache>
                <c:formatCode>General</c:formatCode>
                <c:ptCount val="16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6.35</c:v>
                </c:pt>
                <c:pt idx="97">
                  <c:v>6.38</c:v>
                </c:pt>
                <c:pt idx="98">
                  <c:v>6.65</c:v>
                </c:pt>
                <c:pt idx="99">
                  <c:v>5.81</c:v>
                </c:pt>
                <c:pt idx="100">
                  <c:v>4.88</c:v>
                </c:pt>
                <c:pt idx="101">
                  <c:v>5</c:v>
                </c:pt>
                <c:pt idx="102">
                  <c:v>6.7</c:v>
                </c:pt>
                <c:pt idx="103">
                  <c:v>7.67</c:v>
                </c:pt>
                <c:pt idx="104">
                  <c:v>6.34</c:v>
                </c:pt>
                <c:pt idx="105">
                  <c:v>6.41</c:v>
                </c:pt>
                <c:pt idx="106">
                  <c:v>5.97</c:v>
                </c:pt>
                <c:pt idx="107">
                  <c:v>5.52</c:v>
                </c:pt>
                <c:pt idx="108">
                  <c:v>4.9</c:v>
                </c:pt>
                <c:pt idx="109">
                  <c:v>4.72</c:v>
                </c:pt>
                <c:pt idx="110">
                  <c:v>4.74</c:v>
                </c:pt>
                <c:pt idx="111">
                  <c:v>4.33</c:v>
                </c:pt>
                <c:pt idx="112">
                  <c:v>3.93</c:v>
                </c:pt>
                <c:pt idx="113">
                  <c:v>3.65</c:v>
                </c:pt>
                <c:pt idx="114">
                  <c:v>3.89</c:v>
                </c:pt>
                <c:pt idx="115">
                  <c:v>4.68</c:v>
                </c:pt>
                <c:pt idx="116">
                  <c:v>4.89</c:v>
                </c:pt>
                <c:pt idx="117">
                  <c:v>4.6</c:v>
                </c:pt>
                <c:pt idx="118">
                  <c:v>5.54</c:v>
                </c:pt>
                <c:pt idx="119">
                  <c:v>6.4</c:v>
                </c:pt>
                <c:pt idx="120">
                  <c:v>7.6</c:v>
                </c:pt>
                <c:pt idx="121">
                  <c:v>6.33</c:v>
                </c:pt>
                <c:pt idx="122">
                  <c:v>5.36</c:v>
                </c:pt>
                <c:pt idx="123">
                  <c:v>4.63</c:v>
                </c:pt>
                <c:pt idx="124">
                  <c:v>3.92</c:v>
                </c:pt>
                <c:pt idx="125">
                  <c:v>3.8</c:v>
                </c:pt>
                <c:pt idx="126">
                  <c:v>3.75</c:v>
                </c:pt>
                <c:pt idx="127">
                  <c:v>3.59</c:v>
                </c:pt>
                <c:pt idx="128">
                  <c:v>3.51</c:v>
                </c:pt>
                <c:pt idx="129">
                  <c:v>3.46</c:v>
                </c:pt>
                <c:pt idx="130">
                  <c:v>3.46</c:v>
                </c:pt>
                <c:pt idx="131">
                  <c:v>4.07</c:v>
                </c:pt>
                <c:pt idx="132">
                  <c:v>4.24</c:v>
                </c:pt>
                <c:pt idx="133">
                  <c:v>4.02</c:v>
                </c:pt>
                <c:pt idx="134">
                  <c:v>4.08</c:v>
                </c:pt>
                <c:pt idx="135">
                  <c:v>3.96</c:v>
                </c:pt>
                <c:pt idx="136">
                  <c:v>5.14</c:v>
                </c:pt>
                <c:pt idx="137">
                  <c:v>7.15</c:v>
                </c:pt>
                <c:pt idx="138">
                  <c:v>5.37</c:v>
                </c:pt>
                <c:pt idx="139">
                  <c:v>4.55</c:v>
                </c:pt>
                <c:pt idx="140">
                  <c:v>3.62</c:v>
                </c:pt>
                <c:pt idx="141">
                  <c:v>3.26</c:v>
                </c:pt>
                <c:pt idx="142">
                  <c:v>3.2</c:v>
                </c:pt>
                <c:pt idx="143">
                  <c:v>3.21</c:v>
                </c:pt>
                <c:pt idx="144">
                  <c:v>3.56</c:v>
                </c:pt>
                <c:pt idx="145">
                  <c:v>4.35</c:v>
                </c:pt>
                <c:pt idx="146">
                  <c:v>4.93</c:v>
                </c:pt>
                <c:pt idx="147">
                  <c:v>4.75</c:v>
                </c:pt>
                <c:pt idx="148">
                  <c:v>4.42</c:v>
                </c:pt>
                <c:pt idx="149">
                  <c:v>4.52</c:v>
                </c:pt>
                <c:pt idx="150">
                  <c:v>3.91</c:v>
                </c:pt>
                <c:pt idx="151">
                  <c:v>3.98</c:v>
                </c:pt>
                <c:pt idx="152">
                  <c:v>3.37</c:v>
                </c:pt>
                <c:pt idx="153">
                  <c:v>3.18</c:v>
                </c:pt>
                <c:pt idx="154">
                  <c:v>3.26</c:v>
                </c:pt>
                <c:pt idx="155">
                  <c:v>2.8</c:v>
                </c:pt>
                <c:pt idx="156">
                  <c:v>2.87</c:v>
                </c:pt>
                <c:pt idx="157">
                  <c:v>3.5</c:v>
                </c:pt>
                <c:pt idx="158">
                  <c:v>2.86</c:v>
                </c:pt>
                <c:pt idx="159">
                  <c:v>2.96</c:v>
                </c:pt>
                <c:pt idx="160">
                  <c:v>2.95</c:v>
                </c:pt>
                <c:pt idx="161">
                  <c:v>2.81</c:v>
                </c:pt>
                <c:pt idx="162">
                  <c:v>2.72</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zone</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Sheet1!$B$2:$B$10</c:f>
              <c:numCache>
                <c:formatCode>General</c:formatCode>
                <c:ptCount val="9"/>
                <c:pt idx="0">
                  <c:v>0</c:v>
                </c:pt>
                <c:pt idx="1">
                  <c:v>0</c:v>
                </c:pt>
                <c:pt idx="2">
                  <c:v>18.4</c:v>
                </c:pt>
                <c:pt idx="3">
                  <c:v>18.6</c:v>
                </c:pt>
                <c:pt idx="4">
                  <c:v>19.3</c:v>
                </c:pt>
                <c:pt idx="5">
                  <c:v>19.4</c:v>
                </c:pt>
                <c:pt idx="6">
                  <c:v>26.7</c:v>
                </c:pt>
                <c:pt idx="7">
                  <c:v>32.2</c:v>
                </c:pt>
                <c:pt idx="8">
                  <c:v>32.8</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Sheet1!$C$2:$C$10</c:f>
              <c:numCache>
                <c:formatCode>General</c:formatCode>
                <c:ptCount val="9"/>
                <c:pt idx="0">
                  <c:v>-14.5</c:v>
                </c:pt>
                <c:pt idx="1">
                  <c:v>-9.8</c:v>
                </c:pt>
                <c:pt idx="2">
                  <c:v>0</c:v>
                </c:pt>
                <c:pt idx="3">
                  <c:v>0</c:v>
                </c:pt>
                <c:pt idx="4">
                  <c:v>0</c:v>
                </c:pt>
                <c:pt idx="5">
                  <c:v>0</c:v>
                </c:pt>
                <c:pt idx="6">
                  <c:v>0</c:v>
                </c:pt>
                <c:pt idx="7">
                  <c:v>0</c:v>
                </c:pt>
                <c:pt idx="8">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secteur, et l'or</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Sheet1!$B$2:$B$12</c:f>
              <c:numCache>
                <c:formatCode>General</c:formatCode>
                <c:ptCount val="11"/>
                <c:pt idx="0">
                  <c:v>0</c:v>
                </c:pt>
                <c:pt idx="1">
                  <c:v>6.7</c:v>
                </c:pt>
                <c:pt idx="2">
                  <c:v>8</c:v>
                </c:pt>
                <c:pt idx="3">
                  <c:v>11</c:v>
                </c:pt>
                <c:pt idx="4">
                  <c:v>15.6</c:v>
                </c:pt>
                <c:pt idx="5">
                  <c:v>17.9</c:v>
                </c:pt>
                <c:pt idx="6">
                  <c:v>20.7</c:v>
                </c:pt>
                <c:pt idx="7">
                  <c:v>23.8</c:v>
                </c:pt>
                <c:pt idx="8">
                  <c:v>26.6</c:v>
                </c:pt>
                <c:pt idx="9">
                  <c:v>32.9</c:v>
                </c:pt>
                <c:pt idx="10">
                  <c:v>48.3</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Sheet1!$C$2:$C$12</c:f>
              <c:numCache>
                <c:formatCode>General</c:formatCode>
                <c:ptCount val="11"/>
                <c:pt idx="0">
                  <c:v>-3.7</c:v>
                </c:pt>
                <c:pt idx="1">
                  <c:v>0</c:v>
                </c:pt>
                <c:pt idx="2">
                  <c:v>0</c:v>
                </c:pt>
                <c:pt idx="3">
                  <c:v>0</c:v>
                </c:pt>
                <c:pt idx="4">
                  <c:v>0</c:v>
                </c:pt>
                <c:pt idx="5">
                  <c:v>0</c:v>
                </c:pt>
                <c:pt idx="6">
                  <c:v>0</c:v>
                </c:pt>
                <c:pt idx="7">
                  <c:v>0</c:v>
                </c:pt>
                <c:pt idx="8">
                  <c:v>0</c:v>
                </c:pt>
                <c:pt idx="9">
                  <c:v>0</c:v>
                </c:pt>
                <c:pt idx="10">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Sheet1!$B$2:$B$11</c:f>
              <c:numCache>
                <c:formatCode>General</c:formatCode>
                <c:ptCount val="10"/>
                <c:pt idx="0">
                  <c:v>2.44</c:v>
                </c:pt>
                <c:pt idx="1">
                  <c:v>3.77</c:v>
                </c:pt>
                <c:pt idx="2">
                  <c:v>0</c:v>
                </c:pt>
                <c:pt idx="3">
                  <c:v>4</c:v>
                </c:pt>
                <c:pt idx="4">
                  <c:v>0</c:v>
                </c:pt>
                <c:pt idx="5">
                  <c:v>0</c:v>
                </c:pt>
                <c:pt idx="6">
                  <c:v>0</c:v>
                </c:pt>
                <c:pt idx="7">
                  <c:v>0</c:v>
                </c:pt>
                <c:pt idx="8">
                  <c:v>0</c:v>
                </c:pt>
                <c:pt idx="9">
                  <c:v>0</c:v>
                </c:pt>
              </c:numCache>
            </c:numRef>
          </c:val>
        </c:ser>
        <c:ser>
          <c:idx val="1"/>
          <c:order val="1"/>
          <c:tx>
            <c:strRef>
              <c:f>Sheet1!$C$1</c:f>
              <c:strCache>
                <c:ptCount val="1"/>
                <c:pt idx="0">
                  <c:v>Au-dessus de 4 %</c:v>
                </c:pt>
              </c:strCache>
            </c:strRef>
          </c:tx>
          <c:spPr>
            <a:solidFill>
              <a:srgbClr val="2A78D6"/>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Sheet1!$C$2:$C$11</c:f>
              <c:numCache>
                <c:formatCode>General</c:formatCode>
                <c:ptCount val="10"/>
                <c:pt idx="0">
                  <c:v>0</c:v>
                </c:pt>
                <c:pt idx="1">
                  <c:v>0</c:v>
                </c:pt>
                <c:pt idx="2">
                  <c:v>4.04</c:v>
                </c:pt>
                <c:pt idx="3">
                  <c:v>0</c:v>
                </c:pt>
                <c:pt idx="4">
                  <c:v>5.43</c:v>
                </c:pt>
                <c:pt idx="5">
                  <c:v>7.19</c:v>
                </c:pt>
                <c:pt idx="6">
                  <c:v>8.4</c:v>
                </c:pt>
                <c:pt idx="7">
                  <c:v>8.88</c:v>
                </c:pt>
                <c:pt idx="8">
                  <c:v>9.23</c:v>
                </c:pt>
                <c:pt idx="9">
                  <c:v>9.44</c:v>
                </c:pt>
              </c:numCache>
            </c:numRef>
          </c:val>
        </c:ser>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défauts déduits</a:t>
            </a:r>
          </a:p>
        </c:rich>
      </c:tx>
      <c:layout/>
      <c:overlay val="0"/>
    </c:title>
    <c:autoTitleDeleted val="0"/>
    <c:plotArea>
      <c:layout/>
      <c:barChart>
        <c:barDir val="bar"/>
        <c:grouping val="clustered"/>
        <c:varyColors val="0"/>
        <c:ser>
          <c:idx val="0"/>
          <c:order val="0"/>
          <c:tx>
            <c:strRef>
              <c:f>Sheet1!$B$1</c:f>
              <c:strCache>
                <c:ptCount val="1"/>
                <c:pt idx="0">
                  <c:v>Rendement</c:v>
                </c:pt>
              </c:strCache>
            </c:strRef>
          </c:tx>
          <c:spPr>
            <a:solidFill>
              <a:srgbClr val="EB6834"/>
            </a:solidFill>
            <a:effectLst/>
          </c:spPr>
          <c:invertIfNegative val="0"/>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Haut rendement euro</c:v>
                  </c:pt>
                  <c:pt idx="1">
                    <c:v>Crédit court retenu</c:v>
                  </c:pt>
                  <c:pt idx="2">
                    <c:v>États zone euro 2-10 ans</c:v>
                  </c:pt>
                  <c:pt idx="3">
                    <c:v>Crédit, indice toutes durées</c:v>
                  </c:pt>
                </c:lvl>
              </c:multiLvlStrCache>
            </c:multiLvlStrRef>
          </c:cat>
          <c:val>
            <c:numRef>
              <c:f>Sheet1!$B$2:$B$5</c:f>
              <c:numCache>
                <c:formatCode>General</c:formatCode>
                <c:ptCount val="4"/>
                <c:pt idx="0">
                  <c:v>2.88</c:v>
                </c:pt>
                <c:pt idx="1">
                  <c:v>3.39</c:v>
                </c:pt>
                <c:pt idx="2">
                  <c:v>3.630078579050997</c:v>
                </c:pt>
                <c:pt idx="3">
                  <c:v>4.04</c:v>
                </c:pt>
              </c:numCache>
            </c:numRef>
          </c:val>
        </c:ser>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par an</a:t>
            </a:r>
          </a:p>
        </c:rich>
      </c:tx>
      <c:layout/>
      <c:overlay val="0"/>
    </c:title>
    <c:autoTitleDeleted val="0"/>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Sheet1!$B$2:$B$11</c:f>
              <c:numCache>
                <c:formatCode>General</c:formatCode>
                <c:ptCount val="10"/>
                <c:pt idx="0">
                  <c:v>3.0284447262321175</c:v>
                </c:pt>
                <c:pt idx="1">
                  <c:v>3.39</c:v>
                </c:pt>
                <c:pt idx="2">
                  <c:v>3.630078579050997</c:v>
                </c:pt>
                <c:pt idx="3">
                  <c:v>4</c:v>
                </c:pt>
                <c:pt idx="4">
                  <c:v>4</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2A78D6"/>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Sheet1!$C$2:$C$11</c:f>
              <c:numCache>
                <c:formatCode>General</c:formatCode>
                <c:ptCount val="10"/>
                <c:pt idx="0">
                  <c:v>0</c:v>
                </c:pt>
                <c:pt idx="1">
                  <c:v>0</c:v>
                </c:pt>
                <c:pt idx="2">
                  <c:v>0</c:v>
                </c:pt>
                <c:pt idx="3">
                  <c:v>0</c:v>
                </c:pt>
                <c:pt idx="4">
                  <c:v>0</c:v>
                </c:pt>
                <c:pt idx="5">
                  <c:v>5.43</c:v>
                </c:pt>
                <c:pt idx="6">
                  <c:v>7.19</c:v>
                </c:pt>
                <c:pt idx="7">
                  <c:v>8.4</c:v>
                </c:pt>
                <c:pt idx="8">
                  <c:v>9.23</c:v>
                </c:pt>
                <c:pt idx="9">
                  <c:v>9.44</c:v>
                </c:pt>
              </c:numCache>
            </c:numRef>
          </c:val>
        </c:ser>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Le portefeuille du calcul libre</a:t>
            </a:r>
          </a:p>
        </c:rich>
      </c:tx>
      <c:layout/>
      <c:overlay val="0"/>
    </c:title>
    <c:autoTitleDeleted val="0"/>
    <c:plotArea>
      <c:layout/>
      <c:barChart>
        <c:barDir val="bar"/>
        <c:grouping val="clustered"/>
        <c:varyColors val="0"/>
        <c:ser>
          <c:idx val="0"/>
          <c:order val="0"/>
          <c:tx>
            <c:strRef>
              <c:f>Sheet1!$B$1</c:f>
              <c:strCache>
                <c:ptCount val="1"/>
                <c:pt idx="0">
                  <c:v>Poids</c:v>
                </c:pt>
              </c:strCache>
            </c:strRef>
          </c:tx>
          <c:spPr>
            <a:solidFill>
              <a:srgbClr val="2A78D6"/>
            </a:solidFill>
            <a:effectLst/>
          </c:spPr>
          <c:invertIfNegative val="0"/>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Échelle AAA</c:v>
                  </c:pt>
                  <c:pt idx="1">
                    <c:v>Crédit court</c:v>
                  </c:pt>
                  <c:pt idx="2">
                    <c:v>États 2-10 ans</c:v>
                  </c:pt>
                  <c:pt idx="3">
                    <c:v>Actions Japon</c:v>
                  </c:pt>
                  <c:pt idx="4">
                    <c:v>Obligations indexées</c:v>
                  </c:pt>
                </c:lvl>
              </c:multiLvlStrCache>
            </c:multiLvlStrRef>
          </c:cat>
          <c:val>
            <c:numRef>
              <c:f>Sheet1!$B$2:$B$6</c:f>
              <c:numCache>
                <c:formatCode>General</c:formatCode>
                <c:ptCount val="5"/>
                <c:pt idx="0">
                  <c:v>1.24</c:v>
                </c:pt>
                <c:pt idx="1">
                  <c:v>2.21</c:v>
                </c:pt>
                <c:pt idx="2">
                  <c:v>9.370000000000001</c:v>
                </c:pt>
                <c:pt idx="3">
                  <c:v>32.04</c:v>
                </c:pt>
                <c:pt idx="4">
                  <c:v>55.14</c:v>
                </c:pt>
              </c:numCache>
            </c:numRef>
          </c:val>
        </c:ser>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La répartition, règle après règle</a:t>
            </a:r>
          </a:p>
        </c:rich>
      </c:tx>
      <c:layout/>
      <c:overlay val="0"/>
    </c:title>
    <c:autoTitleDeleted val="0"/>
    <c:plotArea>
      <c:layout/>
      <c:barChart>
        <c:barDir val="bar"/>
        <c:grouping val="percentStacked"/>
        <c:varyColors val="0"/>
        <c:ser>
          <c:idx val="0"/>
          <c:order val="0"/>
          <c:tx>
            <c:strRef>
              <c:f>Sheet1!$B$1</c:f>
              <c:strCache>
                <c:ptCount val="1"/>
                <c:pt idx="0">
                  <c:v>Actions</c:v>
                </c:pt>
              </c:strCache>
            </c:strRef>
          </c:tx>
          <c:spPr>
            <a:solidFill>
              <a:srgbClr val="2A78D6"/>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Sheet1!$B$2:$B$6</c:f>
              <c:numCache>
                <c:formatCode>General</c:formatCode>
                <c:ptCount val="5"/>
                <c:pt idx="0">
                  <c:v>32.04</c:v>
                </c:pt>
                <c:pt idx="1">
                  <c:v>31.840000000000003</c:v>
                </c:pt>
                <c:pt idx="2">
                  <c:v>19.77</c:v>
                </c:pt>
                <c:pt idx="3">
                  <c:v>32.190000000000005</c:v>
                </c:pt>
                <c:pt idx="4">
                  <c:v>30.409999999999997</c:v>
                </c:pt>
              </c:numCache>
            </c:numRef>
          </c:val>
        </c:ser>
        <c:ser>
          <c:idx val="1"/>
          <c:order val="1"/>
          <c:tx>
            <c:strRef>
              <c:f>Sheet1!$C$1</c:f>
              <c:strCache>
                <c:ptCount val="1"/>
                <c:pt idx="0">
                  <c:v>Emprunts d'État</c:v>
                </c:pt>
              </c:strCache>
            </c:strRef>
          </c:tx>
          <c:spPr>
            <a:solidFill>
              <a:srgbClr val="EB6834"/>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Sheet1!$C$2:$C$6</c:f>
              <c:numCache>
                <c:formatCode>General</c:formatCode>
                <c:ptCount val="5"/>
                <c:pt idx="0">
                  <c:v>10.61</c:v>
                </c:pt>
                <c:pt idx="1">
                  <c:v>10.07</c:v>
                </c:pt>
                <c:pt idx="2">
                  <c:v>10</c:v>
                </c:pt>
                <c:pt idx="3">
                  <c:v>47.36</c:v>
                </c:pt>
                <c:pt idx="4">
                  <c:v>51.29</c:v>
                </c:pt>
              </c:numCache>
            </c:numRef>
          </c:val>
        </c:ser>
        <c:ser>
          <c:idx val="2"/>
          <c:order val="2"/>
          <c:tx>
            <c:strRef>
              <c:f>Sheet1!$D$1</c:f>
              <c:strCache>
                <c:ptCount val="1"/>
                <c:pt idx="0">
                  <c:v>Indexées</c:v>
                </c:pt>
              </c:strCache>
            </c:strRef>
          </c:tx>
          <c:spPr>
            <a:solidFill>
              <a:srgbClr val="1BAF7A"/>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Sheet1!$D$2:$D$6</c:f>
              <c:numCache>
                <c:formatCode>General</c:formatCode>
                <c:ptCount val="5"/>
                <c:pt idx="0">
                  <c:v>55.14</c:v>
                </c:pt>
                <c:pt idx="1">
                  <c:v>58.089999999999996</c:v>
                </c:pt>
                <c:pt idx="2">
                  <c:v>70.23</c:v>
                </c:pt>
                <c:pt idx="3">
                  <c:v>15</c:v>
                </c:pt>
                <c:pt idx="4">
                  <c:v>15</c:v>
                </c:pt>
              </c:numCache>
            </c:numRef>
          </c:val>
        </c:ser>
        <c:ser>
          <c:idx val="3"/>
          <c:order val="3"/>
          <c:tx>
            <c:strRef>
              <c:f>Sheet1!$E$1</c:f>
              <c:strCache>
                <c:ptCount val="1"/>
                <c:pt idx="0">
                  <c:v>Or et autres</c:v>
                </c:pt>
              </c:strCache>
            </c:strRef>
          </c:tx>
          <c:spPr>
            <a:solidFill>
              <a:srgbClr val="EDA100"/>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Sheet1!$E$2:$E$6</c:f>
              <c:numCache>
                <c:formatCode>General</c:formatCode>
                <c:ptCount val="5"/>
                <c:pt idx="0">
                  <c:v>2.21</c:v>
                </c:pt>
                <c:pt idx="1">
                  <c:v>0</c:v>
                </c:pt>
                <c:pt idx="2">
                  <c:v>0</c:v>
                </c:pt>
                <c:pt idx="3">
                  <c:v>5.4399999999999995</c:v>
                </c:pt>
                <c:pt idx="4">
                  <c:v>3.3000000000000003</c:v>
                </c:pt>
              </c:numCache>
            </c:numRef>
          </c:val>
        </c:ser>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Familles</c:v>
                </c:pt>
              </c:strCache>
            </c:strRef>
          </c:tx>
          <c:spPr>
            <a:solidFill>
              <a:schemeClr val="accent1"/>
            </a:solidFill>
            <a:ln w="9525" cap="flat">
              <a:solidFill>
                <a:srgbClr val="F9F9F9"/>
              </a:solidFill>
              <a:prstDash val="solid"/>
              <a:round/>
            </a:ln>
            <a:effectLst/>
          </c:spPr>
          <c:dPt>
            <c:idx val="0"/>
            <c:bubble3D val="0"/>
            <c:spPr>
              <a:solidFill>
                <a:srgbClr val="2A78D6"/>
              </a:solidFill>
              <a:ln w="25400" cap="flat">
                <a:solidFill>
                  <a:srgbClr val="FFFFFF"/>
                </a:solidFill>
                <a:prstDash val="solid"/>
                <a:round/>
              </a:ln>
              <a:effectLst/>
            </c:spPr>
          </c:dPt>
          <c:dPt>
            <c:idx val="1"/>
            <c:bubble3D val="0"/>
            <c:spPr>
              <a:solidFill>
                <a:srgbClr val="EB6834"/>
              </a:solidFill>
              <a:ln w="25400" cap="flat">
                <a:solidFill>
                  <a:srgbClr val="FFFFFF"/>
                </a:solidFill>
                <a:prstDash val="solid"/>
                <a:round/>
              </a:ln>
              <a:effectLst/>
            </c:spPr>
          </c:dPt>
          <c:dPt>
            <c:idx val="2"/>
            <c:bubble3D val="0"/>
            <c:spPr>
              <a:solidFill>
                <a:srgbClr val="1BAF7A"/>
              </a:solidFill>
              <a:ln w="25400" cap="flat">
                <a:solidFill>
                  <a:srgbClr val="FFFFFF"/>
                </a:solidFill>
                <a:prstDash val="solid"/>
                <a:round/>
              </a:ln>
              <a:effectLst/>
            </c:spPr>
          </c:dPt>
          <c:dPt>
            <c:idx val="3"/>
            <c:bubble3D val="0"/>
            <c:spPr>
              <a:solidFill>
                <a:srgbClr val="EDA100"/>
              </a:solidFill>
              <a:ln w="25400" cap="flat">
                <a:solidFill>
                  <a:srgbClr val="FFFFFF"/>
                </a:solidFill>
                <a:prstDash val="solid"/>
                <a:round/>
              </a:ln>
              <a:effectLst/>
            </c:spPr>
          </c:dPt>
          <c:dLbls>
            <c:dLbl>
              <c:idx val="0"/>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Actions</c:v>
                </c:pt>
                <c:pt idx="1">
                  <c:v>Emprunts d'État</c:v>
                </c:pt>
                <c:pt idx="2">
                  <c:v>Obligations indexées</c:v>
                </c:pt>
                <c:pt idx="3">
                  <c:v>Or</c:v>
                </c:pt>
              </c:strCache>
            </c:strRef>
          </c:cat>
          <c:val>
            <c:numRef>
              <c:f>Sheet1!$B$2:$B$5</c:f>
              <c:numCache>
                <c:ptCount val="4"/>
                <c:pt idx="0">
                  <c:v>30.409999999999997</c:v>
                </c:pt>
                <c:pt idx="1">
                  <c:v>51.29</c:v>
                </c:pt>
                <c:pt idx="2">
                  <c:v>15</c:v>
                </c:pt>
                <c:pt idx="3">
                  <c:v>3.3000000000000003</c:v>
                </c:pt>
              </c:numCache>
            </c:numRef>
          </c:val>
        </c:ser>
        <c:firstSliceAng val="0"/>
        <c:holeSize val="55"/>
      </c:doughnutChart>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Valeur du portefeuille, en M€</a:t>
            </a:r>
          </a:p>
        </c:rich>
      </c:tx>
      <c:layout/>
      <c:overlay val="0"/>
    </c:title>
    <c:autoTitleDeleted val="0"/>
    <c:plotArea>
      <c:layout/>
      <c:lineChart>
        <c:varyColors val="0"/>
        <c:ser>
          <c:idx val="0"/>
          <c:order val="0"/>
          <c:tx>
            <c:strRef>
              <c:f>Sheet1!$B$1</c:f>
              <c:strCache>
                <c:ptCount val="1"/>
                <c:pt idx="0">
                  <c:v>Valeur (M€)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99.9</c:v>
                </c:pt>
                <c:pt idx="1">
                  <c:v>100.21</c:v>
                </c:pt>
                <c:pt idx="2">
                  <c:v>100.53</c:v>
                </c:pt>
                <c:pt idx="3">
                  <c:v>101.3</c:v>
                </c:pt>
                <c:pt idx="4">
                  <c:v>101.15</c:v>
                </c:pt>
                <c:pt idx="5">
                  <c:v>101.39</c:v>
                </c:pt>
                <c:pt idx="6">
                  <c:v>101.83</c:v>
                </c:pt>
                <c:pt idx="7">
                  <c:v>102.6</c:v>
                </c:pt>
                <c:pt idx="8">
                  <c:v>102.09</c:v>
                </c:pt>
                <c:pt idx="9">
                  <c:v>101.84</c:v>
                </c:pt>
                <c:pt idx="10">
                  <c:v>102.73</c:v>
                </c:pt>
                <c:pt idx="11">
                  <c:v>103.29</c:v>
                </c:pt>
                <c:pt idx="12">
                  <c:v>104.83</c:v>
                </c:pt>
                <c:pt idx="13">
                  <c:v>103.6</c:v>
                </c:pt>
                <c:pt idx="14">
                  <c:v>103.1</c:v>
                </c:pt>
                <c:pt idx="15">
                  <c:v>102.31</c:v>
                </c:pt>
                <c:pt idx="16">
                  <c:v>101.92</c:v>
                </c:pt>
                <c:pt idx="17">
                  <c:v>99.99</c:v>
                </c:pt>
                <c:pt idx="18">
                  <c:v>101.3</c:v>
                </c:pt>
                <c:pt idx="19">
                  <c:v>101.17</c:v>
                </c:pt>
                <c:pt idx="20">
                  <c:v>97.5</c:v>
                </c:pt>
                <c:pt idx="21">
                  <c:v>98.1</c:v>
                </c:pt>
                <c:pt idx="22">
                  <c:v>99.5</c:v>
                </c:pt>
                <c:pt idx="23">
                  <c:v>98.12</c:v>
                </c:pt>
                <c:pt idx="24">
                  <c:v>95.58</c:v>
                </c:pt>
                <c:pt idx="25">
                  <c:v>95.38</c:v>
                </c:pt>
                <c:pt idx="26">
                  <c:v>95</c:v>
                </c:pt>
                <c:pt idx="27">
                  <c:v>94.27</c:v>
                </c:pt>
                <c:pt idx="28">
                  <c:v>92.2</c:v>
                </c:pt>
                <c:pt idx="29">
                  <c:v>93.8</c:v>
                </c:pt>
                <c:pt idx="30">
                  <c:v>97.55</c:v>
                </c:pt>
                <c:pt idx="31">
                  <c:v>98.63</c:v>
                </c:pt>
                <c:pt idx="32">
                  <c:v>99.04</c:v>
                </c:pt>
                <c:pt idx="33">
                  <c:v>102.27</c:v>
                </c:pt>
                <c:pt idx="34">
                  <c:v>103.59</c:v>
                </c:pt>
                <c:pt idx="35">
                  <c:v>104.91</c:v>
                </c:pt>
                <c:pt idx="36">
                  <c:v>103.96</c:v>
                </c:pt>
                <c:pt idx="37">
                  <c:v>105.77</c:v>
                </c:pt>
                <c:pt idx="38">
                  <c:v>107.66</c:v>
                </c:pt>
                <c:pt idx="39">
                  <c:v>107.21</c:v>
                </c:pt>
                <c:pt idx="40">
                  <c:v>108.95</c:v>
                </c:pt>
                <c:pt idx="41">
                  <c:v>112.08</c:v>
                </c:pt>
                <c:pt idx="42">
                  <c:v>112.85</c:v>
                </c:pt>
                <c:pt idx="43">
                  <c:v>112.99</c:v>
                </c:pt>
                <c:pt idx="44">
                  <c:v>111.72</c:v>
                </c:pt>
                <c:pt idx="45">
                  <c:v>113.11</c:v>
                </c:pt>
                <c:pt idx="46">
                  <c:v>114.22</c:v>
                </c:pt>
                <c:pt idx="47">
                  <c:v>114.42</c:v>
                </c:pt>
                <c:pt idx="48">
                  <c:v>115.45</c:v>
                </c:pt>
                <c:pt idx="49">
                  <c:v>114.56</c:v>
                </c:pt>
                <c:pt idx="50">
                  <c:v>116.85</c:v>
                </c:pt>
                <c:pt idx="51">
                  <c:v>116.22</c:v>
                </c:pt>
                <c:pt idx="52">
                  <c:v>117.34</c:v>
                </c:pt>
                <c:pt idx="53">
                  <c:v>115.93</c:v>
                </c:pt>
                <c:pt idx="54">
                  <c:v>116.15</c:v>
                </c:pt>
                <c:pt idx="55">
                  <c:v>117.63</c:v>
                </c:pt>
                <c:pt idx="56">
                  <c:v>116.57</c:v>
                </c:pt>
                <c:pt idx="57">
                  <c:v>116.1</c:v>
                </c:pt>
                <c:pt idx="58">
                  <c:v>115.1</c:v>
                </c:pt>
                <c:pt idx="59">
                  <c:v>113.25</c:v>
                </c:pt>
                <c:pt idx="60">
                  <c:v>114.65</c:v>
                </c:pt>
                <c:pt idx="61">
                  <c:v>114.17</c:v>
                </c:pt>
                <c:pt idx="62">
                  <c:v>117.39</c:v>
                </c:pt>
                <c:pt idx="63">
                  <c:v>120.89</c:v>
                </c:pt>
                <c:pt idx="64">
                  <c:v>123.29</c:v>
                </c:pt>
                <c:pt idx="65">
                  <c:v>123.96</c:v>
                </c:pt>
                <c:pt idx="66">
                  <c:v>123.32</c:v>
                </c:pt>
                <c:pt idx="67">
                  <c:v>122.43</c:v>
                </c:pt>
                <c:pt idx="68">
                  <c:v>124.13</c:v>
                </c:pt>
                <c:pt idx="69">
                  <c:v>126.37</c:v>
                </c:pt>
                <c:pt idx="70">
                  <c:v>127.31</c:v>
                </c:pt>
                <c:pt idx="71">
                  <c:v>128.09</c:v>
                </c:pt>
                <c:pt idx="72">
                  <c:v>128.38</c:v>
                </c:pt>
                <c:pt idx="73">
                  <c:v>129.88</c:v>
                </c:pt>
                <c:pt idx="74">
                  <c:v>130.76</c:v>
                </c:pt>
                <c:pt idx="75">
                  <c:v>130.51</c:v>
                </c:pt>
                <c:pt idx="76">
                  <c:v>131.56</c:v>
                </c:pt>
                <c:pt idx="77">
                  <c:v>133.81</c:v>
                </c:pt>
                <c:pt idx="78">
                  <c:v>135.6</c:v>
                </c:pt>
                <c:pt idx="79">
                  <c:v>134.48</c:v>
                </c:pt>
                <c:pt idx="80">
                  <c:v>131.39</c:v>
                </c:pt>
                <c:pt idx="81">
                  <c:v>133.57</c:v>
                </c:pt>
                <c:pt idx="82">
                  <c:v>133.07</c:v>
                </c:pt>
                <c:pt idx="83">
                  <c:v>135.02</c:v>
                </c:pt>
                <c:pt idx="84">
                  <c:v>136.9</c:v>
                </c:pt>
                <c:pt idx="85">
                  <c:v>137.75</c:v>
                </c:pt>
                <c:pt idx="86">
                  <c:v>137.07</c:v>
                </c:pt>
                <c:pt idx="87">
                  <c:v>137.46</c:v>
                </c:pt>
                <c:pt idx="88">
                  <c:v>139.65</c:v>
                </c:pt>
                <c:pt idx="89">
                  <c:v>139.94</c:v>
                </c:pt>
                <c:pt idx="90">
                  <c:v>140.97</c:v>
                </c:pt>
                <c:pt idx="91">
                  <c:v>143.17</c:v>
                </c:pt>
                <c:pt idx="92">
                  <c:v>144.84</c:v>
                </c:pt>
                <c:pt idx="93">
                  <c:v>145.3</c:v>
                </c:pt>
                <c:pt idx="94">
                  <c:v>148.07</c:v>
                </c:pt>
                <c:pt idx="95">
                  <c:v>148.18</c:v>
                </c:pt>
                <c:pt idx="96">
                  <c:v>148.65</c:v>
                </c:pt>
                <c:pt idx="97">
                  <c:v>150.49</c:v>
                </c:pt>
                <c:pt idx="98">
                  <c:v>150.73</c:v>
                </c:pt>
                <c:pt idx="99">
                  <c:v>155.75</c:v>
                </c:pt>
                <c:pt idx="100">
                  <c:v>159.45</c:v>
                </c:pt>
                <c:pt idx="101">
                  <c:v>161.04</c:v>
                </c:pt>
                <c:pt idx="102">
                  <c:v>160.54</c:v>
                </c:pt>
                <c:pt idx="103">
                  <c:v>160.26</c:v>
                </c:pt>
                <c:pt idx="104">
                  <c:v>156.24</c:v>
                </c:pt>
                <c:pt idx="105">
                  <c:v>159.12</c:v>
                </c:pt>
                <c:pt idx="106">
                  <c:v>153.99</c:v>
                </c:pt>
                <c:pt idx="107">
                  <c:v>152.72</c:v>
                </c:pt>
                <c:pt idx="108">
                  <c:v>158.47</c:v>
                </c:pt>
                <c:pt idx="109">
                  <c:v>160.54</c:v>
                </c:pt>
                <c:pt idx="110">
                  <c:v>156.59</c:v>
                </c:pt>
                <c:pt idx="111">
                  <c:v>155.4</c:v>
                </c:pt>
                <c:pt idx="112">
                  <c:v>155.18</c:v>
                </c:pt>
                <c:pt idx="113">
                  <c:v>157.2</c:v>
                </c:pt>
                <c:pt idx="114">
                  <c:v>157.55</c:v>
                </c:pt>
                <c:pt idx="115">
                  <c:v>158.94</c:v>
                </c:pt>
                <c:pt idx="116">
                  <c:v>160.08</c:v>
                </c:pt>
                <c:pt idx="117">
                  <c:v>162.81</c:v>
                </c:pt>
                <c:pt idx="118">
                  <c:v>162.68</c:v>
                </c:pt>
                <c:pt idx="119">
                  <c:v>163.11</c:v>
                </c:pt>
                <c:pt idx="120">
                  <c:v>161.73</c:v>
                </c:pt>
                <c:pt idx="121">
                  <c:v>161.98</c:v>
                </c:pt>
                <c:pt idx="122">
                  <c:v>164.49</c:v>
                </c:pt>
                <c:pt idx="123">
                  <c:v>164.08</c:v>
                </c:pt>
                <c:pt idx="124">
                  <c:v>166.72</c:v>
                </c:pt>
                <c:pt idx="125">
                  <c:v>166.72</c:v>
                </c:pt>
                <c:pt idx="126">
                  <c:v>167.52</c:v>
                </c:pt>
                <c:pt idx="127">
                  <c:v>167.88</c:v>
                </c:pt>
                <c:pt idx="128">
                  <c:v>166.15</c:v>
                </c:pt>
                <c:pt idx="129">
                  <c:v>166.54</c:v>
                </c:pt>
                <c:pt idx="130">
                  <c:v>166.94</c:v>
                </c:pt>
                <c:pt idx="131">
                  <c:v>167.96</c:v>
                </c:pt>
                <c:pt idx="132">
                  <c:v>170.51</c:v>
                </c:pt>
                <c:pt idx="133">
                  <c:v>170.53</c:v>
                </c:pt>
                <c:pt idx="134">
                  <c:v>170.45</c:v>
                </c:pt>
                <c:pt idx="135">
                  <c:v>170.98</c:v>
                </c:pt>
                <c:pt idx="136">
                  <c:v>169.29</c:v>
                </c:pt>
                <c:pt idx="137">
                  <c:v>169.48</c:v>
                </c:pt>
                <c:pt idx="138">
                  <c:v>170.5</c:v>
                </c:pt>
                <c:pt idx="139">
                  <c:v>171.13</c:v>
                </c:pt>
                <c:pt idx="140">
                  <c:v>170.6</c:v>
                </c:pt>
                <c:pt idx="141">
                  <c:v>171.36</c:v>
                </c:pt>
                <c:pt idx="142">
                  <c:v>170.29</c:v>
                </c:pt>
                <c:pt idx="143">
                  <c:v>170.36</c:v>
                </c:pt>
                <c:pt idx="144">
                  <c:v>167.18</c:v>
                </c:pt>
                <c:pt idx="145">
                  <c:v>168.78</c:v>
                </c:pt>
                <c:pt idx="146">
                  <c:v>165.96</c:v>
                </c:pt>
                <c:pt idx="147">
                  <c:v>170.3</c:v>
                </c:pt>
                <c:pt idx="148">
                  <c:v>172.19</c:v>
                </c:pt>
                <c:pt idx="149">
                  <c:v>174.01</c:v>
                </c:pt>
                <c:pt idx="150">
                  <c:v>176.74</c:v>
                </c:pt>
                <c:pt idx="151">
                  <c:v>175</c:v>
                </c:pt>
                <c:pt idx="152">
                  <c:v>178.42</c:v>
                </c:pt>
                <c:pt idx="153">
                  <c:v>181.13</c:v>
                </c:pt>
                <c:pt idx="154">
                  <c:v>181.92</c:v>
                </c:pt>
                <c:pt idx="155">
                  <c:v>183.19</c:v>
                </c:pt>
                <c:pt idx="156">
                  <c:v>183.61</c:v>
                </c:pt>
                <c:pt idx="157">
                  <c:v>184.8</c:v>
                </c:pt>
                <c:pt idx="158">
                  <c:v>185.96</c:v>
                </c:pt>
                <c:pt idx="159">
                  <c:v>187.52</c:v>
                </c:pt>
                <c:pt idx="160">
                  <c:v>183.02</c:v>
                </c:pt>
                <c:pt idx="161">
                  <c:v>173.25</c:v>
                </c:pt>
                <c:pt idx="162">
                  <c:v>178.4</c:v>
                </c:pt>
                <c:pt idx="163">
                  <c:v>180.95</c:v>
                </c:pt>
                <c:pt idx="164">
                  <c:v>183.58</c:v>
                </c:pt>
                <c:pt idx="165">
                  <c:v>184.13</c:v>
                </c:pt>
                <c:pt idx="166">
                  <c:v>186.43</c:v>
                </c:pt>
                <c:pt idx="167">
                  <c:v>186.21</c:v>
                </c:pt>
                <c:pt idx="168">
                  <c:v>185.75</c:v>
                </c:pt>
                <c:pt idx="169">
                  <c:v>191.18</c:v>
                </c:pt>
                <c:pt idx="170">
                  <c:v>192.48</c:v>
                </c:pt>
                <c:pt idx="171">
                  <c:v>193.6</c:v>
                </c:pt>
                <c:pt idx="172">
                  <c:v>192.89</c:v>
                </c:pt>
                <c:pt idx="173">
                  <c:v>197.42</c:v>
                </c:pt>
                <c:pt idx="174">
                  <c:v>197.42</c:v>
                </c:pt>
                <c:pt idx="175">
                  <c:v>198.54</c:v>
                </c:pt>
                <c:pt idx="176">
                  <c:v>200.62</c:v>
                </c:pt>
                <c:pt idx="177">
                  <c:v>202.87</c:v>
                </c:pt>
                <c:pt idx="178">
                  <c:v>204.35</c:v>
                </c:pt>
                <c:pt idx="179">
                  <c:v>202.31</c:v>
                </c:pt>
                <c:pt idx="180">
                  <c:v>204.59</c:v>
                </c:pt>
                <c:pt idx="181">
                  <c:v>205.72</c:v>
                </c:pt>
                <c:pt idx="182">
                  <c:v>207.11</c:v>
                </c:pt>
                <c:pt idx="183">
                  <c:v>204.09</c:v>
                </c:pt>
                <c:pt idx="184">
                  <c:v>200.94</c:v>
                </c:pt>
                <c:pt idx="185">
                  <c:v>201.24</c:v>
                </c:pt>
                <c:pt idx="186">
                  <c:v>198.29</c:v>
                </c:pt>
                <c:pt idx="187">
                  <c:v>194.41</c:v>
                </c:pt>
                <c:pt idx="188">
                  <c:v>189.15</c:v>
                </c:pt>
                <c:pt idx="189">
                  <c:v>197.4</c:v>
                </c:pt>
                <c:pt idx="190">
                  <c:v>190.81</c:v>
                </c:pt>
                <c:pt idx="191">
                  <c:v>182.53</c:v>
                </c:pt>
                <c:pt idx="192">
                  <c:v>185.09</c:v>
                </c:pt>
                <c:pt idx="193">
                  <c:v>190.08</c:v>
                </c:pt>
                <c:pt idx="194">
                  <c:v>183.44</c:v>
                </c:pt>
                <c:pt idx="195">
                  <c:v>188.96</c:v>
                </c:pt>
                <c:pt idx="196">
                  <c:v>186.53</c:v>
                </c:pt>
                <c:pt idx="197">
                  <c:v>189.65</c:v>
                </c:pt>
                <c:pt idx="198">
                  <c:v>189.88</c:v>
                </c:pt>
                <c:pt idx="199">
                  <c:v>191.5</c:v>
                </c:pt>
                <c:pt idx="200">
                  <c:v>192.23</c:v>
                </c:pt>
                <c:pt idx="201">
                  <c:v>194.2</c:v>
                </c:pt>
                <c:pt idx="202">
                  <c:v>193.36</c:v>
                </c:pt>
                <c:pt idx="203">
                  <c:v>189.94</c:v>
                </c:pt>
                <c:pt idx="204">
                  <c:v>189</c:v>
                </c:pt>
                <c:pt idx="205">
                  <c:v>194.9</c:v>
                </c:pt>
                <c:pt idx="206">
                  <c:v>200.43</c:v>
                </c:pt>
                <c:pt idx="207">
                  <c:v>201.16</c:v>
                </c:pt>
                <c:pt idx="208">
                  <c:v>202.17</c:v>
                </c:pt>
                <c:pt idx="209">
                  <c:v>206.21</c:v>
                </c:pt>
                <c:pt idx="210">
                  <c:v>204.15</c:v>
                </c:pt>
                <c:pt idx="211">
                  <c:v>205.7</c:v>
                </c:pt>
                <c:pt idx="212">
                  <c:v>208.09</c:v>
                </c:pt>
                <c:pt idx="213">
                  <c:v>210.99</c:v>
                </c:pt>
                <c:pt idx="214">
                  <c:v>211.27</c:v>
                </c:pt>
                <c:pt idx="215">
                  <c:v>214.37</c:v>
                </c:pt>
                <c:pt idx="216">
                  <c:v>213.16</c:v>
                </c:pt>
                <c:pt idx="217">
                  <c:v>218.27</c:v>
                </c:pt>
                <c:pt idx="218">
                  <c:v>216.28</c:v>
                </c:pt>
                <c:pt idx="219">
                  <c:v>219.99</c:v>
                </c:pt>
                <c:pt idx="220">
                  <c:v>220.86</c:v>
                </c:pt>
                <c:pt idx="221">
                  <c:v>216.12</c:v>
                </c:pt>
                <c:pt idx="222">
                  <c:v>216.18</c:v>
                </c:pt>
                <c:pt idx="223">
                  <c:v>220.47</c:v>
                </c:pt>
                <c:pt idx="224">
                  <c:v>220.62</c:v>
                </c:pt>
                <c:pt idx="225">
                  <c:v>222.79</c:v>
                </c:pt>
                <c:pt idx="226">
                  <c:v>223.09</c:v>
                </c:pt>
                <c:pt idx="227">
                  <c:v>226.25</c:v>
                </c:pt>
                <c:pt idx="228">
                  <c:v>230.54</c:v>
                </c:pt>
                <c:pt idx="229">
                  <c:v>230.77</c:v>
                </c:pt>
                <c:pt idx="230">
                  <c:v>231.07</c:v>
                </c:pt>
                <c:pt idx="231">
                  <c:v>234.57</c:v>
                </c:pt>
                <c:pt idx="232">
                  <c:v>237.88</c:v>
                </c:pt>
                <c:pt idx="233">
                  <c:v>229.96</c:v>
                </c:pt>
                <c:pt idx="234">
                  <c:v>235.8</c:v>
                </c:pt>
                <c:pt idx="235">
                  <c:v>239.83</c:v>
                </c:pt>
                <c:pt idx="236">
                  <c:v>241.15</c:v>
                </c:pt>
                <c:pt idx="237">
                  <c:v>238.64</c:v>
                </c:pt>
                <c:pt idx="238">
                  <c:v>240.5</c:v>
                </c:pt>
                <c:pt idx="239">
                  <c:v>238.51</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4"/>
      </c:catAx>
      <c:valAx>
        <c:axId val="2094734552"/>
        <c:scaling>
          <c:orientation val="minMax"/>
          <c:min val="80"/>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Écart au plus haut (%), limite du mandat −15 %</a:t>
            </a:r>
          </a:p>
        </c:rich>
      </c:tx>
      <c:layout/>
      <c:overlay val="0"/>
    </c:title>
    <c:autoTitleDeleted val="0"/>
    <c:plotArea>
      <c:layout/>
      <c:areaChart>
        <c:varyColors val="0"/>
        <c:ser>
          <c:idx val="0"/>
          <c:order val="0"/>
          <c:tx>
            <c:strRef>
              <c:f>Sheet1!$B$1</c:f>
              <c:strCache>
                <c:ptCount val="1"/>
                <c:pt idx="0">
                  <c:v>Écart au plus haut</c:v>
                </c:pt>
              </c:strCache>
            </c:strRef>
          </c:tx>
          <c:spPr>
            <a:solidFill>
              <a:srgbClr val="2A78D6">
                <a:alpha val="35000"/>
              </a:srgbClr>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-0.1</c:v>
                </c:pt>
                <c:pt idx="1">
                  <c:v>-0.95</c:v>
                </c:pt>
                <c:pt idx="2">
                  <c:v>-0.79</c:v>
                </c:pt>
                <c:pt idx="3">
                  <c:v>-0.7</c:v>
                </c:pt>
                <c:pt idx="4">
                  <c:v>-1.6</c:v>
                </c:pt>
                <c:pt idx="5">
                  <c:v>-1.83</c:v>
                </c:pt>
                <c:pt idx="6">
                  <c:v>-0.75</c:v>
                </c:pt>
                <c:pt idx="7">
                  <c:v>-0.63</c:v>
                </c:pt>
                <c:pt idx="8">
                  <c:v>-1.3</c:v>
                </c:pt>
                <c:pt idx="9">
                  <c:v>-1.43</c:v>
                </c:pt>
                <c:pt idx="10">
                  <c:v>-1.86</c:v>
                </c:pt>
                <c:pt idx="11">
                  <c:v>-0.75</c:v>
                </c:pt>
                <c:pt idx="12">
                  <c:v>-1.1</c:v>
                </c:pt>
                <c:pt idx="13">
                  <c:v>-2.74</c:v>
                </c:pt>
                <c:pt idx="14">
                  <c:v>-2.41</c:v>
                </c:pt>
                <c:pt idx="15">
                  <c:v>-4.19</c:v>
                </c:pt>
                <c:pt idx="16">
                  <c:v>-4.86</c:v>
                </c:pt>
                <c:pt idx="17">
                  <c:v>-5.31</c:v>
                </c:pt>
                <c:pt idx="18">
                  <c:v>-4.7</c:v>
                </c:pt>
                <c:pt idx="19">
                  <c:v>-4.04</c:v>
                </c:pt>
                <c:pt idx="20">
                  <c:v>-7.19</c:v>
                </c:pt>
                <c:pt idx="21">
                  <c:v>-8.11</c:v>
                </c:pt>
                <c:pt idx="22">
                  <c:v>-7.11</c:v>
                </c:pt>
                <c:pt idx="23">
                  <c:v>-8.33</c:v>
                </c:pt>
                <c:pt idx="24">
                  <c:v>-12.32</c:v>
                </c:pt>
                <c:pt idx="25">
                  <c:v>-13.29</c:v>
                </c:pt>
                <c:pt idx="26">
                  <c:v>-13.59</c:v>
                </c:pt>
                <c:pt idx="27">
                  <c:v>-11.71</c:v>
                </c:pt>
                <c:pt idx="28">
                  <c:v>-12.24</c:v>
                </c:pt>
                <c:pt idx="29">
                  <c:v>-14</c:v>
                </c:pt>
                <c:pt idx="30">
                  <c:v>-10.06</c:v>
                </c:pt>
                <c:pt idx="31">
                  <c:v>-6.87</c:v>
                </c:pt>
                <c:pt idx="32">
                  <c:v>-6.91</c:v>
                </c:pt>
                <c:pt idx="33">
                  <c:v>-6.37</c:v>
                </c:pt>
                <c:pt idx="34">
                  <c:v>-2.65</c:v>
                </c:pt>
                <c:pt idx="35">
                  <c:v>-1.88</c:v>
                </c:pt>
                <c:pt idx="36">
                  <c:v>-1.55</c:v>
                </c:pt>
                <c:pt idx="37">
                  <c:v>-1.19</c:v>
                </c:pt>
                <c:pt idx="38">
                  <c:v>-0.35</c:v>
                </c:pt>
                <c:pt idx="39">
                  <c:v>-1.96</c:v>
                </c:pt>
                <c:pt idx="40">
                  <c:v>-2.25</c:v>
                </c:pt>
                <c:pt idx="41">
                  <c:v>-0.22</c:v>
                </c:pt>
                <c:pt idx="42">
                  <c:v>-0.58</c:v>
                </c:pt>
                <c:pt idx="43">
                  <c:v>-2.18</c:v>
                </c:pt>
                <c:pt idx="44">
                  <c:v>-2.28</c:v>
                </c:pt>
                <c:pt idx="45">
                  <c:v>-2.94</c:v>
                </c:pt>
                <c:pt idx="46">
                  <c:v>-1.28</c:v>
                </c:pt>
                <c:pt idx="47">
                  <c:v>-1.49</c:v>
                </c:pt>
                <c:pt idx="48">
                  <c:v>-1.63</c:v>
                </c:pt>
                <c:pt idx="49">
                  <c:v>-1.46</c:v>
                </c:pt>
                <c:pt idx="50">
                  <c:v>-0.76</c:v>
                </c:pt>
                <c:pt idx="51">
                  <c:v>-2.38</c:v>
                </c:pt>
                <c:pt idx="52">
                  <c:v>-1.54</c:v>
                </c:pt>
                <c:pt idx="53">
                  <c:v>-3.13</c:v>
                </c:pt>
                <c:pt idx="54">
                  <c:v>-2.64</c:v>
                </c:pt>
                <c:pt idx="55">
                  <c:v>-2.54</c:v>
                </c:pt>
                <c:pt idx="56">
                  <c:v>-2.52</c:v>
                </c:pt>
                <c:pt idx="57">
                  <c:v>-1.92</c:v>
                </c:pt>
                <c:pt idx="58">
                  <c:v>-5.03</c:v>
                </c:pt>
                <c:pt idx="59">
                  <c:v>-4.54</c:v>
                </c:pt>
                <c:pt idx="60">
                  <c:v>-4.39</c:v>
                </c:pt>
                <c:pt idx="61">
                  <c:v>-7.23</c:v>
                </c:pt>
                <c:pt idx="62">
                  <c:v>-3.16</c:v>
                </c:pt>
                <c:pt idx="63">
                  <c:v>-0.7</c:v>
                </c:pt>
                <c:pt idx="64">
                  <c:v>-0.66</c:v>
                </c:pt>
                <c:pt idx="65">
                  <c:v>-1.45</c:v>
                </c:pt>
                <c:pt idx="66">
                  <c:v>-2.77</c:v>
                </c:pt>
                <c:pt idx="67">
                  <c:v>-3.33</c:v>
                </c:pt>
                <c:pt idx="68">
                  <c:v>-2.92</c:v>
                </c:pt>
                <c:pt idx="69">
                  <c:v>-1.8</c:v>
                </c:pt>
                <c:pt idx="70">
                  <c:v>-1.16</c:v>
                </c:pt>
                <c:pt idx="71">
                  <c:v>-1.24</c:v>
                </c:pt>
                <c:pt idx="72">
                  <c:v>-0.98</c:v>
                </c:pt>
                <c:pt idx="73">
                  <c:v>-1.13</c:v>
                </c:pt>
                <c:pt idx="74">
                  <c:v>-0.58</c:v>
                </c:pt>
                <c:pt idx="75">
                  <c:v>-1.27</c:v>
                </c:pt>
                <c:pt idx="76">
                  <c:v>-1.77</c:v>
                </c:pt>
                <c:pt idx="77">
                  <c:v>-0.7</c:v>
                </c:pt>
                <c:pt idx="78">
                  <c:v>-1.28</c:v>
                </c:pt>
                <c:pt idx="79">
                  <c:v>-2.12</c:v>
                </c:pt>
                <c:pt idx="80">
                  <c:v>-5.83</c:v>
                </c:pt>
                <c:pt idx="81">
                  <c:v>-3.94</c:v>
                </c:pt>
                <c:pt idx="82">
                  <c:v>-3.45</c:v>
                </c:pt>
                <c:pt idx="83">
                  <c:v>-3.15</c:v>
                </c:pt>
                <c:pt idx="84">
                  <c:v>-2.16</c:v>
                </c:pt>
                <c:pt idx="85">
                  <c:v>-0.66</c:v>
                </c:pt>
                <c:pt idx="86">
                  <c:v>-1.72</c:v>
                </c:pt>
                <c:pt idx="87">
                  <c:v>-1.39</c:v>
                </c:pt>
                <c:pt idx="88">
                  <c:v>-1.36</c:v>
                </c:pt>
                <c:pt idx="89">
                  <c:v>-1.36</c:v>
                </c:pt>
                <c:pt idx="90">
                  <c:v>-0.91</c:v>
                </c:pt>
                <c:pt idx="91">
                  <c:v>-0.46</c:v>
                </c:pt>
                <c:pt idx="92">
                  <c:v>-0.24</c:v>
                </c:pt>
                <c:pt idx="93">
                  <c:v>-0.78</c:v>
                </c:pt>
                <c:pt idx="94">
                  <c:v>-1.34</c:v>
                </c:pt>
                <c:pt idx="95">
                  <c:v>-1.25</c:v>
                </c:pt>
                <c:pt idx="96">
                  <c:v>-3.36</c:v>
                </c:pt>
                <c:pt idx="97">
                  <c:v>-0.83</c:v>
                </c:pt>
                <c:pt idx="98">
                  <c:v>-2.14</c:v>
                </c:pt>
                <c:pt idx="99">
                  <c:v>-1.4</c:v>
                </c:pt>
                <c:pt idx="100">
                  <c:v>-1.16</c:v>
                </c:pt>
                <c:pt idx="101">
                  <c:v>-1.56</c:v>
                </c:pt>
                <c:pt idx="102">
                  <c:v>-2.22</c:v>
                </c:pt>
                <c:pt idx="103">
                  <c:v>-3.66</c:v>
                </c:pt>
                <c:pt idx="104">
                  <c:v>-4.95</c:v>
                </c:pt>
                <c:pt idx="105">
                  <c:v>-5</c:v>
                </c:pt>
                <c:pt idx="106">
                  <c:v>-8.28</c:v>
                </c:pt>
                <c:pt idx="107">
                  <c:v>-7.49</c:v>
                </c:pt>
                <c:pt idx="108">
                  <c:v>-6.56</c:v>
                </c:pt>
                <c:pt idx="109">
                  <c:v>-3.98</c:v>
                </c:pt>
                <c:pt idx="110">
                  <c:v>-5.02</c:v>
                </c:pt>
                <c:pt idx="111">
                  <c:v>-7.37</c:v>
                </c:pt>
                <c:pt idx="112">
                  <c:v>-8.11</c:v>
                </c:pt>
                <c:pt idx="113">
                  <c:v>-4.62</c:v>
                </c:pt>
                <c:pt idx="114">
                  <c:v>-5.1</c:v>
                </c:pt>
                <c:pt idx="115">
                  <c:v>-4.88</c:v>
                </c:pt>
                <c:pt idx="116">
                  <c:v>-4.52</c:v>
                </c:pt>
                <c:pt idx="117">
                  <c:v>-2.83</c:v>
                </c:pt>
                <c:pt idx="118">
                  <c:v>-1.65</c:v>
                </c:pt>
                <c:pt idx="119">
                  <c:v>-1.81</c:v>
                </c:pt>
                <c:pt idx="120">
                  <c:v>-1.5</c:v>
                </c:pt>
                <c:pt idx="121">
                  <c:v>-2.47</c:v>
                </c:pt>
                <c:pt idx="122">
                  <c:v>-1.5</c:v>
                </c:pt>
                <c:pt idx="123">
                  <c:v>-1.2</c:v>
                </c:pt>
                <c:pt idx="124">
                  <c:v>-1.37</c:v>
                </c:pt>
                <c:pt idx="125">
                  <c:v>-1.15</c:v>
                </c:pt>
                <c:pt idx="126">
                  <c:v>-0.56</c:v>
                </c:pt>
                <c:pt idx="127">
                  <c:v>-0.76</c:v>
                </c:pt>
                <c:pt idx="128">
                  <c:v>-1.5</c:v>
                </c:pt>
                <c:pt idx="129">
                  <c:v>-1.92</c:v>
                </c:pt>
                <c:pt idx="130">
                  <c:v>-1.52</c:v>
                </c:pt>
                <c:pt idx="131">
                  <c:v>-1.14</c:v>
                </c:pt>
                <c:pt idx="132">
                  <c:v>-0.5</c:v>
                </c:pt>
                <c:pt idx="133">
                  <c:v>-1.25</c:v>
                </c:pt>
                <c:pt idx="134">
                  <c:v>-0.87</c:v>
                </c:pt>
                <c:pt idx="135">
                  <c:v>-0.98</c:v>
                </c:pt>
                <c:pt idx="136">
                  <c:v>-3.26</c:v>
                </c:pt>
                <c:pt idx="137">
                  <c:v>-2.71</c:v>
                </c:pt>
                <c:pt idx="138">
                  <c:v>-2.38</c:v>
                </c:pt>
                <c:pt idx="139">
                  <c:v>-1.32</c:v>
                </c:pt>
                <c:pt idx="140">
                  <c:v>-1.71</c:v>
                </c:pt>
                <c:pt idx="141">
                  <c:v>-1.43</c:v>
                </c:pt>
                <c:pt idx="142">
                  <c:v>-1.38</c:v>
                </c:pt>
                <c:pt idx="143">
                  <c:v>-1.69</c:v>
                </c:pt>
                <c:pt idx="144">
                  <c:v>-3.63</c:v>
                </c:pt>
                <c:pt idx="145">
                  <c:v>-3.54</c:v>
                </c:pt>
                <c:pt idx="146">
                  <c:v>-4.41</c:v>
                </c:pt>
                <c:pt idx="147">
                  <c:v>-4</c:v>
                </c:pt>
                <c:pt idx="148">
                  <c:v>-1.3</c:v>
                </c:pt>
                <c:pt idx="149">
                  <c:v>-0.44</c:v>
                </c:pt>
                <c:pt idx="150">
                  <c:v>-0.37</c:v>
                </c:pt>
                <c:pt idx="151">
                  <c:v>-1.6</c:v>
                </c:pt>
                <c:pt idx="152">
                  <c:v>-1.22</c:v>
                </c:pt>
                <c:pt idx="153">
                  <c:v>-0.42</c:v>
                </c:pt>
                <c:pt idx="154">
                  <c:v>-1.57</c:v>
                </c:pt>
                <c:pt idx="155">
                  <c:v>-0.37</c:v>
                </c:pt>
                <c:pt idx="156">
                  <c:v>-1.09</c:v>
                </c:pt>
                <c:pt idx="157">
                  <c:v>-0.28</c:v>
                </c:pt>
                <c:pt idx="158">
                  <c:v>-0.76</c:v>
                </c:pt>
                <c:pt idx="159">
                  <c:v>-0.46</c:v>
                </c:pt>
                <c:pt idx="160">
                  <c:v>-4.35</c:v>
                </c:pt>
                <c:pt idx="161">
                  <c:v>-14</c:v>
                </c:pt>
                <c:pt idx="162">
                  <c:v>-10.77</c:v>
                </c:pt>
                <c:pt idx="163">
                  <c:v>-7.72</c:v>
                </c:pt>
                <c:pt idx="164">
                  <c:v>-5.57</c:v>
                </c:pt>
                <c:pt idx="165">
                  <c:v>-4.07</c:v>
                </c:pt>
                <c:pt idx="166">
                  <c:v>-3.07</c:v>
                </c:pt>
                <c:pt idx="167">
                  <c:v>-3.22</c:v>
                </c:pt>
                <c:pt idx="168">
                  <c:v>-3.21</c:v>
                </c:pt>
                <c:pt idx="169">
                  <c:v>-2.39</c:v>
                </c:pt>
                <c:pt idx="170">
                  <c:v>-0.57</c:v>
                </c:pt>
                <c:pt idx="171">
                  <c:v>-1.13</c:v>
                </c:pt>
                <c:pt idx="172">
                  <c:v>-1.96</c:v>
                </c:pt>
                <c:pt idx="173">
                  <c:v>-1.57</c:v>
                </c:pt>
                <c:pt idx="174">
                  <c:v>-0.72</c:v>
                </c:pt>
                <c:pt idx="175">
                  <c:v>-1.44</c:v>
                </c:pt>
                <c:pt idx="176">
                  <c:v>-0.53</c:v>
                </c:pt>
                <c:pt idx="177">
                  <c:v>-0.79</c:v>
                </c:pt>
                <c:pt idx="178">
                  <c:v>-0.55</c:v>
                </c:pt>
                <c:pt idx="179">
                  <c:v>-1.5</c:v>
                </c:pt>
                <c:pt idx="180">
                  <c:v>-1.65</c:v>
                </c:pt>
                <c:pt idx="181">
                  <c:v>-1.54</c:v>
                </c:pt>
                <c:pt idx="182">
                  <c:v>-1.66</c:v>
                </c:pt>
                <c:pt idx="183">
                  <c:v>-3.06</c:v>
                </c:pt>
                <c:pt idx="184">
                  <c:v>-4.66</c:v>
                </c:pt>
                <c:pt idx="185">
                  <c:v>-4.96</c:v>
                </c:pt>
                <c:pt idx="186">
                  <c:v>-5.76</c:v>
                </c:pt>
                <c:pt idx="187">
                  <c:v>-7.84</c:v>
                </c:pt>
                <c:pt idx="188">
                  <c:v>-11.4</c:v>
                </c:pt>
                <c:pt idx="189">
                  <c:v>-9.14</c:v>
                </c:pt>
                <c:pt idx="190">
                  <c:v>-8.67</c:v>
                </c:pt>
                <c:pt idx="191">
                  <c:v>-12.99</c:v>
                </c:pt>
                <c:pt idx="192">
                  <c:v>-13.35</c:v>
                </c:pt>
                <c:pt idx="193">
                  <c:v>-11.86</c:v>
                </c:pt>
                <c:pt idx="194">
                  <c:v>-12.2</c:v>
                </c:pt>
                <c:pt idx="195">
                  <c:v>-11.7</c:v>
                </c:pt>
                <c:pt idx="196">
                  <c:v>-10.72</c:v>
                </c:pt>
                <c:pt idx="197">
                  <c:v>-10.75</c:v>
                </c:pt>
                <c:pt idx="198">
                  <c:v>-9.66</c:v>
                </c:pt>
                <c:pt idx="199">
                  <c:v>-9.27</c:v>
                </c:pt>
                <c:pt idx="200">
                  <c:v>-8.51</c:v>
                </c:pt>
                <c:pt idx="201">
                  <c:v>-9.07</c:v>
                </c:pt>
                <c:pt idx="202">
                  <c:v>-8.89</c:v>
                </c:pt>
                <c:pt idx="203">
                  <c:v>-9.41</c:v>
                </c:pt>
                <c:pt idx="204">
                  <c:v>-9.99</c:v>
                </c:pt>
                <c:pt idx="205">
                  <c:v>-9.21</c:v>
                </c:pt>
                <c:pt idx="206">
                  <c:v>-6.08</c:v>
                </c:pt>
                <c:pt idx="207">
                  <c:v>-5.1</c:v>
                </c:pt>
                <c:pt idx="208">
                  <c:v>-3.97</c:v>
                </c:pt>
                <c:pt idx="209">
                  <c:v>-3</c:v>
                </c:pt>
                <c:pt idx="210">
                  <c:v>-2.78</c:v>
                </c:pt>
                <c:pt idx="211">
                  <c:v>-2.24</c:v>
                </c:pt>
                <c:pt idx="212">
                  <c:v>-1.29</c:v>
                </c:pt>
                <c:pt idx="213">
                  <c:v>-1.19</c:v>
                </c:pt>
                <c:pt idx="214">
                  <c:v>-1.97</c:v>
                </c:pt>
                <c:pt idx="215">
                  <c:v>-0.9</c:v>
                </c:pt>
                <c:pt idx="216">
                  <c:v>-1.71</c:v>
                </c:pt>
                <c:pt idx="217">
                  <c:v>-1.53</c:v>
                </c:pt>
                <c:pt idx="218">
                  <c:v>-1.84</c:v>
                </c:pt>
                <c:pt idx="219">
                  <c:v>-2.28</c:v>
                </c:pt>
                <c:pt idx="220">
                  <c:v>-0.58</c:v>
                </c:pt>
                <c:pt idx="221">
                  <c:v>-3.33</c:v>
                </c:pt>
                <c:pt idx="222">
                  <c:v>-5.85</c:v>
                </c:pt>
                <c:pt idx="223">
                  <c:v>-2.55</c:v>
                </c:pt>
                <c:pt idx="224">
                  <c:v>-0.96</c:v>
                </c:pt>
                <c:pt idx="225">
                  <c:v>-0.72</c:v>
                </c:pt>
                <c:pt idx="226">
                  <c:v>-0.64</c:v>
                </c:pt>
                <c:pt idx="227">
                  <c:v>-0.89</c:v>
                </c:pt>
                <c:pt idx="228">
                  <c:v>-0.63</c:v>
                </c:pt>
                <c:pt idx="229">
                  <c:v>-1.32</c:v>
                </c:pt>
                <c:pt idx="230">
                  <c:v>-1.05</c:v>
                </c:pt>
                <c:pt idx="231">
                  <c:v>-0.63</c:v>
                </c:pt>
                <c:pt idx="232">
                  <c:v>-0.56</c:v>
                </c:pt>
                <c:pt idx="233">
                  <c:v>-4.55</c:v>
                </c:pt>
                <c:pt idx="234">
                  <c:v>-3.21</c:v>
                </c:pt>
                <c:pt idx="235">
                  <c:v>-1.36</c:v>
                </c:pt>
                <c:pt idx="236">
                  <c:v>-1.62</c:v>
                </c:pt>
                <c:pt idx="237">
                  <c:v>-1.69</c:v>
                </c:pt>
                <c:pt idx="238">
                  <c:v>-0.98</c:v>
                </c:pt>
                <c:pt idx="239">
                  <c:v>-2.15</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36"/>
      </c:catAx>
      <c:valAx>
        <c:axId val="2094734552"/>
        <c:scaling>
          <c:orientation val="minMax"/>
          <c:max val="0"/>
          <c:min val="-16"/>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Nombre de fins de mois, par rendement sur un an (%)</a:t>
            </a:r>
          </a:p>
        </c:rich>
      </c:tx>
      <c:layout/>
      <c:overlay val="0"/>
    </c:title>
    <c:autoTitleDeleted val="0"/>
    <c:plotArea>
      <c:layout/>
      <c:barChart>
        <c:barDir val="col"/>
        <c:grouping val="clustered"/>
        <c:varyColors val="0"/>
        <c:ser>
          <c:idx val="0"/>
          <c:order val="0"/>
          <c:tx>
            <c:strRef>
              <c:f>Sheet1!$B$1</c:f>
              <c:strCache>
                <c:ptCount val="1"/>
                <c:pt idx="0">
                  <c:v>Fins de mois</c:v>
                </c:pt>
              </c:strCache>
            </c:strRef>
          </c:tx>
          <c:spPr>
            <a:solidFill>
              <a:srgbClr val="2A78D6"/>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Sheet1!$A$2:$A$35</c:f>
              <c:multiLvlStrCache>
                <c:ptCount val="34"/>
                <c:lvl>
                  <c:pt idx="0">
                    <c:v>-13</c:v>
                  </c:pt>
                  <c:pt idx="1">
                    <c:v>-12</c:v>
                  </c:pt>
                  <c:pt idx="2">
                    <c:v>-11</c:v>
                  </c:pt>
                  <c:pt idx="3">
                    <c:v>-10</c:v>
                  </c:pt>
                  <c:pt idx="4">
                    <c:v>-9</c:v>
                  </c:pt>
                  <c:pt idx="5">
                    <c:v>-8</c:v>
                  </c:pt>
                  <c:pt idx="6">
                    <c:v>-7</c:v>
                  </c:pt>
                  <c:pt idx="7">
                    <c:v>-6</c:v>
                  </c:pt>
                  <c:pt idx="8">
                    <c:v>-5</c:v>
                  </c:pt>
                  <c:pt idx="9">
                    <c:v>-4</c:v>
                  </c:pt>
                  <c:pt idx="10">
                    <c:v>-3</c:v>
                  </c:pt>
                  <c:pt idx="11">
                    <c:v>-2</c:v>
                  </c:pt>
                  <c:pt idx="12">
                    <c:v>-1</c:v>
                  </c:pt>
                  <c:pt idx="13">
                    <c:v>0</c:v>
                  </c:pt>
                  <c:pt idx="14">
                    <c:v>1</c:v>
                  </c:pt>
                  <c:pt idx="15">
                    <c:v>2</c:v>
                  </c:pt>
                  <c:pt idx="16">
                    <c:v>3</c:v>
                  </c:pt>
                  <c:pt idx="17">
                    <c:v>4</c:v>
                  </c:pt>
                  <c:pt idx="18">
                    <c:v>5</c:v>
                  </c:pt>
                  <c:pt idx="19">
                    <c:v>6</c:v>
                  </c:pt>
                  <c:pt idx="20">
                    <c:v>7</c:v>
                  </c:pt>
                  <c:pt idx="21">
                    <c:v>8</c:v>
                  </c:pt>
                  <c:pt idx="22">
                    <c:v>9</c:v>
                  </c:pt>
                  <c:pt idx="23">
                    <c:v>10</c:v>
                  </c:pt>
                  <c:pt idx="24">
                    <c:v>11</c:v>
                  </c:pt>
                  <c:pt idx="25">
                    <c:v>12</c:v>
                  </c:pt>
                  <c:pt idx="26">
                    <c:v>13</c:v>
                  </c:pt>
                  <c:pt idx="27">
                    <c:v>14</c:v>
                  </c:pt>
                  <c:pt idx="28">
                    <c:v>15</c:v>
                  </c:pt>
                  <c:pt idx="29">
                    <c:v>16</c:v>
                  </c:pt>
                  <c:pt idx="30">
                    <c:v>17</c:v>
                  </c:pt>
                  <c:pt idx="31">
                    <c:v>18</c:v>
                  </c:pt>
                  <c:pt idx="32">
                    <c:v>19</c:v>
                  </c:pt>
                  <c:pt idx="33">
                    <c:v>20</c:v>
                  </c:pt>
                </c:lvl>
              </c:multiLvlStrCache>
            </c:multiLvlStrRef>
          </c:cat>
          <c:val>
            <c:numRef>
              <c:f>Sheet1!$B$2:$B$35</c:f>
              <c:numCache>
                <c:formatCode>General</c:formatCode>
                <c:ptCount val="34"/>
                <c:pt idx="0">
                  <c:v>0</c:v>
                </c:pt>
                <c:pt idx="1">
                  <c:v>1</c:v>
                </c:pt>
                <c:pt idx="2">
                  <c:v>0</c:v>
                </c:pt>
                <c:pt idx="3">
                  <c:v>3</c:v>
                </c:pt>
                <c:pt idx="4">
                  <c:v>1</c:v>
                </c:pt>
                <c:pt idx="5">
                  <c:v>6</c:v>
                </c:pt>
                <c:pt idx="6">
                  <c:v>2</c:v>
                </c:pt>
                <c:pt idx="7">
                  <c:v>3</c:v>
                </c:pt>
                <c:pt idx="8">
                  <c:v>2</c:v>
                </c:pt>
                <c:pt idx="9">
                  <c:v>3</c:v>
                </c:pt>
                <c:pt idx="10">
                  <c:v>6</c:v>
                </c:pt>
                <c:pt idx="11">
                  <c:v>8</c:v>
                </c:pt>
                <c:pt idx="12">
                  <c:v>7</c:v>
                </c:pt>
                <c:pt idx="13">
                  <c:v>7</c:v>
                </c:pt>
                <c:pt idx="14">
                  <c:v>13</c:v>
                </c:pt>
                <c:pt idx="15">
                  <c:v>18</c:v>
                </c:pt>
                <c:pt idx="16">
                  <c:v>13</c:v>
                </c:pt>
                <c:pt idx="17">
                  <c:v>15</c:v>
                </c:pt>
                <c:pt idx="18">
                  <c:v>20</c:v>
                </c:pt>
                <c:pt idx="19">
                  <c:v>21</c:v>
                </c:pt>
                <c:pt idx="20">
                  <c:v>15</c:v>
                </c:pt>
                <c:pt idx="21">
                  <c:v>14</c:v>
                </c:pt>
                <c:pt idx="22">
                  <c:v>18</c:v>
                </c:pt>
                <c:pt idx="23">
                  <c:v>9</c:v>
                </c:pt>
                <c:pt idx="24">
                  <c:v>6</c:v>
                </c:pt>
                <c:pt idx="25">
                  <c:v>4</c:v>
                </c:pt>
                <c:pt idx="26">
                  <c:v>7</c:v>
                </c:pt>
                <c:pt idx="27">
                  <c:v>2</c:v>
                </c:pt>
                <c:pt idx="28">
                  <c:v>2</c:v>
                </c:pt>
                <c:pt idx="29">
                  <c:v>0</c:v>
                </c:pt>
                <c:pt idx="30">
                  <c:v>0</c:v>
                </c:pt>
                <c:pt idx="31">
                  <c:v>1</c:v>
                </c:pt>
                <c:pt idx="32">
                  <c:v>1</c:v>
                </c:pt>
                <c:pt idx="33">
                  <c:v>0</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 proposition de gestion que nous avons construite pour M. Lauren. En une phrase : faire en sorte que ses 100 millions gardent leur pouvoir d'achat face à une inflation de 4 %, sans qu'il voie jamais son patrimoine baisser de plus de 15 %. Je vais vous montrer comment on y arrive, étape par étape, et pourquoi chaque choix a été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 60 ans, il vient de vendre sa société, il a 100 millions en cash. Il a construit sa fortune en prenant beaucoup de risque ; aujourd'hui il veut la garder. Deux exigences qui tirent en sens inverse : rapporter au moins 4 % par an, sinon l'inflation l'appauvrit, et ne jamais perdre plus de 15 %. Plus on vise de rendement, plus on prend de risque. Toute la présentation répond à une question : existe-t-il un portefeuille qui tienne les deux ? La fiscalité et la transmission font partie du cas mais sont hors du périmètre de cet exercice.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suivi le processus d'un fonds multi-actifs institutionnel, en cinq étapes. On part de ce que demande le client, puis de l'état de l'économie, on descend jusqu'au choix de chaque titre, on décide des proportions, et on vérifie le résultat sur vingt ans d'histoire. Chaque étape utilise ce que la précédente a produit : aucun chiffre n'apparaît avant l'étape qui le calcule. Tout est disponible dans une application en ligne, que je pourrai ouvrir si vous voulez creuser un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comprendre la demande avant de chercher des réponses. Cette étape ne calcule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de l'énoncé a une traduction concrète. Les 10 millions à décaisser ne doivent pas être exposés au risque. L'inflation de 4 %, c'est le seuil à battre : en dessous, le client s'appauvrit. La limite de 15 % fixe la part d'actifs risqués qu'on peut se permettre. Les exclusions touchent les entreprises, pas les États ni l'or. Et l'inquiétude sur l'Europe et les États-Unis plaide pour une vraie diversification. Portrait qui s'en dégage : un entrepreneur qui ne cherche plus à faire fortune mais à la garder, et qui attend qu'on lui explique pourquoi, pas seulement 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laisse plusieurs questions ouvertes, qu'il faudrait poser au client. Faute de réponse, nous avons retenu à chaque fois la lecture la plus exigeante. La plus importante : les 15 %, on les mesure depuis le plus haut jamais atteint, sans limite de durée. C'est ce que le client ressentira : l'écart entre ce qu'il a eu et ce qu'il a. Pour les 10 millions, faute de calendrier, on suppose quatre versements égaux sur deux ans. Pour la crypto, on montrera à l'étape 4 pourquoi nous n'en mettons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étape : l'analyse macro. On part de ce que le marché paie, de l'état de l'économie, pour en tirer un rendement espéré par classe d'actifs.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et il est net : aucune obligation classique ne protège contre 4 % d'inflation. Le monétaire rapporte 2,44 %, les emprunts d'État de la zone euro 3,77 %. Les taux américains paraissent plus élevés, mais un client qui vit en euros doit couvrir le change, et cette couverture coûte environ 1,7 % par an : le supplément disparaît. Les seules obligations au-dessus du seuil de façon certaine sont les indexées sur l'inflation. Le haut rendement affiche plus, mais c'est un rendement avant défauts. Conclusion : pour atteindre 4 %, il faudra des actions et des actifs réels. Question technique possible : pourquoi le taux à l'achat suffit ? Parce que pour une obligation gardée jusqu'à l'échéance, c'est exactement ce qu'elle rapportera, sans aucune prévision.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lecture : le cycle. On lit une chaîne : l'activité fait l'emploi, l'emploi et l'énergie font l'inflation, l'inflation décide de la banque centrale, qui entraîne les taux. Aujourd'hui, des deux côtés de l'Atlantique, l'inflation totale remonte alors que l'inflation hors énergie ne bouge pas : c'est un choc énergétique. La BCE a déjà remonté son taux, le marché en attend d'autres, et aux États-Unis le taux à 2 ans annonce des hausses de la Fed. C'est précisément le scénario que redoute M. Lauren. Ce contexte pèse sur les obligations à taux fixe, et favorise les indexées et les actifs réels.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lecture : le crédit, c'est-à-dire prêter aux entreprises. L'écart entre ce que paie une entreprise et ce que paie un État s'appelle la prime de crédit. Sur quarante ans, elle n'a été plus basse qu'aujourd'hui que 2 % du temps. Une prime basse n'annonce pas une crise, mais elle laisse très peu de marge : si elle remonte simplement d'un point, le crédit européen perd environ 4,3 %, plus d'une année de rendement. En 2008, elle a été multipliée par quatre. Risque asymétrique : on reste sur des entreprises bien notées et des durées courtes.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lecture : les marchés, qui montrent en temps réel où va l'argent. L'énergie mène très largement, ce qui confirme que l'inflation vient de là, et la consommation recule. Les émergents ont monté, mais pas la Chine ni l'Inde : il faut les regarder pays par pays. Attention cependant : la dynamique dit ce qui monte, pas ce qui est bon marché. Un marché qui a pris 30 % est aussi devenu plus cher. C'est l'objet de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L'aboutissement de l'étape 2 : un rendement espéré par classe d'actifs, sur dix ans, en euros, à 4 % d'inflation. Pour les obligations, on lit simplement le taux du marché : ce sont les chiffres les plus solides. Pour les actions, on estime ce que rapportent les bénéfices achetés aujourd'hui. Résultat : seules les actions et les obligations indexées dépassent nettement le seuil. Préserver le pouvoir d'achat impose donc une part importante d'actions ; la limite de 15 % dira jusqu'où aller. Vous remarquerez que l'Europe est attendue au-dessus des États-Unis : j'y reviens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fréquente : pourquoi l'Europe rapporterait-elle plus que les États-Unis ? Uniquement à cause du prix. À un PER de 30, on paie trente ans de bénéfices pour une action américaine, contre 18,5 en Europe : on achète 3,3 % de bénéfices par an d'un côté, 5,4 % de l'autre. Le dividende européen est aussi trois fois plus élevé. Limites que j'assume : on applique la même croissance des bénéfices partout, ce qui pénalise les États-Unis dont la tech croît plus vite ; et J.P. Morgan va dans le même sens mais avec un écart de 0,3 point seulement. Conséquence limitée : la répartition entre zones est fixée à l'avance, elle ne dépend pas de cet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étape : choisir les supports. Des actions européennes et des obligations d'État en direct, et les meilleurs fonds pour les autres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actions européennes, on part des 600 plus grandes valeurs d'Europe. On retire d'abord les 26 sociétés touchées par les exclusions du client : 20 dans l'armement, 4 dans le tabac, 2 dans le charbon, au seuil de 5 % du chiffre d'affaires. On écarte les sociétés d'investissement, que la notation ne sait pas mesurer, et les sociétés de moins de 10 milliards, moins suivies et moins liquides. Il en reste 300, que l'on note ; on en retient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société reçoit une note sur cinq piliers à poids égaux, toujours comparée aux sociétés de son propre secteur : c'est ce qui permet de comparer une banque, dont le PER est naturellement bas, à un éditeur de logiciels. Le cinquième pilier, la résistance, est propre à ce mandat : plus la poche d'actions baisse modérément en crise, plus on peut en détenir sous la limite de 15 %. Enfin, des plafonds par secteur et par pays évitent qu'un seul thème ne prenne toute la place. Détail technique si on me le demande : chaque indicateur est mesuré en écarts-types par rapport à la moyenne du secteur, après avoir écarté les données aberrantes.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30 titres retenus, investis à parts égales. Ils couvrent 10 secteurs sur 11 et 11 pays. La sélection ne ressemble pas à l'indice, et c'est voulu : la note ignore la taille des sociétés, elle ne regarde que leurs qualités face à leurs concurrentes. Je peux ouvrir la fiche de n'importe quel titre dans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vérifie que la sélection tient mieux en crise que l'indice. C'est le cas en 2022 : −12,8 % contre −18,4 %. En 2020, les deux ont baissé d'environ un tiers. Message important : un panier d'actions reste un panier d'actions. La limite de 15 % ne se tiendra pas par le choix des titres, mais par le dosage entre actions, obligations et or, à l'étape 4. Précaution d'honnêteté : les titres sont choisis avec les données d'aujourd'hui, donc leur performance passée est flatteuse par construction ; seul leur comportement en crise est informatif.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partie la plus sûre, pas besoin de fonds : on achète directement des obligations d'État. Les 10 millions à décaisser sont placés en quatre obligations allemandes ou néerlandaises qui arrivent à échéance aux dates des versements : il faut investir 9,63 M€ aujourd'hui, à taux garantis, et on économise environ 78 milliers d'euros par rapport au monétaire. Pour le reste de la poche obligataire, une échelle de 2 à 10 ans sur toute la zone euro, qui rapporte 3,63 % et perdrait environ 4,7 % si les taux montaient d'un point. On n'allonge pas au-delà : cela rapporte peu et multiplie le risque, dans un contexte où l'inflation remonte.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autres classes, on passe par des fonds cotés, choisis selon une règle simple : d'abord des exclusions conformes au mandat, puis une taille d'au moins un milliard, pour ne jamais peser plus de 1 % d'un fonds, et enfin les frais les plus bas. Point de vigilance : un filtre ESG dit « Screened » n'exclut pas l'armement conventionnel, alors que nous l'avons exclu des actions en direct ; nous avons donc lu les méthodologies d'indices et retenu des indices plus stricts. Conséquence pour les émergents : le seul fonds conforme s'éloigne nettement du marché, écart que nous annoncerons au client. L'infrastructure a été retirée : aucun fonds n'était à la fois assez gros et conforme. Enfin, en revérifiant l'univers de départ, nous avons trouvé neuf fonds mal libellés, dont un fonds d'actions américaines présenté comme de la dette émergente.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crédit mérite une slide, parce que le résultat est contre-intuitif. Le haut rendement, une fois les défauts déduits, rapporte moins que les États : écarté. Le crédit bien noté court ne rapporte que 0,24 point de plus qu'un État de même échéance, et il a perdu trois fois plus en 2020. Défauts déduits, il rapporte 3,39 %, moins que notre échelle d'emprunts d'État. On le garde dans l'univers, mais on verra à l'étape 4 que le calcul lui donne zéro, à raison.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étape, le cœur de l'exercice : combien placer sur chaque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calcul a besoin de trois ingrédients. La règle : la perte se mesure depuis le plus haut, sur les 100 millions, et ne doit jamais dépasser 15 % dans les quatre crises de référence. Les rendements espérés : seules les actions et les obligations indexées dépassent 4 %. Tout le reste rapporte moins : chaque euro placé en obligations devra être compensé par des actions. Et le troisième ingrédient, c'est le comportement de chaque support en crise, sur vingt ans. Or la plupart des fonds datent de 2018 : avant, on utilise un remplaçant qui suit le même marché, et pour les États une obligation recalculée sur la courbe de la 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ingrédient : le comportement en crise. Les actions perdent jusqu'à 54 % en 2008. Sans amortisseur, on ne pourrait donc pas en détenir plus de 28 %. Pour aller au-delà, il faut des supports qui montent quand les actions baissent. En 2008, les emprunts d'État gagnent 14 % et l'or 39 % : ils amortissent. Mais en 2022, crise d'inflation, les obligations baissent avec les actions : plus d'amortisseur. C'est le régime décrit à l'étape 2. L'or est le seul qui tienne partout. Parce que ce lien change d'une crise à l'autre, le calcul ne s'appuie pas sur une corrélation moyenne : il fait traverser à chaque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mot sur la corrélation, parce que la question vient toujours. À gauche, les semaines ordinaires ; à droite, les seules semaines de crise. Deux chiffres comptent. L'échelle AAA était à −3 face aux actions en temps normal : indépendante. En crise elle passe à −21 : elle monte quand les actions chutent. L'or fait le même chemin, de +12 à −11. Voilà pourquoi on garde de l'or malgré un rendement espéré de 4 % seulement : on ne l'achète pas pour son rendement, on l'achète pour ce qu'il fait ce jour-là. À l'inverse, les matières premières restent à +36 : elles diversifient peu, et c'est pour ça qu'elles ont une place réduite. Et je veux être honnête sur le revers, parce qu'on me le demanderait sinon : la poche défensive, elle, se resserre. Crédit court et indexées passent de +36 à +62 entre eux. Autrement dit les amortisseurs deviennent un seul pari au moment où on compte sur eux. C'est exactement la raison pour laquelle on ne met pas tout le défensif sur la même maturité, et pourquoi le calcul de la page suivante ne travaille pas sur une corrélation moyenne, mais fait traverser au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laisse d'abord le calcul seul, avec une seule exigence : jamais plus de 15 % de baisse sur les vingt ans. Il propose 55 % d'obligations indexées et 32 % d'actions japonaises, pour 6,47 % sur le papier. Ce n'est pas une proposition : c'est pour montrer ce que fait un optimiseur livré à lui-même. On a vérifié pourquoi il choisit le Japon : pas pour son rendement, car même en le baissant il le garde ; c'est parce que le Japon, grâce au yen, a bien tenu dans ces quatre crises précises. Rien ne garantit que le yen jouera ce rôle la prochaine fois : en 2022, il a perdu 8 % contre l'euro. Le calcul a appris le passé par cœur. D'où des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reprend le calcul et on ajoute les règles une par une, en chiffrant ce que chacune coûte. Réserver les 10 millions en AAA ne coûte presque rien. Imposer la répartition des actions, Europe 40, États-Unis 35, Japon 10, émergents 15, est la règle la plus chère : −0,68 point, c'est le prix du renoncement au pari sur le yen. Les plafonds évitent la concentration ; résultat intéressant, les actions remontent, parce que les États à 2-10 ans amortissaient mieux 2020 que les indexées. Enfin une marge : viser 14 % au lieu de 15, parce que certains remplaçants flattent 2008. Au total, les règles coûtent 1,17 point de rendement espéré : c'est le prix d'un portefeuille robuste.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retenu : environ 30 % d'actions, 51 % d'emprunts d'État, 15 % d'obligations indexées et 3 % d'or. Un point de méthode important : le rendement brut est de 5,31 %, mais l'objectif du client est un objectif NET — ce qui doit battre l'inflation, c'est ce qui lui reste. On retire donc les frais des fonds, 0,05 point, et nos frais de mandat, 0,40 point : il reste 4,86 % nets, soit 0,86 point au-dessus de l'inflation de l'énoncé. Si on me demande la fiscalité : elle est hors périmètre de cet exercice et retirerait encore environ 0,30 point. Pire baisse sur vingt ans : 14,0 %. Les actions ne font que 30 % du patrimoine mais apportent près de la moitié du rendement ; les obligations tiennent la limite de perte.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en millions d'euros. Environ 12 millions sur les 30 actions européennes, à 400 000 euros chacune ; 10 millions sur l'échelle AAA, qui rendront un peu plus que les 10 millions à décaisser ; 41 millions sur l'échelle d'emprunts d'État de 2 à 10 ans ; 15 millions en obligations indexées ; le reste en fonds d'actions américaines, japonaises et émergentes, et 3 millions en or. Les frais des fonds représentent environ 47 000 euros par an. Sur 2006-2026, ce portefeuille aurait rapporté 4,5 % par an ; ce n'est pas comparable au rendement espéré, parce que le passé comptait dix ans de taux négatifs alors que l'avenir part de taux autour de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étape : rejouer le portefeuille sur vingt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millions investis en octobre 2006 en vaudraient 239 aujourd'hui, soit 4,47 % par an. Ce chiffre-là, il ne faut pas le comparer aux 4 % de l'énoncé : ces 4 % décrivent un monde à 4 % d'inflation, or la zone euro en a connu 2,18 % par an sur cette période, 53,5 % cumulés. Jugé contre l'inflation réellement constatée, le portefeuille a donc dégagé 2,29 point de rendement réel par an. L'objectif du client a été tenu, et largement. Je dois être honnête en revanche sur ce que ce rejeu prouve : rien sur la limite de perte, puisqu'on a construit le portefeuille pour qu'il ne perde jamais plus de 14 % sur ces mêmes données. Ce que le rejeu apporte, c'est ce que le calcul n'a pas regardé : combien de temps le client reste sous son plus haut, et à quoi ressemble une mauvaise 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baisses les plus profondes, 2008 et 2020, font la même taille, 14 %, mais pas la même durée : 9 mois pour se remettre du krach de 2020, 23 mois pour 2008. La plus longue, c'est 2022 : 32 mois sous le plus haut, parce que les obligations, qui font les deux tiers du portefeuille, ont baissé avec les actions puis ont mis deux ans à se reconstituer. Pour le client, cela veut dire : la moitié du temps, son patrimoine est un peu sous son meilleur niveau ; une fois sur six, à plus de 5 % ; les pertes proches de la limite sont rares et brèves. C'est ce qu'il faut lui dire avant,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question : une mauvaise année. Une année sur vingt, le portefeuille a perdu plus de 6,5 % ; ces années-là, 8,5 % en moyenne. La pire année : −11,4 %. Remarquez l'écart avec la pire baisse de 14 % : les baisses s'accumulent sur plus d'un an, en 2008 comme en 2022. C'est pour cela que nous avons mesuré la limite depuis le plus haut : une limite sur un an aurait laissé passer ces baisses. Un chiffre que je préfère donner moi-même plutôt qu'on me le sorte : 29 % des années glissantes n'ont pas battu l'inflation de leur époque. C'est normal, et c'est important à dire : préserver le pouvoir d'achat est un objectif de moyenne longue, aucun portefeuille tenu à 15 % de perte maximum ne peut le garantir chaque année. Précaution enfin : vingt ans ne contiennent qu'une vingtaine d'années indépendantes ; ces chiffres reposent sur une poignée d'épisodes.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Nous proposons à M. Lauren un portefeuille qui rapporte 4,86 % espérés par an NETS de tous frais, soit 0,86 point au-dessus des 4 % d'inflation, et qui n'aurait jamais perdu plus de 14 % dans les crises des vingt dernières années. Environ 30 % d'actions réparties sur quatre zones, sans pari sur l'une d'elles ; une large poche d'emprunts d'État et d'indexées ; un peu d'or. Les 10 millions dont il a besoin sont sécurisés, à taux garantis.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choses pour terminer. D'abord les limites, que nous dirions franchement au client : la limite de perte tient sur les crises passées, pas forcément sur la prochaine ; certaines mesures anciennes reposent sur des remplaçants ; les rendements espérés sont des moyennes, pas des promesses ; et une baisse peut durer plus de deux ans. Ensuite, les questions que nous lui poserions, car nos hypothèses de travail devront être confirmées. Merci ; je suis à votre disposition pour vos questions, et je peux ouvrir l'application pour montrer n'importe quel détail.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techniques sur la méthode d'estimation du rendement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sur les données : comment l'historique a été reconstitué, et les contrôles appliqués.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Mandat Lauren</a:t>
            </a:r>
            <a:endParaRPr lang="en-US" sz="4000" dirty="0"/>
          </a:p>
        </p:txBody>
      </p:sp>
      <p:sp>
        <p:nvSpPr>
          <p:cNvPr id="3" name="Text 1"/>
          <p:cNvSpPr txBox="1"/>
          <p:nvPr/>
        </p:nvSpPr>
        <p:spPr>
          <a:xfrm>
            <a:off x="548640" y="310896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Préserver le pouvoir d'achat de 100 M€ sans jamais perdre plus de 15 %</a:t>
            </a:r>
            <a:endParaRPr lang="en-US" sz="1800" dirty="0"/>
          </a:p>
          <a:p>
            <a:pPr indent="0" marL="0">
              <a:buNone/>
            </a:pPr>
            <a:endParaRPr lang="en-US" sz="1800" dirty="0"/>
          </a:p>
          <a:p>
            <a:pPr indent="0" marL="0">
              <a:buNone/>
            </a:pPr>
            <a:r>
              <a:rPr lang="en-US" sz="1800" dirty="0">
                <a:solidFill>
                  <a:srgbClr val="CADCFC"/>
                </a:solidFill>
                <a:latin typeface="Calibri" pitchFamily="34" charset="0"/>
                <a:ea typeface="Calibri" pitchFamily="34" charset="-122"/>
                <a:cs typeface="Calibri" pitchFamily="34" charset="-120"/>
              </a:rPr>
              <a:t>Proposition de gestion — de l'analyse macro au portefeuille ligne à ligne</a:t>
            </a:r>
            <a:endParaRPr lang="en-US" sz="1800" dirty="0"/>
          </a:p>
        </p:txBody>
      </p:sp>
      <p:sp>
        <p:nvSpPr>
          <p:cNvPr id="4" name="Text 2"/>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Allan Guichard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cas : M. Lauren, 60 ans, vient de céder sa startup</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4" name="Shape 2"/>
          <p:cNvSpPr/>
          <p:nvPr/>
        </p:nvSpPr>
        <p:spPr>
          <a:xfrm>
            <a:off x="548640" y="1325880"/>
            <a:ext cx="5577840" cy="4754880"/>
          </a:xfrm>
          <a:prstGeom prst="roundRect">
            <a:avLst>
              <a:gd name="adj" fmla="val 1538"/>
            </a:avLst>
          </a:prstGeom>
          <a:solidFill>
            <a:srgbClr val="F2F5F9"/>
          </a:solidFill>
          <a:ln w="12700">
            <a:solidFill>
              <a:srgbClr val="F2F5F9"/>
            </a:solidFill>
            <a:prstDash val="solid"/>
          </a:ln>
        </p:spPr>
      </p:sp>
      <p:sp>
        <p:nvSpPr>
          <p:cNvPr id="5" name="Text 3"/>
          <p:cNvSpPr txBox="1"/>
          <p:nvPr/>
        </p:nvSpPr>
        <p:spPr>
          <a:xfrm>
            <a:off x="822960" y="1508760"/>
            <a:ext cx="5029200" cy="4480560"/>
          </a:xfrm>
          <a:prstGeom prst="rect">
            <a:avLst/>
          </a:prstGeom>
          <a:noFill/>
          <a:ln/>
        </p:spPr>
        <p:txBody>
          <a:bodyPr wrap="square" lIns="0" tIns="0" rIns="0" bIns="0" rtlCol="0" anchor="t"/>
          <a:lstStyle/>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en cash, une feuille blanche</a:t>
            </a:r>
            <a:endParaRPr lang="en-US" sz="1900" dirty="0"/>
          </a:p>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à décaisser dans les deux ans</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Protéger le reste contre une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inflation de 4 %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jamais perdre plus de 15 %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Exclure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tabac, armement, charbon</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Le fils veut de la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crypto</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le père hésite</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Inquiet sur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l'Europe comme sur les États-Unis</a:t>
            </a:r>
            <a:endParaRPr lang="en-US" sz="1900" dirty="0"/>
          </a:p>
        </p:txBody>
      </p:sp>
      <p:sp>
        <p:nvSpPr>
          <p:cNvPr id="6" name="Text 4"/>
          <p:cNvSpPr txBox="1"/>
          <p:nvPr/>
        </p:nvSpPr>
        <p:spPr>
          <a:xfrm>
            <a:off x="6583680" y="1371600"/>
            <a:ext cx="5029200" cy="36576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Le cœur du problème</a:t>
            </a:r>
            <a:endParaRPr lang="en-US" sz="1800" dirty="0"/>
          </a:p>
        </p:txBody>
      </p:sp>
      <p:sp>
        <p:nvSpPr>
          <p:cNvPr id="7" name="Text 5"/>
          <p:cNvSpPr txBox="1"/>
          <p:nvPr/>
        </p:nvSpPr>
        <p:spPr>
          <a:xfrm>
            <a:off x="6583680" y="1874520"/>
            <a:ext cx="2377440" cy="640080"/>
          </a:xfrm>
          <a:prstGeom prst="rect">
            <a:avLst/>
          </a:prstGeom>
          <a:noFill/>
          <a:ln/>
        </p:spPr>
        <p:txBody>
          <a:bodyPr wrap="square" lIns="0" tIns="0" rIns="0" bIns="0" rtlCol="0" anchor="b"/>
          <a:lstStyle/>
          <a:p>
            <a:pPr indent="0" marL="0">
              <a:buNone/>
            </a:pPr>
            <a:r>
              <a:rPr lang="en-US" sz="4400" b="1" dirty="0">
                <a:solidFill>
                  <a:srgbClr val="1BAF7A"/>
                </a:solidFill>
                <a:latin typeface="Cambria" pitchFamily="34" charset="0"/>
                <a:ea typeface="Cambria" pitchFamily="34" charset="-122"/>
                <a:cs typeface="Cambria" pitchFamily="34" charset="-120"/>
              </a:rPr>
              <a:t>≥ 4 %</a:t>
            </a:r>
            <a:endParaRPr lang="en-US" sz="4400" dirty="0"/>
          </a:p>
        </p:txBody>
      </p:sp>
      <p:sp>
        <p:nvSpPr>
          <p:cNvPr id="8" name="Text 6"/>
          <p:cNvSpPr txBox="1"/>
          <p:nvPr/>
        </p:nvSpPr>
        <p:spPr>
          <a:xfrm>
            <a:off x="6583680" y="253288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pour ne pas s'appauvrir</a:t>
            </a:r>
            <a:endParaRPr lang="en-US" sz="1200" dirty="0"/>
          </a:p>
        </p:txBody>
      </p:sp>
      <p:sp>
        <p:nvSpPr>
          <p:cNvPr id="9" name="Text 7"/>
          <p:cNvSpPr txBox="1"/>
          <p:nvPr/>
        </p:nvSpPr>
        <p:spPr>
          <a:xfrm>
            <a:off x="9144000" y="1874520"/>
            <a:ext cx="246888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 15 %</a:t>
            </a:r>
            <a:endParaRPr lang="en-US" sz="4400" dirty="0"/>
          </a:p>
        </p:txBody>
      </p:sp>
      <p:sp>
        <p:nvSpPr>
          <p:cNvPr id="10" name="Text 8"/>
          <p:cNvSpPr txBox="1"/>
          <p:nvPr/>
        </p:nvSpPr>
        <p:spPr>
          <a:xfrm>
            <a:off x="9144000" y="2532888"/>
            <a:ext cx="246888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baisse, jamais</a:t>
            </a:r>
            <a:endParaRPr lang="en-US" sz="1200" dirty="0"/>
          </a:p>
        </p:txBody>
      </p:sp>
      <p:sp>
        <p:nvSpPr>
          <p:cNvPr id="11" name="Shape 9"/>
          <p:cNvSpPr/>
          <p:nvPr/>
        </p:nvSpPr>
        <p:spPr>
          <a:xfrm>
            <a:off x="6583680" y="3657600"/>
            <a:ext cx="5056632" cy="2377440"/>
          </a:xfrm>
          <a:prstGeom prst="roundRect">
            <a:avLst>
              <a:gd name="adj" fmla="val 3077"/>
            </a:avLst>
          </a:prstGeom>
          <a:solidFill>
            <a:srgbClr val="14304F"/>
          </a:solidFill>
          <a:ln w="12700">
            <a:solidFill>
              <a:srgbClr val="14304F"/>
            </a:solidFill>
            <a:prstDash val="solid"/>
          </a:ln>
        </p:spPr>
      </p:sp>
      <p:sp>
        <p:nvSpPr>
          <p:cNvPr id="12" name="Text 10"/>
          <p:cNvSpPr txBox="1"/>
          <p:nvPr/>
        </p:nvSpPr>
        <p:spPr>
          <a:xfrm>
            <a:off x="6812280" y="3794760"/>
            <a:ext cx="4599432" cy="21031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Viser 4 % impose de prendre du risque ; limiter la perte à 15 % en interdit trop. </a:t>
            </a:r>
            <a:pPr indent="0" marL="0">
              <a:buNone/>
            </a:pPr>
            <a:r>
              <a:rPr lang="en-US" sz="1600" b="1" dirty="0">
                <a:solidFill>
                  <a:srgbClr val="F5C969"/>
                </a:solidFill>
                <a:latin typeface="Calibri" pitchFamily="34" charset="0"/>
                <a:ea typeface="Calibri" pitchFamily="34" charset="-122"/>
                <a:cs typeface="Calibri" pitchFamily="34" charset="-120"/>
              </a:rPr>
              <a:t>Tout l'exercice : trouver un portefeuille qui tient les deux à la fois.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démarche : cinq étapes, chacune nourrit la suivante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processus d'un fonds multi-actifs : du plus général au plus détaillé, puis vérification sur le passé</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48640" y="2011680"/>
            <a:ext cx="2011680" cy="3383280"/>
          </a:xfrm>
          <a:prstGeom prst="roundRect">
            <a:avLst>
              <a:gd name="adj" fmla="val 3636"/>
            </a:avLst>
          </a:prstGeom>
          <a:solidFill>
            <a:srgbClr val="F2F5F9"/>
          </a:solidFill>
          <a:ln w="12700">
            <a:solidFill>
              <a:srgbClr val="F2F5F9"/>
            </a:solidFill>
            <a:prstDash val="solid"/>
          </a:ln>
        </p:spPr>
      </p:sp>
      <p:sp>
        <p:nvSpPr>
          <p:cNvPr id="6" name="Shape 4"/>
          <p:cNvSpPr/>
          <p:nvPr/>
        </p:nvSpPr>
        <p:spPr>
          <a:xfrm>
            <a:off x="731520" y="2194560"/>
            <a:ext cx="566928" cy="566928"/>
          </a:xfrm>
          <a:prstGeom prst="ellipse">
            <a:avLst/>
          </a:prstGeom>
          <a:solidFill>
            <a:srgbClr val="14304F"/>
          </a:solidFill>
          <a:ln w="12700">
            <a:solidFill>
              <a:srgbClr val="14304F"/>
            </a:solidFill>
            <a:prstDash val="solid"/>
          </a:ln>
        </p:spPr>
      </p:sp>
      <p:sp>
        <p:nvSpPr>
          <p:cNvPr id="7" name="Text 5"/>
          <p:cNvSpPr txBox="1"/>
          <p:nvPr/>
        </p:nvSpPr>
        <p:spPr>
          <a:xfrm>
            <a:off x="731520"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txBox="1"/>
          <p:nvPr/>
        </p:nvSpPr>
        <p:spPr>
          <a:xfrm>
            <a:off x="731520"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Paramètres</a:t>
            </a:r>
            <a:endParaRPr lang="en-US" sz="1800" dirty="0"/>
          </a:p>
        </p:txBody>
      </p:sp>
      <p:sp>
        <p:nvSpPr>
          <p:cNvPr id="9" name="Text 7"/>
          <p:cNvSpPr txBox="1"/>
          <p:nvPr/>
        </p:nvSpPr>
        <p:spPr>
          <a:xfrm>
            <a:off x="731520"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Que demande le client ?</a:t>
            </a:r>
            <a:endParaRPr lang="en-US" sz="1400" dirty="0"/>
          </a:p>
        </p:txBody>
      </p:sp>
      <p:sp>
        <p:nvSpPr>
          <p:cNvPr id="10" name="Text 8"/>
          <p:cNvSpPr txBox="1"/>
          <p:nvPr/>
        </p:nvSpPr>
        <p:spPr>
          <a:xfrm>
            <a:off x="731520"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Contraintes et hypothèses</a:t>
            </a:r>
            <a:endParaRPr lang="en-US" sz="1300" dirty="0"/>
          </a:p>
        </p:txBody>
      </p:sp>
      <p:sp>
        <p:nvSpPr>
          <p:cNvPr id="11" name="Shape 9"/>
          <p:cNvSpPr/>
          <p:nvPr/>
        </p:nvSpPr>
        <p:spPr>
          <a:xfrm>
            <a:off x="2798064" y="2011680"/>
            <a:ext cx="2011680" cy="3383280"/>
          </a:xfrm>
          <a:prstGeom prst="roundRect">
            <a:avLst>
              <a:gd name="adj" fmla="val 3636"/>
            </a:avLst>
          </a:prstGeom>
          <a:solidFill>
            <a:srgbClr val="F2F5F9"/>
          </a:solidFill>
          <a:ln w="12700">
            <a:solidFill>
              <a:srgbClr val="F2F5F9"/>
            </a:solidFill>
            <a:prstDash val="solid"/>
          </a:ln>
        </p:spPr>
      </p:sp>
      <p:sp>
        <p:nvSpPr>
          <p:cNvPr id="12" name="Shape 10"/>
          <p:cNvSpPr/>
          <p:nvPr/>
        </p:nvSpPr>
        <p:spPr>
          <a:xfrm>
            <a:off x="2980944" y="2194560"/>
            <a:ext cx="566928" cy="566928"/>
          </a:xfrm>
          <a:prstGeom prst="ellipse">
            <a:avLst/>
          </a:prstGeom>
          <a:solidFill>
            <a:srgbClr val="14304F"/>
          </a:solidFill>
          <a:ln w="12700">
            <a:solidFill>
              <a:srgbClr val="14304F"/>
            </a:solidFill>
            <a:prstDash val="solid"/>
          </a:ln>
        </p:spPr>
      </p:sp>
      <p:sp>
        <p:nvSpPr>
          <p:cNvPr id="13" name="Text 11"/>
          <p:cNvSpPr txBox="1"/>
          <p:nvPr/>
        </p:nvSpPr>
        <p:spPr>
          <a:xfrm>
            <a:off x="2980944"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2"/>
          <p:cNvSpPr txBox="1"/>
          <p:nvPr/>
        </p:nvSpPr>
        <p:spPr>
          <a:xfrm>
            <a:off x="2980944"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Macro</a:t>
            </a:r>
            <a:endParaRPr lang="en-US" sz="1800" dirty="0"/>
          </a:p>
        </p:txBody>
      </p:sp>
      <p:sp>
        <p:nvSpPr>
          <p:cNvPr id="15" name="Text 13"/>
          <p:cNvSpPr txBox="1"/>
          <p:nvPr/>
        </p:nvSpPr>
        <p:spPr>
          <a:xfrm>
            <a:off x="2980944"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Où en est l'économie ?</a:t>
            </a:r>
            <a:endParaRPr lang="en-US" sz="1400" dirty="0"/>
          </a:p>
        </p:txBody>
      </p:sp>
      <p:sp>
        <p:nvSpPr>
          <p:cNvPr id="16" name="Text 14"/>
          <p:cNvSpPr txBox="1"/>
          <p:nvPr/>
        </p:nvSpPr>
        <p:spPr>
          <a:xfrm>
            <a:off x="2980944"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rendement espéré par classe</a:t>
            </a:r>
            <a:endParaRPr lang="en-US" sz="1300" dirty="0"/>
          </a:p>
        </p:txBody>
      </p:sp>
      <p:sp>
        <p:nvSpPr>
          <p:cNvPr id="17" name="Shape 15"/>
          <p:cNvSpPr/>
          <p:nvPr/>
        </p:nvSpPr>
        <p:spPr>
          <a:xfrm>
            <a:off x="5047488" y="2011680"/>
            <a:ext cx="2011680" cy="3383280"/>
          </a:xfrm>
          <a:prstGeom prst="roundRect">
            <a:avLst>
              <a:gd name="adj" fmla="val 3636"/>
            </a:avLst>
          </a:prstGeom>
          <a:solidFill>
            <a:srgbClr val="F2F5F9"/>
          </a:solidFill>
          <a:ln w="12700">
            <a:solidFill>
              <a:srgbClr val="F2F5F9"/>
            </a:solidFill>
            <a:prstDash val="solid"/>
          </a:ln>
        </p:spPr>
      </p:sp>
      <p:sp>
        <p:nvSpPr>
          <p:cNvPr id="18" name="Shape 16"/>
          <p:cNvSpPr/>
          <p:nvPr/>
        </p:nvSpPr>
        <p:spPr>
          <a:xfrm>
            <a:off x="5230368" y="2194560"/>
            <a:ext cx="566928" cy="566928"/>
          </a:xfrm>
          <a:prstGeom prst="ellipse">
            <a:avLst/>
          </a:prstGeom>
          <a:solidFill>
            <a:srgbClr val="14304F"/>
          </a:solidFill>
          <a:ln w="12700">
            <a:solidFill>
              <a:srgbClr val="14304F"/>
            </a:solidFill>
            <a:prstDash val="solid"/>
          </a:ln>
        </p:spPr>
      </p:sp>
      <p:sp>
        <p:nvSpPr>
          <p:cNvPr id="19" name="Text 17"/>
          <p:cNvSpPr txBox="1"/>
          <p:nvPr/>
        </p:nvSpPr>
        <p:spPr>
          <a:xfrm>
            <a:off x="5230368"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txBox="1"/>
          <p:nvPr/>
        </p:nvSpPr>
        <p:spPr>
          <a:xfrm>
            <a:off x="5230368"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Ligne à ligne</a:t>
            </a:r>
            <a:endParaRPr lang="en-US" sz="1800" dirty="0"/>
          </a:p>
        </p:txBody>
      </p:sp>
      <p:sp>
        <p:nvSpPr>
          <p:cNvPr id="21" name="Text 19"/>
          <p:cNvSpPr txBox="1"/>
          <p:nvPr/>
        </p:nvSpPr>
        <p:spPr>
          <a:xfrm>
            <a:off x="5230368"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Dans quoi investir ?</a:t>
            </a:r>
            <a:endParaRPr lang="en-US" sz="1400" dirty="0"/>
          </a:p>
        </p:txBody>
      </p:sp>
      <p:sp>
        <p:nvSpPr>
          <p:cNvPr id="22" name="Text 20"/>
          <p:cNvSpPr txBox="1"/>
          <p:nvPr/>
        </p:nvSpPr>
        <p:spPr>
          <a:xfrm>
            <a:off x="5230368"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support par classe</a:t>
            </a:r>
            <a:endParaRPr lang="en-US" sz="1300" dirty="0"/>
          </a:p>
        </p:txBody>
      </p:sp>
      <p:sp>
        <p:nvSpPr>
          <p:cNvPr id="23" name="Shape 21"/>
          <p:cNvSpPr/>
          <p:nvPr/>
        </p:nvSpPr>
        <p:spPr>
          <a:xfrm>
            <a:off x="7296912" y="2011680"/>
            <a:ext cx="2011680" cy="3383280"/>
          </a:xfrm>
          <a:prstGeom prst="roundRect">
            <a:avLst>
              <a:gd name="adj" fmla="val 3636"/>
            </a:avLst>
          </a:prstGeom>
          <a:solidFill>
            <a:srgbClr val="F2F5F9"/>
          </a:solidFill>
          <a:ln w="12700">
            <a:solidFill>
              <a:srgbClr val="F2F5F9"/>
            </a:solidFill>
            <a:prstDash val="solid"/>
          </a:ln>
        </p:spPr>
      </p:sp>
      <p:sp>
        <p:nvSpPr>
          <p:cNvPr id="24" name="Shape 22"/>
          <p:cNvSpPr/>
          <p:nvPr/>
        </p:nvSpPr>
        <p:spPr>
          <a:xfrm>
            <a:off x="7479792" y="2194560"/>
            <a:ext cx="566928" cy="566928"/>
          </a:xfrm>
          <a:prstGeom prst="ellipse">
            <a:avLst/>
          </a:prstGeom>
          <a:solidFill>
            <a:srgbClr val="14304F"/>
          </a:solidFill>
          <a:ln w="12700">
            <a:solidFill>
              <a:srgbClr val="14304F"/>
            </a:solidFill>
            <a:prstDash val="solid"/>
          </a:ln>
        </p:spPr>
      </p:sp>
      <p:sp>
        <p:nvSpPr>
          <p:cNvPr id="25" name="Text 23"/>
          <p:cNvSpPr txBox="1"/>
          <p:nvPr/>
        </p:nvSpPr>
        <p:spPr>
          <a:xfrm>
            <a:off x="7479792"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4"/>
          <p:cNvSpPr txBox="1"/>
          <p:nvPr/>
        </p:nvSpPr>
        <p:spPr>
          <a:xfrm>
            <a:off x="7479792"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Allocation</a:t>
            </a:r>
            <a:endParaRPr lang="en-US" sz="1800" dirty="0"/>
          </a:p>
        </p:txBody>
      </p:sp>
      <p:sp>
        <p:nvSpPr>
          <p:cNvPr id="27" name="Text 25"/>
          <p:cNvSpPr txBox="1"/>
          <p:nvPr/>
        </p:nvSpPr>
        <p:spPr>
          <a:xfrm>
            <a:off x="7479792"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Combien sur chacun ?</a:t>
            </a:r>
            <a:endParaRPr lang="en-US" sz="1400" dirty="0"/>
          </a:p>
        </p:txBody>
      </p:sp>
      <p:sp>
        <p:nvSpPr>
          <p:cNvPr id="28" name="Text 26"/>
          <p:cNvSpPr txBox="1"/>
          <p:nvPr/>
        </p:nvSpPr>
        <p:spPr>
          <a:xfrm>
            <a:off x="7479792"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Le portefeuille en M€</a:t>
            </a:r>
            <a:endParaRPr lang="en-US" sz="1300" dirty="0"/>
          </a:p>
        </p:txBody>
      </p:sp>
      <p:sp>
        <p:nvSpPr>
          <p:cNvPr id="29" name="Shape 27"/>
          <p:cNvSpPr/>
          <p:nvPr/>
        </p:nvSpPr>
        <p:spPr>
          <a:xfrm>
            <a:off x="9546336" y="2011680"/>
            <a:ext cx="2011680" cy="3383280"/>
          </a:xfrm>
          <a:prstGeom prst="roundRect">
            <a:avLst>
              <a:gd name="adj" fmla="val 3636"/>
            </a:avLst>
          </a:prstGeom>
          <a:solidFill>
            <a:srgbClr val="F2F5F9"/>
          </a:solidFill>
          <a:ln w="12700">
            <a:solidFill>
              <a:srgbClr val="F2F5F9"/>
            </a:solidFill>
            <a:prstDash val="solid"/>
          </a:ln>
        </p:spPr>
      </p:sp>
      <p:sp>
        <p:nvSpPr>
          <p:cNvPr id="30" name="Shape 28"/>
          <p:cNvSpPr/>
          <p:nvPr/>
        </p:nvSpPr>
        <p:spPr>
          <a:xfrm>
            <a:off x="9729216" y="2194560"/>
            <a:ext cx="566928" cy="566928"/>
          </a:xfrm>
          <a:prstGeom prst="ellipse">
            <a:avLst/>
          </a:prstGeom>
          <a:solidFill>
            <a:srgbClr val="14304F"/>
          </a:solidFill>
          <a:ln w="12700">
            <a:solidFill>
              <a:srgbClr val="14304F"/>
            </a:solidFill>
            <a:prstDash val="solid"/>
          </a:ln>
        </p:spPr>
      </p:sp>
      <p:sp>
        <p:nvSpPr>
          <p:cNvPr id="31" name="Text 29"/>
          <p:cNvSpPr txBox="1"/>
          <p:nvPr/>
        </p:nvSpPr>
        <p:spPr>
          <a:xfrm>
            <a:off x="9729216"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32" name="Text 30"/>
          <p:cNvSpPr txBox="1"/>
          <p:nvPr/>
        </p:nvSpPr>
        <p:spPr>
          <a:xfrm>
            <a:off x="9729216"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Backtests</a:t>
            </a:r>
            <a:endParaRPr lang="en-US" sz="1800" dirty="0"/>
          </a:p>
        </p:txBody>
      </p:sp>
      <p:sp>
        <p:nvSpPr>
          <p:cNvPr id="33" name="Text 31"/>
          <p:cNvSpPr txBox="1"/>
          <p:nvPr/>
        </p:nvSpPr>
        <p:spPr>
          <a:xfrm>
            <a:off x="9729216"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Aurait-il tenu ?</a:t>
            </a:r>
            <a:endParaRPr lang="en-US" sz="1400" dirty="0"/>
          </a:p>
        </p:txBody>
      </p:sp>
      <p:sp>
        <p:nvSpPr>
          <p:cNvPr id="34" name="Text 32"/>
          <p:cNvSpPr txBox="1"/>
          <p:nvPr/>
        </p:nvSpPr>
        <p:spPr>
          <a:xfrm>
            <a:off x="9729216"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Durée des baisses, mauvaise année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1</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Paramètres d'entrée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dit l'énoncé, ce qu'il révèle du client, et ce qu'il laisse ouvert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chaque ligne de l'énoncé veut dire</a:t>
            </a:r>
            <a:endParaRPr lang="en-US" sz="2600" dirty="0"/>
          </a:p>
        </p:txBody>
      </p:sp>
      <p:sp>
        <p:nvSpPr>
          <p:cNvPr id="15" name="Text 1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16" name="Shape 14"/>
          <p:cNvSpPr/>
          <p:nvPr/>
        </p:nvSpPr>
        <p:spPr>
          <a:xfrm>
            <a:off x="548640" y="1371600"/>
            <a:ext cx="5440680" cy="1417320"/>
          </a:xfrm>
          <a:prstGeom prst="roundRect">
            <a:avLst>
              <a:gd name="adj" fmla="val 5161"/>
            </a:avLst>
          </a:prstGeom>
          <a:solidFill>
            <a:srgbClr val="F2F5F9"/>
          </a:solidFill>
          <a:ln w="12700">
            <a:solidFill>
              <a:srgbClr val="F2F5F9"/>
            </a:solidFill>
            <a:prstDash val="solid"/>
          </a:ln>
        </p:spPr>
      </p:sp>
      <p:sp>
        <p:nvSpPr>
          <p:cNvPr id="17" name="Text 15"/>
          <p:cNvSpPr txBox="1"/>
          <p:nvPr/>
        </p:nvSpPr>
        <p:spPr>
          <a:xfrm>
            <a:off x="77724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10 M€ sous deux ans</a:t>
            </a:r>
            <a:endParaRPr lang="en-US" sz="1600" dirty="0"/>
          </a:p>
        </p:txBody>
      </p:sp>
      <p:sp>
        <p:nvSpPr>
          <p:cNvPr id="18" name="Text 16"/>
          <p:cNvSpPr txBox="1"/>
          <p:nvPr/>
        </p:nvSpPr>
        <p:spPr>
          <a:xfrm>
            <a:off x="77724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 décaissement quasi certain : cet argent ne doit pas être exposé au risque.</a:t>
            </a:r>
            <a:endParaRPr lang="en-US" sz="1350" dirty="0"/>
          </a:p>
        </p:txBody>
      </p:sp>
      <p:sp>
        <p:nvSpPr>
          <p:cNvPr id="19" name="Shape 17"/>
          <p:cNvSpPr/>
          <p:nvPr/>
        </p:nvSpPr>
        <p:spPr>
          <a:xfrm>
            <a:off x="6172200" y="1371600"/>
            <a:ext cx="5440680" cy="1417320"/>
          </a:xfrm>
          <a:prstGeom prst="roundRect">
            <a:avLst>
              <a:gd name="adj" fmla="val 5161"/>
            </a:avLst>
          </a:prstGeom>
          <a:solidFill>
            <a:srgbClr val="F2F5F9"/>
          </a:solidFill>
          <a:ln w="12700">
            <a:solidFill>
              <a:srgbClr val="F2F5F9"/>
            </a:solidFill>
            <a:prstDash val="solid"/>
          </a:ln>
        </p:spPr>
      </p:sp>
      <p:sp>
        <p:nvSpPr>
          <p:cNvPr id="20" name="Text 18"/>
          <p:cNvSpPr txBox="1"/>
          <p:nvPr/>
        </p:nvSpPr>
        <p:spPr>
          <a:xfrm>
            <a:off x="640080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Inflation de 4 %</a:t>
            </a:r>
            <a:endParaRPr lang="en-US" sz="1600" dirty="0"/>
          </a:p>
        </p:txBody>
      </p:sp>
      <p:sp>
        <p:nvSpPr>
          <p:cNvPr id="21" name="Text 19"/>
          <p:cNvSpPr txBox="1"/>
          <p:nvPr/>
        </p:nvSpPr>
        <p:spPr>
          <a:xfrm>
            <a:off x="640080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L'objectif n'est pas de s'enrichir mais de ne pas s'appauvrir : 4 % est le seuil à battre.</a:t>
            </a:r>
            <a:endParaRPr lang="en-US" sz="1350" dirty="0"/>
          </a:p>
        </p:txBody>
      </p:sp>
      <p:sp>
        <p:nvSpPr>
          <p:cNvPr id="22" name="Shape 20"/>
          <p:cNvSpPr/>
          <p:nvPr/>
        </p:nvSpPr>
        <p:spPr>
          <a:xfrm>
            <a:off x="548640" y="2971800"/>
            <a:ext cx="5440680" cy="1417320"/>
          </a:xfrm>
          <a:prstGeom prst="roundRect">
            <a:avLst>
              <a:gd name="adj" fmla="val 5161"/>
            </a:avLst>
          </a:prstGeom>
          <a:solidFill>
            <a:srgbClr val="F2F5F9"/>
          </a:solidFill>
          <a:ln w="12700">
            <a:solidFill>
              <a:srgbClr val="F2F5F9"/>
            </a:solidFill>
            <a:prstDash val="solid"/>
          </a:ln>
        </p:spPr>
      </p:sp>
      <p:sp>
        <p:nvSpPr>
          <p:cNvPr id="23" name="Text 21"/>
          <p:cNvSpPr txBox="1"/>
          <p:nvPr/>
        </p:nvSpPr>
        <p:spPr>
          <a:xfrm>
            <a:off x="77724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Jamais −15 %</a:t>
            </a:r>
            <a:endParaRPr lang="en-US" sz="1600" dirty="0"/>
          </a:p>
        </p:txBody>
      </p:sp>
      <p:sp>
        <p:nvSpPr>
          <p:cNvPr id="24" name="Text 22"/>
          <p:cNvSpPr txBox="1"/>
          <p:nvPr/>
        </p:nvSpPr>
        <p:spPr>
          <a:xfrm>
            <a:off x="77724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La limite de risque. C'est elle qui fixe la part d'actifs risqués, donc le rendement possible.</a:t>
            </a:r>
            <a:endParaRPr lang="en-US" sz="1350" dirty="0"/>
          </a:p>
        </p:txBody>
      </p:sp>
      <p:sp>
        <p:nvSpPr>
          <p:cNvPr id="25" name="Shape 23"/>
          <p:cNvSpPr/>
          <p:nvPr/>
        </p:nvSpPr>
        <p:spPr>
          <a:xfrm>
            <a:off x="6172200" y="2971800"/>
            <a:ext cx="5440680" cy="1417320"/>
          </a:xfrm>
          <a:prstGeom prst="roundRect">
            <a:avLst>
              <a:gd name="adj" fmla="val 5161"/>
            </a:avLst>
          </a:prstGeom>
          <a:solidFill>
            <a:srgbClr val="F2F5F9"/>
          </a:solidFill>
          <a:ln w="12700">
            <a:solidFill>
              <a:srgbClr val="F2F5F9"/>
            </a:solidFill>
            <a:prstDash val="solid"/>
          </a:ln>
        </p:spPr>
      </p:sp>
      <p:sp>
        <p:nvSpPr>
          <p:cNvPr id="26" name="Text 24"/>
          <p:cNvSpPr txBox="1"/>
          <p:nvPr/>
        </p:nvSpPr>
        <p:spPr>
          <a:xfrm>
            <a:off x="640080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Tabac, armement, charbon</a:t>
            </a:r>
            <a:endParaRPr lang="en-US" sz="1600" dirty="0"/>
          </a:p>
        </p:txBody>
      </p:sp>
      <p:sp>
        <p:nvSpPr>
          <p:cNvPr id="27" name="Text 25"/>
          <p:cNvSpPr txBox="1"/>
          <p:nvPr/>
        </p:nvSpPr>
        <p:spPr>
          <a:xfrm>
            <a:off x="640080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Des convictions qui réduisent l'univers d'entreprises ; États et or ne sont pas concernés.</a:t>
            </a:r>
            <a:endParaRPr lang="en-US" sz="1350" dirty="0"/>
          </a:p>
        </p:txBody>
      </p:sp>
      <p:sp>
        <p:nvSpPr>
          <p:cNvPr id="28" name="Shape 26"/>
          <p:cNvSpPr/>
          <p:nvPr/>
        </p:nvSpPr>
        <p:spPr>
          <a:xfrm>
            <a:off x="548640" y="4572000"/>
            <a:ext cx="5440680" cy="1417320"/>
          </a:xfrm>
          <a:prstGeom prst="roundRect">
            <a:avLst>
              <a:gd name="adj" fmla="val 5161"/>
            </a:avLst>
          </a:prstGeom>
          <a:solidFill>
            <a:srgbClr val="F2F5F9"/>
          </a:solidFill>
          <a:ln w="12700">
            <a:solidFill>
              <a:srgbClr val="F2F5F9"/>
            </a:solidFill>
            <a:prstDash val="solid"/>
          </a:ln>
        </p:spPr>
      </p:sp>
      <p:sp>
        <p:nvSpPr>
          <p:cNvPr id="29" name="Text 27"/>
          <p:cNvSpPr txBox="1"/>
          <p:nvPr/>
        </p:nvSpPr>
        <p:spPr>
          <a:xfrm>
            <a:off x="77724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Crypto</a:t>
            </a:r>
            <a:endParaRPr lang="en-US" sz="1600" dirty="0"/>
          </a:p>
        </p:txBody>
      </p:sp>
      <p:sp>
        <p:nvSpPr>
          <p:cNvPr id="30" name="Text 28"/>
          <p:cNvSpPr txBox="1"/>
          <p:nvPr/>
        </p:nvSpPr>
        <p:spPr>
          <a:xfrm>
            <a:off x="77724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Une question familiale autant que financière : une petite poche, ou rien.</a:t>
            </a:r>
            <a:endParaRPr lang="en-US" sz="1350" dirty="0"/>
          </a:p>
        </p:txBody>
      </p:sp>
      <p:sp>
        <p:nvSpPr>
          <p:cNvPr id="31" name="Shape 29"/>
          <p:cNvSpPr/>
          <p:nvPr/>
        </p:nvSpPr>
        <p:spPr>
          <a:xfrm>
            <a:off x="6172200" y="4572000"/>
            <a:ext cx="5440680" cy="1417320"/>
          </a:xfrm>
          <a:prstGeom prst="roundRect">
            <a:avLst>
              <a:gd name="adj" fmla="val 5161"/>
            </a:avLst>
          </a:prstGeom>
          <a:solidFill>
            <a:srgbClr val="F2F5F9"/>
          </a:solidFill>
          <a:ln w="12700">
            <a:solidFill>
              <a:srgbClr val="F2F5F9"/>
            </a:solidFill>
            <a:prstDash val="solid"/>
          </a:ln>
        </p:spPr>
      </p:sp>
      <p:sp>
        <p:nvSpPr>
          <p:cNvPr id="32" name="Text 30"/>
          <p:cNvSpPr txBox="1"/>
          <p:nvPr/>
        </p:nvSpPr>
        <p:spPr>
          <a:xfrm>
            <a:off x="640080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Inquiet Europe et États-Unis</a:t>
            </a:r>
            <a:endParaRPr lang="en-US" sz="1600" dirty="0"/>
          </a:p>
        </p:txBody>
      </p:sp>
      <p:sp>
        <p:nvSpPr>
          <p:cNvPr id="33" name="Text 31"/>
          <p:cNvSpPr txBox="1"/>
          <p:nvPr/>
        </p:nvSpPr>
        <p:spPr>
          <a:xfrm>
            <a:off x="640080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Pas de zone refuge : vraie diversification, et des actifs indépendants de toute économie, comme l'or.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Questions ouvertes et hypothèses de travail</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questions à poser à M. Lauren ; faute de réponse, on retient la lecture la plus exigeante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572000"/>
                <a:gridCol w="6522415"/>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 laissée ouverte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Hypothèse retenue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15 % : mesurés comment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Depuis le plus haut jamais atteint, sur les 100 M€ ensemble, en euros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 Jamais » : sur quelles crises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Tenir au pire cas historique : 2008, 2011, 2020, 2022</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10 M€ : quand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Quatre versements de 2,5 M€, dans 6, 12, 18 et 24 mois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L'inflation à 4 % : prévision ou prudence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Une donnée du problème : le seuil à battre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La crypto : combien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Aucune (elle ne rapporte rien et baisse avec les actions, étape 4)</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Quels supports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Particulier français : fonds européens (UCITS) uniquement</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2</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Macro top-down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le marché paie aujourd'hui, où en est le cycle, et ce qu'on peut attendre de chaque classe d'actifs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Aucune obligation classique ne bat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Ce que rapportent aujourd'hui les placements de taux, ramenés en euros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Relevé du 18/09/2026 · BCE, FRED, fiches iShares · * rendement avant défauts, un plafond · couverture de change ≈ 1,70 % par an</a:t>
            </a:r>
            <a:endParaRPr lang="en-US" sz="850" dirty="0"/>
          </a:p>
        </p:txBody>
      </p:sp>
      <p:graphicFrame>
        <p:nvGraphicFramePr>
          <p:cNvPr id="18" name="Chart 0" descr=""/>
          <p:cNvGraphicFramePr/>
          <p:nvPr/>
        </p:nvGraphicFramePr>
        <p:xfrm>
          <a:off x="548640" y="137160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772400" y="1463040"/>
            <a:ext cx="3886200" cy="301752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Monétaire 2,44 %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sans risque, mais le pouvoir d'achat recule</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États zone euro 3,77 %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sous le seuil</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Trésor US 5,01 %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mais 3,31 % une fois le change couvert</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Indexées ≈ 5,43 %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les seules qui suivent l'inflation par construction</a:t>
            </a:r>
            <a:endParaRPr lang="en-US" sz="1400" dirty="0"/>
          </a:p>
        </p:txBody>
      </p:sp>
      <p:sp>
        <p:nvSpPr>
          <p:cNvPr id="20" name="Shape 17"/>
          <p:cNvSpPr/>
          <p:nvPr/>
        </p:nvSpPr>
        <p:spPr>
          <a:xfrm>
            <a:off x="7772400" y="4572000"/>
            <a:ext cx="3886200" cy="1645920"/>
          </a:xfrm>
          <a:prstGeom prst="roundRect">
            <a:avLst>
              <a:gd name="adj" fmla="val 4444"/>
            </a:avLst>
          </a:prstGeom>
          <a:solidFill>
            <a:srgbClr val="14304F"/>
          </a:solidFill>
          <a:ln w="12700">
            <a:solidFill>
              <a:srgbClr val="14304F"/>
            </a:solidFill>
            <a:prstDash val="solid"/>
          </a:ln>
        </p:spPr>
      </p:sp>
      <p:sp>
        <p:nvSpPr>
          <p:cNvPr id="21" name="Text 18"/>
          <p:cNvSpPr txBox="1"/>
          <p:nvPr/>
        </p:nvSpPr>
        <p:spPr>
          <a:xfrm>
            <a:off x="8001000" y="4709160"/>
            <a:ext cx="34290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Pour le reste de l'objectif, il faudra des actifs dont le rendement n'est </a:t>
            </a:r>
            <a:pPr indent="0" marL="0">
              <a:buNone/>
            </a:pPr>
            <a:r>
              <a:rPr lang="en-US" sz="1400" b="1" dirty="0">
                <a:solidFill>
                  <a:srgbClr val="F5C969"/>
                </a:solidFill>
                <a:latin typeface="Calibri" pitchFamily="34" charset="0"/>
                <a:ea typeface="Calibri" pitchFamily="34" charset="-122"/>
                <a:cs typeface="Calibri" pitchFamily="34" charset="-120"/>
              </a:rPr>
              <a:t>pas fixé d'avance</a:t>
            </a:r>
            <a:pPr indent="0" marL="0">
              <a:buNone/>
            </a:pPr>
            <a:r>
              <a:rPr lang="en-US" sz="1400" dirty="0">
                <a:solidFill>
                  <a:srgbClr val="FFFFFF"/>
                </a:solidFill>
                <a:latin typeface="Calibri" pitchFamily="34" charset="0"/>
                <a:ea typeface="Calibri" pitchFamily="34" charset="-122"/>
                <a:cs typeface="Calibri" pitchFamily="34" charset="-120"/>
              </a:rPr>
              <a:t> : actions, actifs réels.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cycle : un choc d'inflation venu de l'énergie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banques centrales qui resserrent : le scénario que redoute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BCE, Eurostat, FMI, OCDE · relevé du 18/09/2026 · « avant » : six mois plus tôt (un an pour la croissance)</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743200"/>
                <a:gridCol w="2240280"/>
                <a:gridCol w="2240280"/>
              </a:tblGrid>
              <a:tr h="47548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États-Unis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Croissance (PIB sur un an)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2,1 % →  (avant 2,1 %)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1,2 % ↘  (avant 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Chômage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4,1 % ↘  (avant 4,4 %)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6,4 % →  (avant 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totale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3,7 %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3,3 % ↗  (avant 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hors énergie et alim.</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2,4 % →  (avant 2,4 %)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de la banque centrale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3,63 % →  (avant 3,64 %)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2,50 % ↗  (avant 2,00 %)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2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4,74 % ↗  (avant 3,68 %)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3,17 % ↗  (avant 2,34 %)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5,01 % ↗  (avant 4,23 %)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3,53 % ↗  (avant 2,99 %)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092440" y="1463040"/>
            <a:ext cx="3566160" cy="274320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 totale en hausse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(1,9 % → 3,3 % en zone euro),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sous-jacente stable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c'est l'énergie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BCE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déjà remontée à 2,50 % ; le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2 ans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annonce d'autres hausses</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3,9 % de croissance, mais la Chine ralentit quand l'Inde accélère</a:t>
            </a:r>
            <a:endParaRPr lang="en-US" sz="1350" dirty="0"/>
          </a:p>
        </p:txBody>
      </p:sp>
      <p:sp>
        <p:nvSpPr>
          <p:cNvPr id="20" name="Shape 17"/>
          <p:cNvSpPr/>
          <p:nvPr/>
        </p:nvSpPr>
        <p:spPr>
          <a:xfrm>
            <a:off x="8092440" y="4434840"/>
            <a:ext cx="3566160" cy="1783080"/>
          </a:xfrm>
          <a:prstGeom prst="roundRect">
            <a:avLst>
              <a:gd name="adj" fmla="val 4103"/>
            </a:avLst>
          </a:prstGeom>
          <a:solidFill>
            <a:srgbClr val="14304F"/>
          </a:solidFill>
          <a:ln w="12700">
            <a:solidFill>
              <a:srgbClr val="14304F"/>
            </a:solidFill>
            <a:prstDash val="solid"/>
          </a:ln>
        </p:spPr>
      </p:sp>
      <p:sp>
        <p:nvSpPr>
          <p:cNvPr id="21" name="Text 18"/>
          <p:cNvSpPr txBox="1"/>
          <p:nvPr/>
        </p:nvSpPr>
        <p:spPr>
          <a:xfrm>
            <a:off x="8321040" y="4572000"/>
            <a:ext cx="3108960" cy="1508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À surveiller : si l'inflation </a:t>
            </a:r>
            <a:pPr indent="0" marL="0">
              <a:buNone/>
            </a:pPr>
            <a:r>
              <a:rPr lang="en-US" sz="1400" b="1" dirty="0">
                <a:solidFill>
                  <a:srgbClr val="F5C969"/>
                </a:solidFill>
                <a:latin typeface="Calibri" pitchFamily="34" charset="0"/>
                <a:ea typeface="Calibri" pitchFamily="34" charset="-122"/>
                <a:cs typeface="Calibri" pitchFamily="34" charset="-120"/>
              </a:rPr>
              <a:t>hors énergie</a:t>
            </a:r>
            <a:pPr indent="0" marL="0">
              <a:buNone/>
            </a:pPr>
            <a:r>
              <a:rPr lang="en-US" sz="1400" dirty="0">
                <a:solidFill>
                  <a:srgbClr val="FFFFFF"/>
                </a:solidFill>
                <a:latin typeface="Calibri" pitchFamily="34" charset="0"/>
                <a:ea typeface="Calibri" pitchFamily="34" charset="-122"/>
                <a:cs typeface="Calibri" pitchFamily="34" charset="-120"/>
              </a:rPr>
              <a:t> se met à monter, le choc s'installe.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n'a presque jamais été aussi mal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prime de crédit : ce qu'une entreprise paie de plus qu'un État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 Moody's Baa (depuis 1986), ICE BofA US High Yield (depuis 2010) · moyennes trimestrielles</a:t>
            </a:r>
            <a:endParaRPr lang="en-US" sz="850" dirty="0"/>
          </a:p>
        </p:txBody>
      </p:sp>
      <p:graphicFrame>
        <p:nvGraphicFramePr>
          <p:cNvPr id="18" name="Chart 0" descr=""/>
          <p:cNvGraphicFramePr/>
          <p:nvPr/>
        </p:nvGraphicFramePr>
        <p:xfrm>
          <a:off x="548640" y="1371600"/>
          <a:ext cx="704088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955280" y="1463040"/>
            <a:ext cx="365760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2 % du temps</a:t>
            </a:r>
            <a:endParaRPr lang="en-US" sz="3200" dirty="0"/>
          </a:p>
        </p:txBody>
      </p:sp>
      <p:sp>
        <p:nvSpPr>
          <p:cNvPr id="20" name="Text 17"/>
          <p:cNvSpPr txBox="1"/>
          <p:nvPr/>
        </p:nvSpPr>
        <p:spPr>
          <a:xfrm>
            <a:off x="7955280" y="212140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la prime a été plus basse qu'aujourd'hui, en 40 ans</a:t>
            </a:r>
            <a:endParaRPr lang="en-US" sz="1200" dirty="0"/>
          </a:p>
        </p:txBody>
      </p:sp>
      <p:sp>
        <p:nvSpPr>
          <p:cNvPr id="21" name="Text 18"/>
          <p:cNvSpPr txBox="1"/>
          <p:nvPr/>
        </p:nvSpPr>
        <p:spPr>
          <a:xfrm>
            <a:off x="7955280" y="2743200"/>
            <a:ext cx="365760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−4,3 %</a:t>
            </a:r>
            <a:endParaRPr lang="en-US" sz="3200" dirty="0"/>
          </a:p>
        </p:txBody>
      </p:sp>
      <p:sp>
        <p:nvSpPr>
          <p:cNvPr id="22" name="Text 19"/>
          <p:cNvSpPr txBox="1"/>
          <p:nvPr/>
        </p:nvSpPr>
        <p:spPr>
          <a:xfrm>
            <a:off x="7955280" y="340156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pour le crédit euro si la prime remonte d'un point : plus d'un an de rendement</a:t>
            </a:r>
            <a:endParaRPr lang="en-US" sz="1200" dirty="0"/>
          </a:p>
        </p:txBody>
      </p:sp>
      <p:sp>
        <p:nvSpPr>
          <p:cNvPr id="23" name="Shape 20"/>
          <p:cNvSpPr/>
          <p:nvPr/>
        </p:nvSpPr>
        <p:spPr>
          <a:xfrm>
            <a:off x="7955280" y="4206240"/>
            <a:ext cx="3703320" cy="2011680"/>
          </a:xfrm>
          <a:prstGeom prst="roundRect">
            <a:avLst>
              <a:gd name="adj" fmla="val 3636"/>
            </a:avLst>
          </a:prstGeom>
          <a:solidFill>
            <a:srgbClr val="14304F"/>
          </a:solidFill>
          <a:ln w="12700">
            <a:solidFill>
              <a:srgbClr val="14304F"/>
            </a:solidFill>
            <a:prstDash val="solid"/>
          </a:ln>
        </p:spPr>
      </p:sp>
      <p:sp>
        <p:nvSpPr>
          <p:cNvPr id="24" name="Text 21"/>
          <p:cNvSpPr txBox="1"/>
          <p:nvPr/>
        </p:nvSpPr>
        <p:spPr>
          <a:xfrm>
            <a:off x="8183880" y="4343400"/>
            <a:ext cx="3246120" cy="17373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Peu à gagner, beaucoup à perdre. </a:t>
            </a:r>
            <a:pPr indent="0" marL="0">
              <a:buNone/>
            </a:pPr>
            <a:r>
              <a:rPr lang="en-US" sz="1400" b="1" dirty="0">
                <a:solidFill>
                  <a:srgbClr val="F5C969"/>
                </a:solidFill>
                <a:latin typeface="Calibri" pitchFamily="34" charset="0"/>
                <a:ea typeface="Calibri" pitchFamily="34" charset="-122"/>
                <a:cs typeface="Calibri" pitchFamily="34" charset="-120"/>
              </a:rPr>
              <a:t>Le crédit ne mérite pas d'être surpondéré</a:t>
            </a:r>
            <a:pPr indent="0" marL="0">
              <a:buNone/>
            </a:pPr>
            <a:r>
              <a:rPr lang="en-US" sz="1400" dirty="0">
                <a:solidFill>
                  <a:srgbClr val="FFFFFF"/>
                </a:solidFill>
                <a:latin typeface="Calibri" pitchFamily="34" charset="0"/>
                <a:ea typeface="Calibri" pitchFamily="34" charset="-122"/>
                <a:cs typeface="Calibri" pitchFamily="34" charset="-120"/>
              </a:rPr>
              <a:t> : qualité et durées courtes.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marchés confirment : l'énergie mène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Performance sur 12 mois, en euros — ce qu'aurait vécu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ETF cotés à Francfort en euros, dividendes réinvestis · relevé du 18/09/2026</a:t>
            </a:r>
            <a:endParaRPr lang="en-US" sz="850" dirty="0"/>
          </a:p>
        </p:txBody>
      </p:sp>
      <p:graphicFrame>
        <p:nvGraphicFramePr>
          <p:cNvPr id="18" name="Chart 0" descr=""/>
          <p:cNvGraphicFramePr/>
          <p:nvPr/>
        </p:nvGraphicFramePr>
        <p:xfrm>
          <a:off x="548640" y="1371600"/>
          <a:ext cx="475488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Chart 1" descr=""/>
          <p:cNvGraphicFramePr/>
          <p:nvPr/>
        </p:nvGraphicFramePr>
        <p:xfrm>
          <a:off x="5394960" y="1371600"/>
          <a:ext cx="3749040" cy="4937760"/>
        </p:xfrm>
        <a:graphic xmlns:a="http://schemas.openxmlformats.org/drawingml/2006/main">
          <a:graphicData uri="http://schemas.openxmlformats.org/drawingml/2006/chart">
            <c:chart xmlns:c="http://schemas.openxmlformats.org/drawingml/2006/chart" r:id="rId2"/>
          </a:graphicData>
        </a:graphic>
      </p:graphicFrame>
      <p:sp>
        <p:nvSpPr>
          <p:cNvPr id="20" name="Text 16"/>
          <p:cNvSpPr txBox="1"/>
          <p:nvPr/>
        </p:nvSpPr>
        <p:spPr>
          <a:xfrm>
            <a:off x="9326880" y="1463040"/>
            <a:ext cx="23317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Énergie +48 %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l'inflation vient de là</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Consommation −4 %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des ménages que l'énergie pénalise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Chine −15 %, Inde −10 %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les émergents se regardent pays par pays</a:t>
            </a:r>
            <a:endParaRPr lang="en-US" sz="1250" dirty="0"/>
          </a:p>
          <a:p>
            <a:pPr marL="203200" indent="-203200">
              <a:spcAft>
                <a:spcPts val="900"/>
              </a:spcAft>
              <a:buSzPct val="100000"/>
              <a:buChar char="•"/>
            </a:pPr>
            <a:r>
              <a:rPr lang="en-US" sz="1250" dirty="0">
                <a:solidFill>
                  <a:srgbClr val="1F2937"/>
                </a:solidFill>
                <a:latin typeface="Calibri" pitchFamily="34" charset="0"/>
                <a:ea typeface="Calibri" pitchFamily="34" charset="-122"/>
                <a:cs typeface="Calibri" pitchFamily="34" charset="-120"/>
              </a:rPr>
              <a:t>La dynamique dit </a:t>
            </a:r>
            <a:pPr indent="0" marL="0">
              <a:spcAft>
                <a:spcPts val="900"/>
              </a:spcAft>
              <a:buNone/>
            </a:pPr>
            <a:r>
              <a:rPr lang="en-US" sz="1250" b="1" dirty="0">
                <a:solidFill>
                  <a:srgbClr val="14304F"/>
                </a:solidFill>
                <a:latin typeface="Calibri" pitchFamily="34" charset="0"/>
                <a:ea typeface="Calibri" pitchFamily="34" charset="-122"/>
                <a:cs typeface="Calibri" pitchFamily="34" charset="-120"/>
              </a:rPr>
              <a:t>ce qui monte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pas ce qui est bon marché</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qu'on peut attendre de chaque classe d'actifs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annuel espéré sur dix ans, en euros, dans le monde de l'énoncé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Obligations : taux lus sur le marché · actions : 1/PER et dividende + croissance des bénéfices · or, matières premières : hypothèse · contrôle J.P. Morgan</a:t>
            </a:r>
            <a:endParaRPr lang="en-US" sz="850" dirty="0"/>
          </a:p>
        </p:txBody>
      </p:sp>
      <p:graphicFrame>
        <p:nvGraphicFramePr>
          <p:cNvPr id="18"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00100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9,2 %</a:t>
            </a:r>
            <a:endParaRPr lang="en-US" sz="3000" dirty="0"/>
          </a:p>
        </p:txBody>
      </p:sp>
      <p:sp>
        <p:nvSpPr>
          <p:cNvPr id="20" name="Text 17"/>
          <p:cNvSpPr txBox="1"/>
          <p:nvPr/>
        </p:nvSpPr>
        <p:spPr>
          <a:xfrm>
            <a:off x="800100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européennes</a:t>
            </a:r>
            <a:endParaRPr lang="en-US" sz="1200" dirty="0"/>
          </a:p>
        </p:txBody>
      </p:sp>
      <p:sp>
        <p:nvSpPr>
          <p:cNvPr id="21" name="Text 18"/>
          <p:cNvSpPr txBox="1"/>
          <p:nvPr/>
        </p:nvSpPr>
        <p:spPr>
          <a:xfrm>
            <a:off x="987552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7,2 %</a:t>
            </a:r>
            <a:endParaRPr lang="en-US" sz="3000" dirty="0"/>
          </a:p>
        </p:txBody>
      </p:sp>
      <p:sp>
        <p:nvSpPr>
          <p:cNvPr id="22" name="Text 19"/>
          <p:cNvSpPr txBox="1"/>
          <p:nvPr/>
        </p:nvSpPr>
        <p:spPr>
          <a:xfrm>
            <a:off x="987552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américaines</a:t>
            </a:r>
            <a:endParaRPr lang="en-US" sz="1200" dirty="0"/>
          </a:p>
        </p:txBody>
      </p:sp>
      <p:sp>
        <p:nvSpPr>
          <p:cNvPr id="23" name="Text 20"/>
          <p:cNvSpPr txBox="1"/>
          <p:nvPr/>
        </p:nvSpPr>
        <p:spPr>
          <a:xfrm>
            <a:off x="8001000" y="2834640"/>
            <a:ext cx="3657600" cy="155448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Actions et indexées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dépassent nettement 4 %</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Obligations à taux fixe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au niveau ou en dessous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L'Europe et le Japon devant les États-Unis :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moins chers</a:t>
            </a:r>
            <a:endParaRPr lang="en-US" sz="1350" dirty="0"/>
          </a:p>
        </p:txBody>
      </p:sp>
      <p:sp>
        <p:nvSpPr>
          <p:cNvPr id="24" name="Shape 21"/>
          <p:cNvSpPr/>
          <p:nvPr/>
        </p:nvSpPr>
        <p:spPr>
          <a:xfrm>
            <a:off x="8001000" y="4617720"/>
            <a:ext cx="3657600" cy="1645920"/>
          </a:xfrm>
          <a:prstGeom prst="roundRect">
            <a:avLst>
              <a:gd name="adj" fmla="val 4444"/>
            </a:avLst>
          </a:prstGeom>
          <a:solidFill>
            <a:srgbClr val="14304F"/>
          </a:solidFill>
          <a:ln w="12700">
            <a:solidFill>
              <a:srgbClr val="14304F"/>
            </a:solidFill>
            <a:prstDash val="solid"/>
          </a:ln>
        </p:spPr>
      </p:sp>
      <p:sp>
        <p:nvSpPr>
          <p:cNvPr id="25" name="Text 22"/>
          <p:cNvSpPr txBox="1"/>
          <p:nvPr/>
        </p:nvSpPr>
        <p:spPr>
          <a:xfrm>
            <a:off x="8229600" y="4754880"/>
            <a:ext cx="3200400" cy="13716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Préserver le pouvoir d'achat impose </a:t>
            </a:r>
            <a:pPr indent="0" marL="0">
              <a:buNone/>
            </a:pPr>
            <a:r>
              <a:rPr lang="en-US" sz="1350" b="1" dirty="0">
                <a:solidFill>
                  <a:srgbClr val="F5C969"/>
                </a:solidFill>
                <a:latin typeface="Calibri" pitchFamily="34" charset="0"/>
                <a:ea typeface="Calibri" pitchFamily="34" charset="-122"/>
                <a:cs typeface="Calibri" pitchFamily="34" charset="-120"/>
              </a:rPr>
              <a:t>des actifs de croissance</a:t>
            </a:r>
            <a:pPr indent="0" marL="0">
              <a:buNone/>
            </a:pPr>
            <a:r>
              <a:rPr lang="en-US" sz="1350" dirty="0">
                <a:solidFill>
                  <a:srgbClr val="FFFFFF"/>
                </a:solidFill>
                <a:latin typeface="Calibri" pitchFamily="34" charset="0"/>
                <a:ea typeface="Calibri" pitchFamily="34" charset="-122"/>
                <a:cs typeface="Calibri" pitchFamily="34" charset="-120"/>
              </a:rPr>
              <a:t>. Jusqu'où ? C'est la limite de 15 % qui le dira.</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Europe devant États-Unis : le prix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Deux estimations du rendement au-delà de l'inflation, moyennées, puis + 4 %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Croissance réelle des bénéfices : 2,0 % par an (S&amp;P 500 depuis 1900, Shiller), la même pour toutes les zones · PER iShares</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474720"/>
                <a:gridCol w="1737360"/>
                <a:gridCol w="1737360"/>
              </a:tblGrid>
              <a:tr h="566928">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États-Unis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PER (années de bénéfices payées)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18,5</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① Rendement des bénéfices (1 / PER)</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5,41 %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3,33 %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② Dividende + croissance des bénéfices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3,07 %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1,06 %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Moyenne + 4 % d'inflation</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9,23 %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7,19 %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Repère J.P. Morgan (inflation 2 %)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Shape 16"/>
          <p:cNvSpPr/>
          <p:nvPr/>
        </p:nvSpPr>
        <p:spPr>
          <a:xfrm>
            <a:off x="7863840" y="1508760"/>
            <a:ext cx="3794760" cy="2103120"/>
          </a:xfrm>
          <a:prstGeom prst="roundRect">
            <a:avLst>
              <a:gd name="adj" fmla="val 3478"/>
            </a:avLst>
          </a:prstGeom>
          <a:solidFill>
            <a:srgbClr val="14304F"/>
          </a:solidFill>
          <a:ln w="12700">
            <a:solidFill>
              <a:srgbClr val="14304F"/>
            </a:solidFill>
            <a:prstDash val="solid"/>
          </a:ln>
        </p:spPr>
      </p:sp>
      <p:sp>
        <p:nvSpPr>
          <p:cNvPr id="20" name="Text 17"/>
          <p:cNvSpPr txBox="1"/>
          <p:nvPr/>
        </p:nvSpPr>
        <p:spPr>
          <a:xfrm>
            <a:off x="8092440" y="1645920"/>
            <a:ext cx="3337560" cy="18288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 L'action américaine est de meilleure qualité, mais </a:t>
            </a:r>
            <a:pPr indent="0" marL="0">
              <a:buNone/>
            </a:pPr>
            <a:r>
              <a:rPr lang="en-US" sz="1450" b="1" dirty="0">
                <a:solidFill>
                  <a:srgbClr val="F5C969"/>
                </a:solidFill>
                <a:latin typeface="Calibri" pitchFamily="34" charset="0"/>
                <a:ea typeface="Calibri" pitchFamily="34" charset="-122"/>
                <a:cs typeface="Calibri" pitchFamily="34" charset="-120"/>
              </a:rPr>
              <a:t>on la paie presque deux fois plus cher</a:t>
            </a:r>
            <a:pPr indent="0" marL="0">
              <a:buNone/>
            </a:pPr>
            <a:r>
              <a:rPr lang="en-US" sz="1450" dirty="0">
                <a:solidFill>
                  <a:srgbClr val="FFFFFF"/>
                </a:solidFill>
                <a:latin typeface="Calibri" pitchFamily="34" charset="0"/>
                <a:ea typeface="Calibri" pitchFamily="34" charset="-122"/>
                <a:cs typeface="Calibri" pitchFamily="34" charset="-120"/>
              </a:rPr>
              <a:t>. À ce prix, elle rapportera probablement moins sur dix ans. »</a:t>
            </a:r>
            <a:endParaRPr lang="en-US" sz="1450" dirty="0"/>
          </a:p>
        </p:txBody>
      </p:sp>
      <p:sp>
        <p:nvSpPr>
          <p:cNvPr id="21" name="Shape 18"/>
          <p:cNvSpPr/>
          <p:nvPr/>
        </p:nvSpPr>
        <p:spPr>
          <a:xfrm>
            <a:off x="7863840" y="3840480"/>
            <a:ext cx="3794760" cy="2377440"/>
          </a:xfrm>
          <a:prstGeom prst="roundRect">
            <a:avLst>
              <a:gd name="adj" fmla="val 3077"/>
            </a:avLst>
          </a:prstGeom>
          <a:solidFill>
            <a:srgbClr val="F2F5F9"/>
          </a:solidFill>
          <a:ln w="12700">
            <a:solidFill>
              <a:srgbClr val="F2F5F9"/>
            </a:solidFill>
            <a:prstDash val="solid"/>
          </a:ln>
        </p:spPr>
      </p:sp>
      <p:sp>
        <p:nvSpPr>
          <p:cNvPr id="22" name="Text 19"/>
          <p:cNvSpPr txBox="1"/>
          <p:nvPr/>
        </p:nvSpPr>
        <p:spPr>
          <a:xfrm>
            <a:off x="8092440" y="3931920"/>
            <a:ext cx="3383280" cy="36576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Limites, assumées</a:t>
            </a:r>
            <a:endParaRPr lang="en-US" sz="1500" dirty="0"/>
          </a:p>
        </p:txBody>
      </p:sp>
      <p:sp>
        <p:nvSpPr>
          <p:cNvPr id="23" name="Text 20"/>
          <p:cNvSpPr txBox="1"/>
          <p:nvPr/>
        </p:nvSpPr>
        <p:spPr>
          <a:xfrm>
            <a:off x="8092440" y="4343400"/>
            <a:ext cx="3383280" cy="18288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Même croissance pour tous :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pénalise les US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(tech)</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PER Yahoo 24,6 au lieu de 30,0 : US ≈ 8,1 %</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J.P. Morgan : même sens, écart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bien plus faible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3</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Analyse ligne à ligne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Avec quoi investir : des titres en direct pour les actions européennes et les États, les meilleurs fonds pour le reste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 600 valeurs européennes à 30 titres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Point de départ : le STOXX Europe 600 · on ne garde que les grandes capitalisations (10 Md€ et plus)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792328" y="1463040"/>
            <a:ext cx="10607040" cy="621792"/>
          </a:xfrm>
          <a:prstGeom prst="roundRect">
            <a:avLst>
              <a:gd name="adj" fmla="val 8824"/>
            </a:avLst>
          </a:prstGeom>
          <a:solidFill>
            <a:srgbClr val="14304F"/>
          </a:solidFill>
          <a:ln w="12700">
            <a:solidFill>
              <a:srgbClr val="14304F"/>
            </a:solidFill>
            <a:prstDash val="solid"/>
          </a:ln>
        </p:spPr>
      </p:sp>
      <p:sp>
        <p:nvSpPr>
          <p:cNvPr id="18" name="Text 16"/>
          <p:cNvSpPr txBox="1"/>
          <p:nvPr/>
        </p:nvSpPr>
        <p:spPr>
          <a:xfrm>
            <a:off x="792328" y="1463040"/>
            <a:ext cx="106070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600  </a:t>
            </a:r>
            <a:pPr algn="ctr" indent="0" marL="0">
              <a:buNone/>
            </a:pPr>
            <a:r>
              <a:rPr lang="en-US" sz="1400" dirty="0">
                <a:solidFill>
                  <a:srgbClr val="FFFFFF"/>
                </a:solidFill>
                <a:latin typeface="Calibri" pitchFamily="34" charset="0"/>
                <a:ea typeface="Calibri" pitchFamily="34" charset="-122"/>
                <a:cs typeface="Calibri" pitchFamily="34" charset="-120"/>
              </a:rPr>
              <a:t>valeurs du STOXX 600</a:t>
            </a:r>
            <a:endParaRPr lang="en-US" sz="2000" dirty="0"/>
          </a:p>
        </p:txBody>
      </p:sp>
      <p:sp>
        <p:nvSpPr>
          <p:cNvPr id="19" name="Shape 17"/>
          <p:cNvSpPr/>
          <p:nvPr/>
        </p:nvSpPr>
        <p:spPr>
          <a:xfrm>
            <a:off x="1500988" y="2194560"/>
            <a:ext cx="9189720" cy="621792"/>
          </a:xfrm>
          <a:prstGeom prst="roundRect">
            <a:avLst>
              <a:gd name="adj" fmla="val 8824"/>
            </a:avLst>
          </a:prstGeom>
          <a:solidFill>
            <a:srgbClr val="3B5A80"/>
          </a:solidFill>
          <a:ln w="12700">
            <a:solidFill>
              <a:srgbClr val="3B5A80"/>
            </a:solidFill>
            <a:prstDash val="solid"/>
          </a:ln>
        </p:spPr>
      </p:sp>
      <p:sp>
        <p:nvSpPr>
          <p:cNvPr id="20" name="Text 18"/>
          <p:cNvSpPr txBox="1"/>
          <p:nvPr/>
        </p:nvSpPr>
        <p:spPr>
          <a:xfrm>
            <a:off x="1500988" y="2194560"/>
            <a:ext cx="918972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  </a:t>
            </a:r>
            <a:pPr algn="ctr" indent="0" marL="0">
              <a:buNone/>
            </a:pPr>
            <a:r>
              <a:rPr lang="en-US" sz="1400" dirty="0">
                <a:solidFill>
                  <a:srgbClr val="FFFFFF"/>
                </a:solidFill>
                <a:latin typeface="Calibri" pitchFamily="34" charset="0"/>
                <a:ea typeface="Calibri" pitchFamily="34" charset="-122"/>
                <a:cs typeface="Calibri" pitchFamily="34" charset="-120"/>
              </a:rPr>
              <a:t>exclues : tabac, armement, charbon</a:t>
            </a:r>
            <a:endParaRPr lang="en-US" sz="2000" dirty="0"/>
          </a:p>
        </p:txBody>
      </p:sp>
      <p:sp>
        <p:nvSpPr>
          <p:cNvPr id="21" name="Shape 19"/>
          <p:cNvSpPr/>
          <p:nvPr/>
        </p:nvSpPr>
        <p:spPr>
          <a:xfrm>
            <a:off x="2209648" y="2926080"/>
            <a:ext cx="7772400" cy="621792"/>
          </a:xfrm>
          <a:prstGeom prst="roundRect">
            <a:avLst>
              <a:gd name="adj" fmla="val 8824"/>
            </a:avLst>
          </a:prstGeom>
          <a:solidFill>
            <a:srgbClr val="3B5A80"/>
          </a:solidFill>
          <a:ln w="12700">
            <a:solidFill>
              <a:srgbClr val="3B5A80"/>
            </a:solidFill>
            <a:prstDash val="solid"/>
          </a:ln>
        </p:spPr>
      </p:sp>
      <p:sp>
        <p:nvSpPr>
          <p:cNvPr id="22" name="Text 20"/>
          <p:cNvSpPr txBox="1"/>
          <p:nvPr/>
        </p:nvSpPr>
        <p:spPr>
          <a:xfrm>
            <a:off x="2209648" y="2926080"/>
            <a:ext cx="777240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− 11  </a:t>
            </a:r>
            <a:pPr algn="ctr" indent="0" marL="0">
              <a:buNone/>
            </a:pPr>
            <a:r>
              <a:rPr lang="en-US" sz="1400" dirty="0">
                <a:solidFill>
                  <a:srgbClr val="FFFFFF"/>
                </a:solidFill>
                <a:latin typeface="Calibri" pitchFamily="34" charset="0"/>
                <a:ea typeface="Calibri" pitchFamily="34" charset="-122"/>
                <a:cs typeface="Calibri" pitchFamily="34" charset="-120"/>
              </a:rPr>
              <a:t>sociétés d'investissement, non notables</a:t>
            </a:r>
            <a:endParaRPr lang="en-US" sz="2000" dirty="0"/>
          </a:p>
        </p:txBody>
      </p:sp>
      <p:sp>
        <p:nvSpPr>
          <p:cNvPr id="23" name="Shape 21"/>
          <p:cNvSpPr/>
          <p:nvPr/>
        </p:nvSpPr>
        <p:spPr>
          <a:xfrm>
            <a:off x="2918308" y="3657600"/>
            <a:ext cx="6355080" cy="621792"/>
          </a:xfrm>
          <a:prstGeom prst="roundRect">
            <a:avLst>
              <a:gd name="adj" fmla="val 8824"/>
            </a:avLst>
          </a:prstGeom>
          <a:solidFill>
            <a:srgbClr val="3B5A80"/>
          </a:solidFill>
          <a:ln w="12700">
            <a:solidFill>
              <a:srgbClr val="3B5A80"/>
            </a:solidFill>
            <a:prstDash val="solid"/>
          </a:ln>
        </p:spPr>
      </p:sp>
      <p:sp>
        <p:nvSpPr>
          <p:cNvPr id="24" name="Text 22"/>
          <p:cNvSpPr txBox="1"/>
          <p:nvPr/>
        </p:nvSpPr>
        <p:spPr>
          <a:xfrm>
            <a:off x="2918308" y="3657600"/>
            <a:ext cx="635508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− 262  </a:t>
            </a:r>
            <a:pPr algn="ctr" indent="0" marL="0">
              <a:buNone/>
            </a:pPr>
            <a:r>
              <a:rPr lang="en-US" sz="1400" dirty="0">
                <a:solidFill>
                  <a:srgbClr val="FFFFFF"/>
                </a:solidFill>
                <a:latin typeface="Calibri" pitchFamily="34" charset="0"/>
                <a:ea typeface="Calibri" pitchFamily="34" charset="-122"/>
                <a:cs typeface="Calibri" pitchFamily="34" charset="-120"/>
              </a:rPr>
              <a:t>trop petites (&lt; 10 Md€)</a:t>
            </a:r>
            <a:endParaRPr lang="en-US" sz="2000" dirty="0"/>
          </a:p>
        </p:txBody>
      </p:sp>
      <p:sp>
        <p:nvSpPr>
          <p:cNvPr id="25" name="Shape 23"/>
          <p:cNvSpPr/>
          <p:nvPr/>
        </p:nvSpPr>
        <p:spPr>
          <a:xfrm>
            <a:off x="3626968" y="4389120"/>
            <a:ext cx="4937760" cy="621792"/>
          </a:xfrm>
          <a:prstGeom prst="roundRect">
            <a:avLst>
              <a:gd name="adj" fmla="val 8824"/>
            </a:avLst>
          </a:prstGeom>
          <a:solidFill>
            <a:srgbClr val="3B5A80"/>
          </a:solidFill>
          <a:ln w="12700">
            <a:solidFill>
              <a:srgbClr val="3B5A80"/>
            </a:solidFill>
            <a:prstDash val="solid"/>
          </a:ln>
        </p:spPr>
      </p:sp>
      <p:sp>
        <p:nvSpPr>
          <p:cNvPr id="26" name="Text 24"/>
          <p:cNvSpPr txBox="1"/>
          <p:nvPr/>
        </p:nvSpPr>
        <p:spPr>
          <a:xfrm>
            <a:off x="3626968" y="4389120"/>
            <a:ext cx="493776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300  </a:t>
            </a:r>
            <a:pPr algn="ctr" indent="0" marL="0">
              <a:buNone/>
            </a:pPr>
            <a:r>
              <a:rPr lang="en-US" sz="1400" dirty="0">
                <a:solidFill>
                  <a:srgbClr val="FFFFFF"/>
                </a:solidFill>
                <a:latin typeface="Calibri" pitchFamily="34" charset="0"/>
                <a:ea typeface="Calibri" pitchFamily="34" charset="-122"/>
                <a:cs typeface="Calibri" pitchFamily="34" charset="-120"/>
              </a:rPr>
              <a:t>notées sur cinq piliers</a:t>
            </a:r>
            <a:endParaRPr lang="en-US" sz="2000" dirty="0"/>
          </a:p>
        </p:txBody>
      </p:sp>
      <p:sp>
        <p:nvSpPr>
          <p:cNvPr id="27" name="Shape 25"/>
          <p:cNvSpPr/>
          <p:nvPr/>
        </p:nvSpPr>
        <p:spPr>
          <a:xfrm>
            <a:off x="4335628" y="5120640"/>
            <a:ext cx="3520440" cy="621792"/>
          </a:xfrm>
          <a:prstGeom prst="roundRect">
            <a:avLst>
              <a:gd name="adj" fmla="val 8824"/>
            </a:avLst>
          </a:prstGeom>
          <a:solidFill>
            <a:srgbClr val="C98A1B"/>
          </a:solidFill>
          <a:ln w="12700">
            <a:solidFill>
              <a:srgbClr val="C98A1B"/>
            </a:solidFill>
            <a:prstDash val="solid"/>
          </a:ln>
        </p:spPr>
      </p:sp>
      <p:sp>
        <p:nvSpPr>
          <p:cNvPr id="28" name="Text 26"/>
          <p:cNvSpPr txBox="1"/>
          <p:nvPr/>
        </p:nvSpPr>
        <p:spPr>
          <a:xfrm>
            <a:off x="4335628" y="5120640"/>
            <a:ext cx="35204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  </a:t>
            </a:r>
            <a:pPr algn="ctr" indent="0" marL="0">
              <a:buNone/>
            </a:pPr>
            <a:r>
              <a:rPr lang="en-US" sz="1400" dirty="0">
                <a:solidFill>
                  <a:srgbClr val="FFFFFF"/>
                </a:solidFill>
                <a:latin typeface="Calibri" pitchFamily="34" charset="0"/>
                <a:ea typeface="Calibri" pitchFamily="34" charset="-122"/>
                <a:cs typeface="Calibri" pitchFamily="34" charset="-120"/>
              </a:rPr>
              <a:t>retenues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Cinq piliers, face à son propre secteur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Une banque est comparée aux banques, un laboratoire aux laboratoires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
        <p:nvSpPr>
          <p:cNvPr id="17" name="Shape 15"/>
          <p:cNvSpPr/>
          <p:nvPr/>
        </p:nvSpPr>
        <p:spPr>
          <a:xfrm>
            <a:off x="548640" y="1536192"/>
            <a:ext cx="548640" cy="548640"/>
          </a:xfrm>
          <a:prstGeom prst="ellipse">
            <a:avLst/>
          </a:prstGeom>
          <a:solidFill>
            <a:srgbClr val="14304F"/>
          </a:solidFill>
          <a:ln w="12700">
            <a:solidFill>
              <a:srgbClr val="14304F"/>
            </a:solidFill>
            <a:prstDash val="solid"/>
          </a:ln>
        </p:spPr>
      </p:sp>
      <p:sp>
        <p:nvSpPr>
          <p:cNvPr id="18" name="Text 16"/>
          <p:cNvSpPr txBox="1"/>
          <p:nvPr/>
        </p:nvSpPr>
        <p:spPr>
          <a:xfrm>
            <a:off x="548640" y="15361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1280160" y="1463040"/>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Valorisation</a:t>
            </a:r>
            <a:endParaRPr lang="en-US" sz="1700" dirty="0"/>
          </a:p>
        </p:txBody>
      </p:sp>
      <p:sp>
        <p:nvSpPr>
          <p:cNvPr id="20" name="Text 18"/>
          <p:cNvSpPr txBox="1"/>
          <p:nvPr/>
        </p:nvSpPr>
        <p:spPr>
          <a:xfrm>
            <a:off x="1280160" y="1828800"/>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bon marché ?</a:t>
            </a:r>
            <a:endParaRPr lang="en-US" sz="1350" dirty="0"/>
          </a:p>
        </p:txBody>
      </p:sp>
      <p:sp>
        <p:nvSpPr>
          <p:cNvPr id="21" name="Shape 19"/>
          <p:cNvSpPr/>
          <p:nvPr/>
        </p:nvSpPr>
        <p:spPr>
          <a:xfrm>
            <a:off x="548640" y="2432304"/>
            <a:ext cx="548640" cy="548640"/>
          </a:xfrm>
          <a:prstGeom prst="ellipse">
            <a:avLst/>
          </a:prstGeom>
          <a:solidFill>
            <a:srgbClr val="14304F"/>
          </a:solidFill>
          <a:ln w="12700">
            <a:solidFill>
              <a:srgbClr val="14304F"/>
            </a:solidFill>
            <a:prstDash val="solid"/>
          </a:ln>
        </p:spPr>
      </p:sp>
      <p:sp>
        <p:nvSpPr>
          <p:cNvPr id="22" name="Text 20"/>
          <p:cNvSpPr txBox="1"/>
          <p:nvPr/>
        </p:nvSpPr>
        <p:spPr>
          <a:xfrm>
            <a:off x="548640" y="24323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1280160" y="2359152"/>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Croissance</a:t>
            </a:r>
            <a:endParaRPr lang="en-US" sz="1700" dirty="0"/>
          </a:p>
        </p:txBody>
      </p:sp>
      <p:sp>
        <p:nvSpPr>
          <p:cNvPr id="24" name="Text 22"/>
          <p:cNvSpPr txBox="1"/>
          <p:nvPr/>
        </p:nvSpPr>
        <p:spPr>
          <a:xfrm>
            <a:off x="1280160" y="2724912"/>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Ses résultats progressent-ils ?</a:t>
            </a:r>
            <a:endParaRPr lang="en-US" sz="1350" dirty="0"/>
          </a:p>
        </p:txBody>
      </p:sp>
      <p:sp>
        <p:nvSpPr>
          <p:cNvPr id="25" name="Shape 23"/>
          <p:cNvSpPr/>
          <p:nvPr/>
        </p:nvSpPr>
        <p:spPr>
          <a:xfrm>
            <a:off x="548640" y="3328416"/>
            <a:ext cx="548640" cy="548640"/>
          </a:xfrm>
          <a:prstGeom prst="ellipse">
            <a:avLst/>
          </a:prstGeom>
          <a:solidFill>
            <a:srgbClr val="14304F"/>
          </a:solidFill>
          <a:ln w="12700">
            <a:solidFill>
              <a:srgbClr val="14304F"/>
            </a:solidFill>
            <a:prstDash val="solid"/>
          </a:ln>
        </p:spPr>
      </p:sp>
      <p:sp>
        <p:nvSpPr>
          <p:cNvPr id="26" name="Text 24"/>
          <p:cNvSpPr txBox="1"/>
          <p:nvPr/>
        </p:nvSpPr>
        <p:spPr>
          <a:xfrm>
            <a:off x="548640" y="33284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1280160" y="3255264"/>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Dynamique</a:t>
            </a:r>
            <a:endParaRPr lang="en-US" sz="1700" dirty="0"/>
          </a:p>
        </p:txBody>
      </p:sp>
      <p:sp>
        <p:nvSpPr>
          <p:cNvPr id="28" name="Text 26"/>
          <p:cNvSpPr txBox="1"/>
          <p:nvPr/>
        </p:nvSpPr>
        <p:spPr>
          <a:xfrm>
            <a:off x="1280160" y="3621024"/>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Le marché la soutient-il ?</a:t>
            </a:r>
            <a:endParaRPr lang="en-US" sz="1350" dirty="0"/>
          </a:p>
        </p:txBody>
      </p:sp>
      <p:sp>
        <p:nvSpPr>
          <p:cNvPr id="29" name="Shape 27"/>
          <p:cNvSpPr/>
          <p:nvPr/>
        </p:nvSpPr>
        <p:spPr>
          <a:xfrm>
            <a:off x="548640" y="4224528"/>
            <a:ext cx="548640" cy="548640"/>
          </a:xfrm>
          <a:prstGeom prst="ellipse">
            <a:avLst/>
          </a:prstGeom>
          <a:solidFill>
            <a:srgbClr val="14304F"/>
          </a:solidFill>
          <a:ln w="12700">
            <a:solidFill>
              <a:srgbClr val="14304F"/>
            </a:solidFill>
            <a:prstDash val="solid"/>
          </a:ln>
        </p:spPr>
      </p:sp>
      <p:sp>
        <p:nvSpPr>
          <p:cNvPr id="30" name="Text 28"/>
          <p:cNvSpPr txBox="1"/>
          <p:nvPr/>
        </p:nvSpPr>
        <p:spPr>
          <a:xfrm>
            <a:off x="548640" y="4224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1" name="Text 29"/>
          <p:cNvSpPr txBox="1"/>
          <p:nvPr/>
        </p:nvSpPr>
        <p:spPr>
          <a:xfrm>
            <a:off x="1280160" y="4151376"/>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Qualité</a:t>
            </a:r>
            <a:endParaRPr lang="en-US" sz="1700" dirty="0"/>
          </a:p>
        </p:txBody>
      </p:sp>
      <p:sp>
        <p:nvSpPr>
          <p:cNvPr id="32" name="Text 30"/>
          <p:cNvSpPr txBox="1"/>
          <p:nvPr/>
        </p:nvSpPr>
        <p:spPr>
          <a:xfrm>
            <a:off x="1280160" y="4517136"/>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solide et rentable ?</a:t>
            </a:r>
            <a:endParaRPr lang="en-US" sz="1350" dirty="0"/>
          </a:p>
        </p:txBody>
      </p:sp>
      <p:sp>
        <p:nvSpPr>
          <p:cNvPr id="33" name="Shape 31"/>
          <p:cNvSpPr/>
          <p:nvPr/>
        </p:nvSpPr>
        <p:spPr>
          <a:xfrm>
            <a:off x="548640" y="5120640"/>
            <a:ext cx="548640" cy="548640"/>
          </a:xfrm>
          <a:prstGeom prst="ellipse">
            <a:avLst/>
          </a:prstGeom>
          <a:solidFill>
            <a:srgbClr val="C98A1B"/>
          </a:solidFill>
          <a:ln w="12700">
            <a:solidFill>
              <a:srgbClr val="C98A1B"/>
            </a:solidFill>
            <a:prstDash val="solid"/>
          </a:ln>
        </p:spPr>
      </p:sp>
      <p:sp>
        <p:nvSpPr>
          <p:cNvPr id="34" name="Text 32"/>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5" name="Text 33"/>
          <p:cNvSpPr txBox="1"/>
          <p:nvPr/>
        </p:nvSpPr>
        <p:spPr>
          <a:xfrm>
            <a:off x="1280160" y="5047488"/>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Résistance</a:t>
            </a:r>
            <a:endParaRPr lang="en-US" sz="1700" dirty="0"/>
          </a:p>
        </p:txBody>
      </p:sp>
      <p:sp>
        <p:nvSpPr>
          <p:cNvPr id="36" name="Text 34"/>
          <p:cNvSpPr txBox="1"/>
          <p:nvPr/>
        </p:nvSpPr>
        <p:spPr>
          <a:xfrm>
            <a:off x="1280160" y="5413248"/>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Tient-elle bon quand le marché chute ?</a:t>
            </a:r>
            <a:endParaRPr lang="en-US" sz="1350" dirty="0"/>
          </a:p>
        </p:txBody>
      </p:sp>
      <p:sp>
        <p:nvSpPr>
          <p:cNvPr id="37" name="Shape 35"/>
          <p:cNvSpPr/>
          <p:nvPr/>
        </p:nvSpPr>
        <p:spPr>
          <a:xfrm>
            <a:off x="5760720" y="1463040"/>
            <a:ext cx="5879592" cy="2148840"/>
          </a:xfrm>
          <a:prstGeom prst="roundRect">
            <a:avLst>
              <a:gd name="adj" fmla="val 3404"/>
            </a:avLst>
          </a:prstGeom>
          <a:solidFill>
            <a:srgbClr val="F2F5F9"/>
          </a:solidFill>
          <a:ln w="12700">
            <a:solidFill>
              <a:srgbClr val="F2F5F9"/>
            </a:solidFill>
            <a:prstDash val="solid"/>
          </a:ln>
        </p:spPr>
      </p:sp>
      <p:sp>
        <p:nvSpPr>
          <p:cNvPr id="38" name="Text 36"/>
          <p:cNvSpPr txBox="1"/>
          <p:nvPr/>
        </p:nvSpPr>
        <p:spPr>
          <a:xfrm>
            <a:off x="5989320" y="157276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 Résistance » ?</a:t>
            </a:r>
            <a:endParaRPr lang="en-US" sz="1600" dirty="0"/>
          </a:p>
        </p:txBody>
      </p:sp>
      <p:sp>
        <p:nvSpPr>
          <p:cNvPr id="39" name="Text 37"/>
          <p:cNvSpPr txBox="1"/>
          <p:nvPr/>
        </p:nvSpPr>
        <p:spPr>
          <a:xfrm>
            <a:off x="5989320" y="1965960"/>
            <a:ext cx="544068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Plus la poche d'actions baisse modérément en crise, plus on peut en détenir sous la limite de 15 %. On note donc aussi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la volatilité, les pertes de 2020 et 2022, et le bêta</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40" name="Shape 38"/>
          <p:cNvSpPr/>
          <p:nvPr/>
        </p:nvSpPr>
        <p:spPr>
          <a:xfrm>
            <a:off x="5760720" y="3794760"/>
            <a:ext cx="5879592" cy="2423160"/>
          </a:xfrm>
          <a:prstGeom prst="roundRect">
            <a:avLst>
              <a:gd name="adj" fmla="val 3019"/>
            </a:avLst>
          </a:prstGeom>
          <a:solidFill>
            <a:srgbClr val="F2F5F9"/>
          </a:solidFill>
          <a:ln w="12700">
            <a:solidFill>
              <a:srgbClr val="F2F5F9"/>
            </a:solidFill>
            <a:prstDash val="solid"/>
          </a:ln>
        </p:spPr>
      </p:sp>
      <p:sp>
        <p:nvSpPr>
          <p:cNvPr id="41" name="Text 39"/>
          <p:cNvSpPr txBox="1"/>
          <p:nvPr/>
        </p:nvSpPr>
        <p:spPr>
          <a:xfrm>
            <a:off x="5989320" y="390448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Garde-fous de diversification</a:t>
            </a:r>
            <a:endParaRPr lang="en-US" sz="1600" dirty="0"/>
          </a:p>
        </p:txBody>
      </p:sp>
      <p:sp>
        <p:nvSpPr>
          <p:cNvPr id="42" name="Text 40"/>
          <p:cNvSpPr txBox="1"/>
          <p:nvPr/>
        </p:nvSpPr>
        <p:spPr>
          <a:xfrm>
            <a:off x="5989320" y="4315968"/>
            <a:ext cx="5440680" cy="182880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4 titres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au plus par secteur,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6</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par pays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Aucun titre parmi les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10 % les plus volatils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Données aberrantes écartées (un PER de 1 042…)</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30 titres retenus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À parts égales · note = écart à la moyenne du secteur (+1 = nettement meilleure)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données Yahoo Finance relevées en septembre 2026</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argenx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Endesa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+0,65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Evolution AB</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Suède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Orion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Finlande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United Utilities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Carrefour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Naturgy Energy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Aena S.M.E.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NEXT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InterContinental Hotels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NN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Rio Tinto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Banco de Sabadell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Vår Energi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Anheuser-Busch InBev SA/NV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108192"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Equinor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Unipol Assicurazioni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Italie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Norsk Hydro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BAWAG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Ipsen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Iberdrola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Sanofi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Wolters Kluwer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Diploma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OMV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Airtel Africa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Industria de Diseño Textil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Publicis Groupe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EMS-CHEMIE HOLDING</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Suisse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Klépierre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Immobilier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panier résiste mieux que l'indice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30 titres à parts égales, en euros, face au STOXX Europe 600</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sp>
        <p:nvSpPr>
          <p:cNvPr id="17" name="Shape 15"/>
          <p:cNvSpPr/>
          <p:nvPr/>
        </p:nvSpPr>
        <p:spPr>
          <a:xfrm>
            <a:off x="548640" y="1554480"/>
            <a:ext cx="3520440" cy="2377440"/>
          </a:xfrm>
          <a:prstGeom prst="roundRect">
            <a:avLst>
              <a:gd name="adj" fmla="val 3077"/>
            </a:avLst>
          </a:prstGeom>
          <a:solidFill>
            <a:srgbClr val="F2F5F9"/>
          </a:solidFill>
          <a:ln w="12700">
            <a:solidFill>
              <a:srgbClr val="F2F5F9"/>
            </a:solidFill>
            <a:prstDash val="solid"/>
          </a:ln>
        </p:spPr>
      </p:sp>
      <p:sp>
        <p:nvSpPr>
          <p:cNvPr id="18" name="Text 16"/>
          <p:cNvSpPr txBox="1"/>
          <p:nvPr/>
        </p:nvSpPr>
        <p:spPr>
          <a:xfrm>
            <a:off x="77724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Volatilité sur 3 ans</a:t>
            </a:r>
            <a:endParaRPr lang="en-US" sz="1400" dirty="0"/>
          </a:p>
        </p:txBody>
      </p:sp>
      <p:sp>
        <p:nvSpPr>
          <p:cNvPr id="19" name="Text 17"/>
          <p:cNvSpPr txBox="1"/>
          <p:nvPr/>
        </p:nvSpPr>
        <p:spPr>
          <a:xfrm>
            <a:off x="77724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10,4 %</a:t>
            </a:r>
            <a:endParaRPr lang="en-US" sz="4000" dirty="0"/>
          </a:p>
        </p:txBody>
      </p:sp>
      <p:sp>
        <p:nvSpPr>
          <p:cNvPr id="20" name="Text 18"/>
          <p:cNvSpPr txBox="1"/>
          <p:nvPr/>
        </p:nvSpPr>
        <p:spPr>
          <a:xfrm>
            <a:off x="77724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12,8 %</a:t>
            </a:r>
            <a:endParaRPr lang="en-US" sz="1500" dirty="0"/>
          </a:p>
        </p:txBody>
      </p:sp>
      <p:sp>
        <p:nvSpPr>
          <p:cNvPr id="21" name="Shape 19"/>
          <p:cNvSpPr/>
          <p:nvPr/>
        </p:nvSpPr>
        <p:spPr>
          <a:xfrm>
            <a:off x="4297680" y="1554480"/>
            <a:ext cx="3520440" cy="2377440"/>
          </a:xfrm>
          <a:prstGeom prst="roundRect">
            <a:avLst>
              <a:gd name="adj" fmla="val 3077"/>
            </a:avLst>
          </a:prstGeom>
          <a:solidFill>
            <a:srgbClr val="F2F5F9"/>
          </a:solidFill>
          <a:ln w="12700">
            <a:solidFill>
              <a:srgbClr val="F2F5F9"/>
            </a:solidFill>
            <a:prstDash val="solid"/>
          </a:ln>
        </p:spPr>
      </p:sp>
      <p:sp>
        <p:nvSpPr>
          <p:cNvPr id="22" name="Text 20"/>
          <p:cNvSpPr txBox="1"/>
          <p:nvPr/>
        </p:nvSpPr>
        <p:spPr>
          <a:xfrm>
            <a:off x="452628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2020</a:t>
            </a:r>
            <a:endParaRPr lang="en-US" sz="1400" dirty="0"/>
          </a:p>
        </p:txBody>
      </p:sp>
      <p:sp>
        <p:nvSpPr>
          <p:cNvPr id="23" name="Text 21"/>
          <p:cNvSpPr txBox="1"/>
          <p:nvPr/>
        </p:nvSpPr>
        <p:spPr>
          <a:xfrm>
            <a:off x="452628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−34,0 %</a:t>
            </a:r>
            <a:endParaRPr lang="en-US" sz="4000" dirty="0"/>
          </a:p>
        </p:txBody>
      </p:sp>
      <p:sp>
        <p:nvSpPr>
          <p:cNvPr id="24" name="Text 22"/>
          <p:cNvSpPr txBox="1"/>
          <p:nvPr/>
        </p:nvSpPr>
        <p:spPr>
          <a:xfrm>
            <a:off x="452628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−32,1 %</a:t>
            </a:r>
            <a:endParaRPr lang="en-US" sz="1500" dirty="0"/>
          </a:p>
        </p:txBody>
      </p:sp>
      <p:sp>
        <p:nvSpPr>
          <p:cNvPr id="25" name="Shape 23"/>
          <p:cNvSpPr/>
          <p:nvPr/>
        </p:nvSpPr>
        <p:spPr>
          <a:xfrm>
            <a:off x="8046720" y="1554480"/>
            <a:ext cx="3520440" cy="2377440"/>
          </a:xfrm>
          <a:prstGeom prst="roundRect">
            <a:avLst>
              <a:gd name="adj" fmla="val 3077"/>
            </a:avLst>
          </a:prstGeom>
          <a:solidFill>
            <a:srgbClr val="F2F5F9"/>
          </a:solidFill>
          <a:ln w="12700">
            <a:solidFill>
              <a:srgbClr val="F2F5F9"/>
            </a:solidFill>
            <a:prstDash val="solid"/>
          </a:ln>
        </p:spPr>
      </p:sp>
      <p:sp>
        <p:nvSpPr>
          <p:cNvPr id="26" name="Text 24"/>
          <p:cNvSpPr txBox="1"/>
          <p:nvPr/>
        </p:nvSpPr>
        <p:spPr>
          <a:xfrm>
            <a:off x="827532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2022</a:t>
            </a:r>
            <a:endParaRPr lang="en-US" sz="1400" dirty="0"/>
          </a:p>
        </p:txBody>
      </p:sp>
      <p:sp>
        <p:nvSpPr>
          <p:cNvPr id="27" name="Text 25"/>
          <p:cNvSpPr txBox="1"/>
          <p:nvPr/>
        </p:nvSpPr>
        <p:spPr>
          <a:xfrm>
            <a:off x="827532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−12,8 %</a:t>
            </a:r>
            <a:endParaRPr lang="en-US" sz="4000" dirty="0"/>
          </a:p>
        </p:txBody>
      </p:sp>
      <p:sp>
        <p:nvSpPr>
          <p:cNvPr id="28" name="Text 26"/>
          <p:cNvSpPr txBox="1"/>
          <p:nvPr/>
        </p:nvSpPr>
        <p:spPr>
          <a:xfrm>
            <a:off x="827532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−18,4 %</a:t>
            </a:r>
            <a:endParaRPr lang="en-US" sz="1500" dirty="0"/>
          </a:p>
        </p:txBody>
      </p:sp>
      <p:sp>
        <p:nvSpPr>
          <p:cNvPr id="29" name="Shape 27"/>
          <p:cNvSpPr/>
          <p:nvPr/>
        </p:nvSpPr>
        <p:spPr>
          <a:xfrm>
            <a:off x="548640" y="4297680"/>
            <a:ext cx="11094415" cy="1554480"/>
          </a:xfrm>
          <a:prstGeom prst="roundRect">
            <a:avLst>
              <a:gd name="adj" fmla="val 4706"/>
            </a:avLst>
          </a:prstGeom>
          <a:solidFill>
            <a:srgbClr val="14304F"/>
          </a:solidFill>
          <a:ln w="12700">
            <a:solidFill>
              <a:srgbClr val="14304F"/>
            </a:solidFill>
            <a:prstDash val="solid"/>
          </a:ln>
        </p:spPr>
      </p:sp>
      <p:sp>
        <p:nvSpPr>
          <p:cNvPr id="30" name="Text 28"/>
          <p:cNvSpPr txBox="1"/>
          <p:nvPr/>
        </p:nvSpPr>
        <p:spPr>
          <a:xfrm>
            <a:off x="777240" y="4434840"/>
            <a:ext cx="10637215" cy="12801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Moins agité au quotidien, nettement mieux tenu en 2022, à égalité en 2020. Mais en crise, il perd </a:t>
            </a:r>
            <a:pPr indent="0" marL="0">
              <a:buNone/>
            </a:pPr>
            <a:r>
              <a:rPr lang="en-US" sz="1550" b="1" dirty="0">
                <a:solidFill>
                  <a:srgbClr val="F5C969"/>
                </a:solidFill>
                <a:latin typeface="Calibri" pitchFamily="34" charset="0"/>
                <a:ea typeface="Calibri" pitchFamily="34" charset="-122"/>
                <a:cs typeface="Calibri" pitchFamily="34" charset="-120"/>
              </a:rPr>
              <a:t>bien plus que 15 %</a:t>
            </a:r>
            <a:pPr indent="0" marL="0">
              <a:buNone/>
            </a:pPr>
            <a:r>
              <a:rPr lang="en-US" sz="1550" dirty="0">
                <a:solidFill>
                  <a:srgbClr val="FFFFFF"/>
                </a:solidFill>
                <a:latin typeface="Calibri" pitchFamily="34" charset="0"/>
                <a:ea typeface="Calibri" pitchFamily="34" charset="-122"/>
                <a:cs typeface="Calibri" pitchFamily="34" charset="-120"/>
              </a:rPr>
              <a:t> : c'est le dosage avec les obligations et l'or, à l'étape 4, qui tiendra la limite.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emprunts d'État, achetés en direct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Pas de frais de gestion, et la date et le montant de chaque remboursement connus d'avance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Courbes zéro-coupon de la BCE (modèle de Svensson) au 18/09/2026</a:t>
            </a:r>
            <a:endParaRPr lang="en-US" sz="850" dirty="0"/>
          </a:p>
        </p:txBody>
      </p:sp>
      <p:sp>
        <p:nvSpPr>
          <p:cNvPr id="18" name="Text 16"/>
          <p:cNvSpPr txBox="1"/>
          <p:nvPr/>
        </p:nvSpPr>
        <p:spPr>
          <a:xfrm>
            <a:off x="548640" y="1463040"/>
            <a:ext cx="5486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10 M€ à décaisser : une échelle AAA</a:t>
            </a:r>
            <a:endParaRPr lang="en-US" sz="1700" dirty="0"/>
          </a:p>
        </p:txBody>
      </p:sp>
      <p:sp>
        <p:nvSpPr>
          <p:cNvPr id="19" name="Shape 17"/>
          <p:cNvSpPr/>
          <p:nvPr/>
        </p:nvSpPr>
        <p:spPr>
          <a:xfrm>
            <a:off x="548640" y="1965960"/>
            <a:ext cx="1234440" cy="1143000"/>
          </a:xfrm>
          <a:prstGeom prst="roundRect">
            <a:avLst>
              <a:gd name="adj" fmla="val 4800"/>
            </a:avLst>
          </a:prstGeom>
          <a:solidFill>
            <a:srgbClr val="EB6834"/>
          </a:solidFill>
          <a:ln w="12700">
            <a:solidFill>
              <a:srgbClr val="EB6834"/>
            </a:solidFill>
            <a:prstDash val="solid"/>
          </a:ln>
        </p:spPr>
      </p:sp>
      <p:sp>
        <p:nvSpPr>
          <p:cNvPr id="20" name="Text 18"/>
          <p:cNvSpPr txBox="1"/>
          <p:nvPr/>
        </p:nvSpPr>
        <p:spPr>
          <a:xfrm>
            <a:off x="5486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6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2,75 %</a:t>
            </a:r>
            <a:endParaRPr lang="en-US" sz="1700" dirty="0"/>
          </a:p>
        </p:txBody>
      </p:sp>
      <p:sp>
        <p:nvSpPr>
          <p:cNvPr id="21" name="Shape 19"/>
          <p:cNvSpPr/>
          <p:nvPr/>
        </p:nvSpPr>
        <p:spPr>
          <a:xfrm>
            <a:off x="1920240" y="1965960"/>
            <a:ext cx="1234440" cy="1143000"/>
          </a:xfrm>
          <a:prstGeom prst="roundRect">
            <a:avLst>
              <a:gd name="adj" fmla="val 4800"/>
            </a:avLst>
          </a:prstGeom>
          <a:solidFill>
            <a:srgbClr val="EB6834"/>
          </a:solidFill>
          <a:ln w="12700">
            <a:solidFill>
              <a:srgbClr val="EB6834"/>
            </a:solidFill>
            <a:prstDash val="solid"/>
          </a:ln>
        </p:spPr>
      </p:sp>
      <p:sp>
        <p:nvSpPr>
          <p:cNvPr id="22" name="Text 20"/>
          <p:cNvSpPr txBox="1"/>
          <p:nvPr/>
        </p:nvSpPr>
        <p:spPr>
          <a:xfrm>
            <a:off x="19202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12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3,01 %</a:t>
            </a:r>
            <a:endParaRPr lang="en-US" sz="1700" dirty="0"/>
          </a:p>
        </p:txBody>
      </p:sp>
      <p:sp>
        <p:nvSpPr>
          <p:cNvPr id="23" name="Shape 21"/>
          <p:cNvSpPr/>
          <p:nvPr/>
        </p:nvSpPr>
        <p:spPr>
          <a:xfrm>
            <a:off x="3291840" y="1965960"/>
            <a:ext cx="1234440" cy="1143000"/>
          </a:xfrm>
          <a:prstGeom prst="roundRect">
            <a:avLst>
              <a:gd name="adj" fmla="val 4800"/>
            </a:avLst>
          </a:prstGeom>
          <a:solidFill>
            <a:srgbClr val="EB6834"/>
          </a:solidFill>
          <a:ln w="12700">
            <a:solidFill>
              <a:srgbClr val="EB6834"/>
            </a:solidFill>
            <a:prstDash val="solid"/>
          </a:ln>
        </p:spPr>
      </p:sp>
      <p:sp>
        <p:nvSpPr>
          <p:cNvPr id="24" name="Text 22"/>
          <p:cNvSpPr txBox="1"/>
          <p:nvPr/>
        </p:nvSpPr>
        <p:spPr>
          <a:xfrm>
            <a:off x="32918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18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3,15 %</a:t>
            </a:r>
            <a:endParaRPr lang="en-US" sz="1700" dirty="0"/>
          </a:p>
        </p:txBody>
      </p:sp>
      <p:sp>
        <p:nvSpPr>
          <p:cNvPr id="25" name="Shape 23"/>
          <p:cNvSpPr/>
          <p:nvPr/>
        </p:nvSpPr>
        <p:spPr>
          <a:xfrm>
            <a:off x="4663440" y="1965960"/>
            <a:ext cx="1234440" cy="1143000"/>
          </a:xfrm>
          <a:prstGeom prst="roundRect">
            <a:avLst>
              <a:gd name="adj" fmla="val 4800"/>
            </a:avLst>
          </a:prstGeom>
          <a:solidFill>
            <a:srgbClr val="EB6834"/>
          </a:solidFill>
          <a:ln w="12700">
            <a:solidFill>
              <a:srgbClr val="EB6834"/>
            </a:solidFill>
            <a:prstDash val="solid"/>
          </a:ln>
        </p:spPr>
      </p:sp>
      <p:sp>
        <p:nvSpPr>
          <p:cNvPr id="26" name="Text 24"/>
          <p:cNvSpPr txBox="1"/>
          <p:nvPr/>
        </p:nvSpPr>
        <p:spPr>
          <a:xfrm>
            <a:off x="46634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24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3,22 %</a:t>
            </a:r>
            <a:endParaRPr lang="en-US" sz="1700" dirty="0"/>
          </a:p>
        </p:txBody>
      </p:sp>
      <p:sp>
        <p:nvSpPr>
          <p:cNvPr id="27" name="Text 25"/>
          <p:cNvSpPr txBox="1"/>
          <p:nvPr/>
        </p:nvSpPr>
        <p:spPr>
          <a:xfrm>
            <a:off x="548640" y="3383280"/>
            <a:ext cx="2651760" cy="640080"/>
          </a:xfrm>
          <a:prstGeom prst="rect">
            <a:avLst/>
          </a:prstGeom>
          <a:noFill/>
          <a:ln/>
        </p:spPr>
        <p:txBody>
          <a:bodyPr wrap="square" lIns="0" tIns="0" rIns="0" bIns="0" rtlCol="0" anchor="b"/>
          <a:lstStyle/>
          <a:p>
            <a:pPr indent="0" marL="0">
              <a:buNone/>
            </a:pPr>
            <a:r>
              <a:rPr lang="en-US" sz="2800" b="1" dirty="0">
                <a:solidFill>
                  <a:srgbClr val="14304F"/>
                </a:solidFill>
                <a:latin typeface="Cambria" pitchFamily="34" charset="0"/>
                <a:ea typeface="Cambria" pitchFamily="34" charset="-122"/>
                <a:cs typeface="Cambria" pitchFamily="34" charset="-120"/>
              </a:rPr>
              <a:t>9,63 M€</a:t>
            </a:r>
            <a:endParaRPr lang="en-US" sz="2800" dirty="0"/>
          </a:p>
        </p:txBody>
      </p:sp>
      <p:sp>
        <p:nvSpPr>
          <p:cNvPr id="28" name="Text 26"/>
          <p:cNvSpPr txBox="1"/>
          <p:nvPr/>
        </p:nvSpPr>
        <p:spPr>
          <a:xfrm>
            <a:off x="5486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investir aujourd'hui, à taux garantis (Allemagne, Pays-Bas…)</a:t>
            </a:r>
            <a:endParaRPr lang="en-US" sz="1200" dirty="0"/>
          </a:p>
        </p:txBody>
      </p:sp>
      <p:sp>
        <p:nvSpPr>
          <p:cNvPr id="29" name="Text 27"/>
          <p:cNvSpPr txBox="1"/>
          <p:nvPr/>
        </p:nvSpPr>
        <p:spPr>
          <a:xfrm>
            <a:off x="3291840" y="3383280"/>
            <a:ext cx="2651760" cy="640080"/>
          </a:xfrm>
          <a:prstGeom prst="rect">
            <a:avLst/>
          </a:prstGeom>
          <a:noFill/>
          <a:ln/>
        </p:spPr>
        <p:txBody>
          <a:bodyPr wrap="square" lIns="0" tIns="0" rIns="0" bIns="0" rtlCol="0" anchor="b"/>
          <a:lstStyle/>
          <a:p>
            <a:pPr indent="0" marL="0">
              <a:buNone/>
            </a:pPr>
            <a:r>
              <a:rPr lang="en-US" sz="2800" b="1" dirty="0">
                <a:solidFill>
                  <a:srgbClr val="1BAF7A"/>
                </a:solidFill>
                <a:latin typeface="Cambria" pitchFamily="34" charset="0"/>
                <a:ea typeface="Cambria" pitchFamily="34" charset="-122"/>
                <a:cs typeface="Cambria" pitchFamily="34" charset="-120"/>
              </a:rPr>
              <a:t>78 k€</a:t>
            </a:r>
            <a:endParaRPr lang="en-US" sz="2800" dirty="0"/>
          </a:p>
        </p:txBody>
      </p:sp>
      <p:sp>
        <p:nvSpPr>
          <p:cNvPr id="30" name="Text 28"/>
          <p:cNvSpPr txBox="1"/>
          <p:nvPr/>
        </p:nvSpPr>
        <p:spPr>
          <a:xfrm>
            <a:off x="32918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économisés face au monétaire</a:t>
            </a:r>
            <a:endParaRPr lang="en-US" sz="1200" dirty="0"/>
          </a:p>
        </p:txBody>
      </p:sp>
      <p:sp>
        <p:nvSpPr>
          <p:cNvPr id="31" name="Shape 29"/>
          <p:cNvSpPr/>
          <p:nvPr/>
        </p:nvSpPr>
        <p:spPr>
          <a:xfrm>
            <a:off x="6263640" y="1463040"/>
            <a:ext cx="5376672" cy="3154680"/>
          </a:xfrm>
          <a:prstGeom prst="roundRect">
            <a:avLst>
              <a:gd name="adj" fmla="val 2319"/>
            </a:avLst>
          </a:prstGeom>
          <a:solidFill>
            <a:srgbClr val="F2F5F9"/>
          </a:solidFill>
          <a:ln w="12700">
            <a:solidFill>
              <a:srgbClr val="F2F5F9"/>
            </a:solidFill>
            <a:prstDash val="solid"/>
          </a:ln>
        </p:spPr>
      </p:sp>
      <p:sp>
        <p:nvSpPr>
          <p:cNvPr id="32" name="Text 30"/>
          <p:cNvSpPr txBox="1"/>
          <p:nvPr/>
        </p:nvSpPr>
        <p:spPr>
          <a:xfrm>
            <a:off x="6492240" y="160020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La poche longue : une échelle 2-3-5-7-10 ans</a:t>
            </a:r>
            <a:endParaRPr lang="en-US" sz="1700" dirty="0"/>
          </a:p>
        </p:txBody>
      </p:sp>
      <p:sp>
        <p:nvSpPr>
          <p:cNvPr id="33" name="Text 31"/>
          <p:cNvSpPr txBox="1"/>
          <p:nvPr/>
        </p:nvSpPr>
        <p:spPr>
          <a:xfrm>
            <a:off x="6492240" y="2057400"/>
            <a:ext cx="237744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3,63 %</a:t>
            </a:r>
            <a:endParaRPr lang="en-US" sz="3000" dirty="0"/>
          </a:p>
        </p:txBody>
      </p:sp>
      <p:sp>
        <p:nvSpPr>
          <p:cNvPr id="34" name="Text 32"/>
          <p:cNvSpPr txBox="1"/>
          <p:nvPr/>
        </p:nvSpPr>
        <p:spPr>
          <a:xfrm>
            <a:off x="649224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moyen, toute la zone euro</a:t>
            </a:r>
            <a:endParaRPr lang="en-US" sz="1200" dirty="0"/>
          </a:p>
        </p:txBody>
      </p:sp>
      <p:sp>
        <p:nvSpPr>
          <p:cNvPr id="35" name="Text 33"/>
          <p:cNvSpPr txBox="1"/>
          <p:nvPr/>
        </p:nvSpPr>
        <p:spPr>
          <a:xfrm>
            <a:off x="9052560" y="2057400"/>
            <a:ext cx="237744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−4,7 %</a:t>
            </a:r>
            <a:endParaRPr lang="en-US" sz="3000" dirty="0"/>
          </a:p>
        </p:txBody>
      </p:sp>
      <p:sp>
        <p:nvSpPr>
          <p:cNvPr id="36" name="Text 34"/>
          <p:cNvSpPr txBox="1"/>
          <p:nvPr/>
        </p:nvSpPr>
        <p:spPr>
          <a:xfrm>
            <a:off x="905256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si les taux montent d'un point</a:t>
            </a:r>
            <a:endParaRPr lang="en-US" sz="1200" dirty="0"/>
          </a:p>
        </p:txBody>
      </p:sp>
      <p:sp>
        <p:nvSpPr>
          <p:cNvPr id="37" name="Text 35"/>
          <p:cNvSpPr txBox="1"/>
          <p:nvPr/>
        </p:nvSpPr>
        <p:spPr>
          <a:xfrm>
            <a:off x="6492240" y="3520440"/>
            <a:ext cx="4937760" cy="1005840"/>
          </a:xfrm>
          <a:prstGeom prst="rect">
            <a:avLst/>
          </a:prstGeom>
          <a:noFill/>
          <a:ln/>
        </p:spPr>
        <p:txBody>
          <a:bodyPr wrap="square" lIns="0" tIns="0" rIns="0" bIns="0" rtlCol="0" anchor="t"/>
          <a:lstStyle/>
          <a:p>
            <a:pPr indent="0" marL="0">
              <a:spcAft>
                <a:spcPts val="600"/>
              </a:spcAft>
              <a:buNone/>
            </a:pPr>
            <a:r>
              <a:rPr lang="en-US" sz="1300" dirty="0">
                <a:solidFill>
                  <a:srgbClr val="1F2937"/>
                </a:solidFill>
                <a:latin typeface="Calibri" pitchFamily="34" charset="0"/>
                <a:ea typeface="Calibri" pitchFamily="34" charset="-122"/>
                <a:cs typeface="Calibri" pitchFamily="34" charset="-120"/>
              </a:rPr>
              <a:t>Allonger au-delà de 10 ans rapporte peu et </a:t>
            </a:r>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multiplie la perte</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en cas de hausse des taux : avec une inflation qui remonte, on n'allonge pas.</a:t>
            </a:r>
            <a:endParaRPr lang="en-US" sz="1300" dirty="0"/>
          </a:p>
        </p:txBody>
      </p:sp>
      <p:sp>
        <p:nvSpPr>
          <p:cNvPr id="38" name="Shape 36"/>
          <p:cNvSpPr/>
          <p:nvPr/>
        </p:nvSpPr>
        <p:spPr>
          <a:xfrm>
            <a:off x="548640" y="4892040"/>
            <a:ext cx="11094415" cy="1280160"/>
          </a:xfrm>
          <a:prstGeom prst="roundRect">
            <a:avLst>
              <a:gd name="adj" fmla="val 5714"/>
            </a:avLst>
          </a:prstGeom>
          <a:solidFill>
            <a:srgbClr val="14304F"/>
          </a:solidFill>
          <a:ln w="12700">
            <a:solidFill>
              <a:srgbClr val="14304F"/>
            </a:solidFill>
            <a:prstDash val="solid"/>
          </a:ln>
        </p:spPr>
      </p:sp>
      <p:sp>
        <p:nvSpPr>
          <p:cNvPr id="39" name="Text 37"/>
          <p:cNvSpPr txBox="1"/>
          <p:nvPr/>
        </p:nvSpPr>
        <p:spPr>
          <a:xfrm>
            <a:off x="777240" y="5029200"/>
            <a:ext cx="10637215" cy="10058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AAA pour l'argent attendu </a:t>
            </a:r>
            <a:pPr indent="0" marL="0">
              <a:buNone/>
            </a:pPr>
            <a:r>
              <a:rPr lang="en-US" sz="1450" b="1" dirty="0">
                <a:solidFill>
                  <a:srgbClr val="F5C969"/>
                </a:solidFill>
                <a:latin typeface="Calibri" pitchFamily="34" charset="0"/>
                <a:ea typeface="Calibri" pitchFamily="34" charset="-122"/>
                <a:cs typeface="Calibri" pitchFamily="34" charset="-120"/>
              </a:rPr>
              <a:t>à date fixe</a:t>
            </a:r>
            <a:pPr indent="0" marL="0">
              <a:buNone/>
            </a:pPr>
            <a:r>
              <a:rPr lang="en-US" sz="1450" dirty="0">
                <a:solidFill>
                  <a:srgbClr val="FFFFFF"/>
                </a:solidFill>
                <a:latin typeface="Calibri" pitchFamily="34" charset="0"/>
                <a:ea typeface="Calibri" pitchFamily="34" charset="-122"/>
                <a:cs typeface="Calibri" pitchFamily="34" charset="-120"/>
              </a:rPr>
              <a:t> ; toute la zone euro, diversifiée, pour la poche longue (tous « investment grade », près d'un demi-point de plus à 10 ans).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autres classes : les meilleurs fonds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Exclusions conformes au mandat  →  taille d'au moins 1 Md€  →  frais les plus bas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justETF, Yahoo, méthodologies MSCI lues le 18/09/2026 · « Screened » écarté : il n'exclut pas l'armement conventionnel</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2377440"/>
                <a:gridCol w="3566160"/>
                <a:gridCol w="822960"/>
                <a:gridCol w="822960"/>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Fonds retenu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Frais / an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Taille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États-Unis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XZMU · Xtrackers MSCI USA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7,6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Japon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XZMJ · Xtrackers MSCI Japan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2,7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émergentes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XZEM · Xtrackers MSCI Emerging Markets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Obligations indexées sur l'inflation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IBCI · iShares € Inflation Linked Govt Bond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1,9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4GLD · Xetra-Gold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Matières premières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SXRS · iShares Diversified Commodity Swap</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Crédit euro bien noté, court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QDVL · iShares € Corp Bond 0-3yr ESG SRI</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12480" y="1463040"/>
            <a:ext cx="32461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États-Unis et Japon séparés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plutôt qu'un fonds Monde qui recompterait l'Europe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 seul fonds conforme s'écarte du marché (−4,0 % par an sur 7 ans) — écart annoncé au client</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Infrastructure retirée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aucun fonds à la fois assez gros et conforme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Neuf libellés faux</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corrigés dans l'univers de départ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court rapporte à peine plus que l'État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Fonds retenu : QDVL, obligations d'entreprises bien notées, durée 1,4 an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Fiches iShares · courbe BCE (État de même échéance) · pertes sur défauts : Moody's</a:t>
            </a:r>
            <a:endParaRPr lang="en-US" sz="850" dirty="0"/>
          </a:p>
        </p:txBody>
      </p:sp>
      <p:sp>
        <p:nvSpPr>
          <p:cNvPr id="18" name="Text 16"/>
          <p:cNvSpPr txBox="1"/>
          <p:nvPr/>
        </p:nvSpPr>
        <p:spPr>
          <a:xfrm>
            <a:off x="548640" y="1645920"/>
            <a:ext cx="3474720" cy="64008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+0,24 pt</a:t>
            </a:r>
            <a:endParaRPr lang="en-US" sz="4400" dirty="0"/>
          </a:p>
        </p:txBody>
      </p:sp>
      <p:sp>
        <p:nvSpPr>
          <p:cNvPr id="19" name="Text 17"/>
          <p:cNvSpPr txBox="1"/>
          <p:nvPr/>
        </p:nvSpPr>
        <p:spPr>
          <a:xfrm>
            <a:off x="54864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plus qu'un État de même échéance (0,13 pt après défauts)</a:t>
            </a:r>
            <a:endParaRPr lang="en-US" sz="1200" dirty="0"/>
          </a:p>
        </p:txBody>
      </p:sp>
      <p:sp>
        <p:nvSpPr>
          <p:cNvPr id="20" name="Text 18"/>
          <p:cNvSpPr txBox="1"/>
          <p:nvPr/>
        </p:nvSpPr>
        <p:spPr>
          <a:xfrm>
            <a:off x="4343400" y="1645920"/>
            <a:ext cx="347472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−3,5 %</a:t>
            </a:r>
            <a:endParaRPr lang="en-US" sz="4400" dirty="0"/>
          </a:p>
        </p:txBody>
      </p:sp>
      <p:sp>
        <p:nvSpPr>
          <p:cNvPr id="21" name="Text 19"/>
          <p:cNvSpPr txBox="1"/>
          <p:nvPr/>
        </p:nvSpPr>
        <p:spPr>
          <a:xfrm>
            <a:off x="434340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en 2020, contre −1,1 % pour l'État de même durée</a:t>
            </a:r>
            <a:endParaRPr lang="en-US" sz="1200" dirty="0"/>
          </a:p>
        </p:txBody>
      </p:sp>
      <p:sp>
        <p:nvSpPr>
          <p:cNvPr id="22" name="Text 20"/>
          <p:cNvSpPr txBox="1"/>
          <p:nvPr/>
        </p:nvSpPr>
        <p:spPr>
          <a:xfrm>
            <a:off x="8138160" y="1645920"/>
            <a:ext cx="3474720" cy="640080"/>
          </a:xfrm>
          <a:prstGeom prst="rect">
            <a:avLst/>
          </a:prstGeom>
          <a:noFill/>
          <a:ln/>
        </p:spPr>
        <p:txBody>
          <a:bodyPr wrap="square" lIns="0" tIns="0" rIns="0" bIns="0" rtlCol="0" anchor="b"/>
          <a:lstStyle/>
          <a:p>
            <a:pPr indent="0" marL="0">
              <a:buNone/>
            </a:pPr>
            <a:r>
              <a:rPr lang="en-US" sz="4400" b="1" dirty="0">
                <a:solidFill>
                  <a:srgbClr val="14304F"/>
                </a:solidFill>
                <a:latin typeface="Cambria" pitchFamily="34" charset="0"/>
                <a:ea typeface="Cambria" pitchFamily="34" charset="-122"/>
                <a:cs typeface="Cambria" pitchFamily="34" charset="-120"/>
              </a:rPr>
              <a:t>3,39 %</a:t>
            </a:r>
            <a:endParaRPr lang="en-US" sz="4400" dirty="0"/>
          </a:p>
        </p:txBody>
      </p:sp>
      <p:sp>
        <p:nvSpPr>
          <p:cNvPr id="23" name="Text 21"/>
          <p:cNvSpPr txBox="1"/>
          <p:nvPr/>
        </p:nvSpPr>
        <p:spPr>
          <a:xfrm>
            <a:off x="813816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rendement retenu pour l'étape 4, défauts déduits</a:t>
            </a:r>
            <a:endParaRPr lang="en-US" sz="1200" dirty="0"/>
          </a:p>
        </p:txBody>
      </p:sp>
      <p:graphicFrame>
        <p:nvGraphicFramePr>
          <p:cNvPr id="24" name="Chart 0" descr=""/>
          <p:cNvGraphicFramePr/>
          <p:nvPr/>
        </p:nvGraphicFramePr>
        <p:xfrm>
          <a:off x="548640" y="34290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7498080" y="3566160"/>
            <a:ext cx="4142232" cy="2651760"/>
          </a:xfrm>
          <a:prstGeom prst="roundRect">
            <a:avLst>
              <a:gd name="adj" fmla="val 2759"/>
            </a:avLst>
          </a:prstGeom>
          <a:solidFill>
            <a:srgbClr val="14304F"/>
          </a:solidFill>
          <a:ln w="12700">
            <a:solidFill>
              <a:srgbClr val="14304F"/>
            </a:solidFill>
            <a:prstDash val="solid"/>
          </a:ln>
        </p:spPr>
      </p:sp>
      <p:sp>
        <p:nvSpPr>
          <p:cNvPr id="26" name="Text 23"/>
          <p:cNvSpPr txBox="1"/>
          <p:nvPr/>
        </p:nvSpPr>
        <p:spPr>
          <a:xfrm>
            <a:off x="7726680" y="3703320"/>
            <a:ext cx="3685032" cy="23774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 haut rendement rapporte, défauts déduits, </a:t>
            </a:r>
            <a:pPr indent="0" marL="0">
              <a:buNone/>
            </a:pPr>
            <a:r>
              <a:rPr lang="en-US" sz="1500" b="1" dirty="0">
                <a:solidFill>
                  <a:srgbClr val="F5C969"/>
                </a:solidFill>
                <a:latin typeface="Calibri" pitchFamily="34" charset="0"/>
                <a:ea typeface="Calibri" pitchFamily="34" charset="-122"/>
                <a:cs typeface="Calibri" pitchFamily="34" charset="-120"/>
              </a:rPr>
              <a:t>moins que les États</a:t>
            </a:r>
            <a:pPr indent="0" marL="0">
              <a:buNone/>
            </a:pPr>
            <a:r>
              <a:rPr lang="en-US" sz="1500" dirty="0">
                <a:solidFill>
                  <a:srgbClr val="FFFFFF"/>
                </a:solidFill>
                <a:latin typeface="Calibri" pitchFamily="34" charset="0"/>
                <a:ea typeface="Calibri" pitchFamily="34" charset="-122"/>
                <a:cs typeface="Calibri" pitchFamily="34" charset="-120"/>
              </a:rPr>
              <a:t>. Le crédit court, </a:t>
            </a:r>
            <a:pPr indent="0" marL="0">
              <a:buNone/>
            </a:pPr>
            <a:r>
              <a:rPr lang="en-US" sz="1500" b="1" dirty="0">
                <a:solidFill>
                  <a:srgbClr val="F5C969"/>
                </a:solidFill>
                <a:latin typeface="Calibri" pitchFamily="34" charset="0"/>
                <a:ea typeface="Calibri" pitchFamily="34" charset="-122"/>
                <a:cs typeface="Calibri" pitchFamily="34" charset="-120"/>
              </a:rPr>
              <a:t>moins que l'échelle d'États 2-10 ans</a:t>
            </a:r>
            <a:pPr indent="0" marL="0">
              <a:buNone/>
            </a:pPr>
            <a:r>
              <a:rPr lang="en-US" sz="1500" dirty="0">
                <a:solidFill>
                  <a:srgbClr val="FFFFFF"/>
                </a:solidFill>
                <a:latin typeface="Calibri" pitchFamily="34" charset="0"/>
                <a:ea typeface="Calibri" pitchFamily="34" charset="-122"/>
                <a:cs typeface="Calibri" pitchFamily="34" charset="-120"/>
              </a:rPr>
              <a:t> : sa place sera au mieux modeste.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4</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Allocation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Combien placer sur chaque support pour rapporter au moins 4 % sans jamais perdre plus de 15 %</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Seules les actions et les indexées dépassent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espéré de chaque support : étape 2, corrigé de ce que l'étape 3 a appris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Actions européennes : rendement de l'indice (le panier n'est pas supposé battre son marché)</a:t>
            </a:r>
            <a:endParaRPr lang="en-US" sz="850" dirty="0"/>
          </a:p>
        </p:txBody>
      </p:sp>
      <p:graphicFrame>
        <p:nvGraphicFramePr>
          <p:cNvPr id="18" name="Chart 0" descr=""/>
          <p:cNvGraphicFramePr/>
          <p:nvPr/>
        </p:nvGraphicFramePr>
        <p:xfrm>
          <a:off x="548640" y="1417320"/>
          <a:ext cx="6766560" cy="489204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589520" y="1463040"/>
            <a:ext cx="4050792" cy="2651760"/>
          </a:xfrm>
          <a:prstGeom prst="roundRect">
            <a:avLst>
              <a:gd name="adj" fmla="val 2759"/>
            </a:avLst>
          </a:prstGeom>
          <a:solidFill>
            <a:srgbClr val="F2F5F9"/>
          </a:solidFill>
          <a:ln w="12700">
            <a:solidFill>
              <a:srgbClr val="F2F5F9"/>
            </a:solidFill>
            <a:prstDash val="solid"/>
          </a:ln>
        </p:spPr>
      </p:sp>
      <p:sp>
        <p:nvSpPr>
          <p:cNvPr id="20" name="Text 17"/>
          <p:cNvSpPr txBox="1"/>
          <p:nvPr/>
        </p:nvSpPr>
        <p:spPr>
          <a:xfrm>
            <a:off x="7818120" y="1572768"/>
            <a:ext cx="36576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La règle de perte</a:t>
            </a:r>
            <a:endParaRPr lang="en-US" sz="1600" dirty="0"/>
          </a:p>
        </p:txBody>
      </p:sp>
      <p:sp>
        <p:nvSpPr>
          <p:cNvPr id="21" name="Text 18"/>
          <p:cNvSpPr txBox="1"/>
          <p:nvPr/>
        </p:nvSpPr>
        <p:spPr>
          <a:xfrm>
            <a:off x="7818120" y="1965960"/>
            <a:ext cx="365760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Mesurée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depuis le plus haut</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Sur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les 100 M€</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ensemble</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Jamais au-delà de 15 % dans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2008, 2011, 2020, 2022</a:t>
            </a:r>
            <a:endParaRPr lang="en-US" sz="1350" dirty="0"/>
          </a:p>
          <a:p>
            <a:pPr marL="203200" indent="-203200">
              <a:spcAft>
                <a:spcPts val="600"/>
              </a:spcAft>
              <a:buSzPct val="100000"/>
              <a:buChar char="•"/>
            </a:pPr>
            <a:r>
              <a:rPr lang="en-US" sz="1350" b="1" dirty="0">
                <a:solidFill>
                  <a:srgbClr val="14304F"/>
                </a:solidFill>
                <a:latin typeface="Calibri" pitchFamily="34" charset="0"/>
                <a:ea typeface="Calibri" pitchFamily="34" charset="-122"/>
                <a:cs typeface="Calibri" pitchFamily="34" charset="-120"/>
              </a:rPr>
              <a:t>Pas de crypto</a:t>
            </a:r>
            <a:endParaRPr lang="en-US" sz="1350" dirty="0"/>
          </a:p>
        </p:txBody>
      </p:sp>
      <p:sp>
        <p:nvSpPr>
          <p:cNvPr id="22" name="Shape 19"/>
          <p:cNvSpPr/>
          <p:nvPr/>
        </p:nvSpPr>
        <p:spPr>
          <a:xfrm>
            <a:off x="7589520" y="4343400"/>
            <a:ext cx="4050792" cy="1874520"/>
          </a:xfrm>
          <a:prstGeom prst="roundRect">
            <a:avLst>
              <a:gd name="adj" fmla="val 3902"/>
            </a:avLst>
          </a:prstGeom>
          <a:solidFill>
            <a:srgbClr val="14304F"/>
          </a:solidFill>
          <a:ln w="12700">
            <a:solidFill>
              <a:srgbClr val="14304F"/>
            </a:solidFill>
            <a:prstDash val="solid"/>
          </a:ln>
        </p:spPr>
      </p:sp>
      <p:sp>
        <p:nvSpPr>
          <p:cNvPr id="23" name="Text 20"/>
          <p:cNvSpPr txBox="1"/>
          <p:nvPr/>
        </p:nvSpPr>
        <p:spPr>
          <a:xfrm>
            <a:off x="7818120" y="4480560"/>
            <a:ext cx="3593592" cy="1600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Chaque euro placé en obligations ou en or devra être </a:t>
            </a:r>
            <a:pPr indent="0" marL="0">
              <a:buNone/>
            </a:pPr>
            <a:r>
              <a:rPr lang="en-US" sz="1400" b="1" dirty="0">
                <a:solidFill>
                  <a:srgbClr val="F5C969"/>
                </a:solidFill>
                <a:latin typeface="Calibri" pitchFamily="34" charset="0"/>
                <a:ea typeface="Calibri" pitchFamily="34" charset="-122"/>
                <a:cs typeface="Calibri" pitchFamily="34" charset="-120"/>
              </a:rPr>
              <a:t>compensé par des actions</a:t>
            </a:r>
            <a:pPr indent="0" marL="0">
              <a:buNone/>
            </a:pPr>
            <a:r>
              <a:rPr lang="en-US" sz="1400" dirty="0">
                <a:solidFill>
                  <a:srgbClr val="FFFFFF"/>
                </a:solidFill>
                <a:latin typeface="Calibri" pitchFamily="34" charset="0"/>
                <a:ea typeface="Calibri" pitchFamily="34" charset="-122"/>
                <a:cs typeface="Calibri" pitchFamily="34" charset="-120"/>
              </a:rPr>
              <a:t> : c'est la tension entre 4 % et 15 %.</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En crise, qui amortit ? Ça dépend de la crise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Variation de chaque support pendant que les actions baissaient, du sommet au creux</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depuis octobre 2006 · vrai support dès qu'il existe, remplaçant avant · crises datées à l'avance</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560320"/>
                <a:gridCol w="1234440"/>
                <a:gridCol w="1234440"/>
                <a:gridCol w="1234440"/>
                <a:gridCol w="1234440"/>
              </a:tblGrid>
              <a:tr h="56692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2008 · Crise financière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2011 · Crise des dettes de la 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2020 · Covid</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2022 · Retour de l'inflation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Poche actions (40/35/10/15)</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−54 %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États zone euro 2-10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Obligations indexées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Matières premières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−15 %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Bitcoin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−63 %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9" name="Text 16"/>
          <p:cNvSpPr txBox="1"/>
          <p:nvPr/>
        </p:nvSpPr>
        <p:spPr>
          <a:xfrm>
            <a:off x="8412480" y="1463040"/>
            <a:ext cx="32461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 28 %</a:t>
            </a:r>
            <a:endParaRPr lang="en-US" sz="3400" dirty="0"/>
          </a:p>
        </p:txBody>
      </p:sp>
      <p:sp>
        <p:nvSpPr>
          <p:cNvPr id="20" name="Text 17"/>
          <p:cNvSpPr txBox="1"/>
          <p:nvPr/>
        </p:nvSpPr>
        <p:spPr>
          <a:xfrm>
            <a:off x="8412480" y="2121408"/>
            <a:ext cx="32461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d'actions au plus sans amortisseur (15 ÷ 54)</a:t>
            </a:r>
            <a:endParaRPr lang="en-US" sz="1200" dirty="0"/>
          </a:p>
        </p:txBody>
      </p:sp>
      <p:sp>
        <p:nvSpPr>
          <p:cNvPr id="21" name="Text 18"/>
          <p:cNvSpPr txBox="1"/>
          <p:nvPr/>
        </p:nvSpPr>
        <p:spPr>
          <a:xfrm>
            <a:off x="8412480" y="2926080"/>
            <a:ext cx="3246120" cy="329184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Récession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(2008, 2011) : les États montent</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(2022) : tout baisse ensemble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L'or</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tient dans les quatre crises</a:t>
            </a:r>
            <a:endParaRPr lang="en-US" sz="1350" dirty="0"/>
          </a:p>
          <a:p>
            <a:pPr marL="203200" indent="-203200">
              <a:spcAft>
                <a:spcPts val="900"/>
              </a:spcAft>
              <a:buSzPct val="100000"/>
              <a:buChar char="•"/>
            </a:pPr>
            <a:r>
              <a:rPr lang="en-US" sz="1350" dirty="0">
                <a:solidFill>
                  <a:srgbClr val="1F2937"/>
                </a:solidFill>
                <a:latin typeface="Calibri" pitchFamily="34" charset="0"/>
                <a:ea typeface="Calibri" pitchFamily="34" charset="-122"/>
                <a:cs typeface="Calibri" pitchFamily="34" charset="-120"/>
              </a:rPr>
              <a:t>Matières premières et bitcoin :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aucun amortisseur</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mêmes supports, mais quand ça tangue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Corrélation des variations hebdomadaires : 100 = ils font la même chose, 0 = indépendants, négatif = l'un monte quand l'autre baisse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octobre 2006 - septembre 2026 · crises : les quatre fenêtres datées · bitcoin écarté (cotations depuis 2014 seulement)</a:t>
            </a:r>
            <a:endParaRPr lang="en-US" sz="850" dirty="0"/>
          </a:p>
        </p:txBody>
      </p:sp>
      <p:sp>
        <p:nvSpPr>
          <p:cNvPr id="18" name="Text 16"/>
          <p:cNvSpPr txBox="1"/>
          <p:nvPr/>
        </p:nvSpPr>
        <p:spPr>
          <a:xfrm>
            <a:off x="548640"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Hors crise</a:t>
            </a:r>
            <a:pPr indent="0" marL="0">
              <a:buNone/>
            </a:pPr>
            <a:r>
              <a:rPr lang="en-US" sz="1100" dirty="0">
                <a:solidFill>
                  <a:srgbClr val="6B7280"/>
                </a:solidFill>
                <a:latin typeface="Calibri" pitchFamily="34" charset="0"/>
                <a:ea typeface="Calibri" pitchFamily="34" charset="-122"/>
                <a:cs typeface="Calibri" pitchFamily="34" charset="-120"/>
              </a:rPr>
              <a:t>   737 semaines</a:t>
            </a:r>
            <a:endParaRPr lang="en-US" sz="13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20" name="Text 17"/>
          <p:cNvSpPr txBox="1"/>
          <p:nvPr/>
        </p:nvSpPr>
        <p:spPr>
          <a:xfrm>
            <a:off x="6245352"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En crise</a:t>
            </a:r>
            <a:pPr indent="0" marL="0">
              <a:buNone/>
            </a:pPr>
            <a:r>
              <a:rPr lang="en-US" sz="1100" dirty="0">
                <a:solidFill>
                  <a:srgbClr val="6B7280"/>
                </a:solidFill>
                <a:latin typeface="Calibri" pitchFamily="34" charset="0"/>
                <a:ea typeface="Calibri" pitchFamily="34" charset="-122"/>
                <a:cs typeface="Calibri" pitchFamily="34" charset="-120"/>
              </a:rPr>
              <a:t>   300 semaines</a:t>
            </a:r>
            <a:endParaRPr lang="en-US" sz="135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245352"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22" name="Shape 18"/>
          <p:cNvSpPr/>
          <p:nvPr/>
        </p:nvSpPr>
        <p:spPr>
          <a:xfrm>
            <a:off x="548640" y="4864608"/>
            <a:ext cx="11094415" cy="1417320"/>
          </a:xfrm>
          <a:prstGeom prst="roundRect">
            <a:avLst>
              <a:gd name="adj" fmla="val 5161"/>
            </a:avLst>
          </a:prstGeom>
          <a:solidFill>
            <a:srgbClr val="F2F5F9"/>
          </a:solidFill>
          <a:ln w="12700">
            <a:solidFill>
              <a:srgbClr val="F2F5F9"/>
            </a:solidFill>
            <a:prstDash val="solid"/>
          </a:ln>
        </p:spPr>
      </p:sp>
      <p:sp>
        <p:nvSpPr>
          <p:cNvPr id="23" name="Text 19"/>
          <p:cNvSpPr txBox="1"/>
          <p:nvPr/>
        </p:nvSpPr>
        <p:spPr>
          <a:xfrm>
            <a:off x="777240" y="4983480"/>
            <a:ext cx="52578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L'échelle AAA</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passe de −3 à −21 face aux actions,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l'or</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de +12 à −11 : les deux amortisseurs se déclenchent au bon moment</a:t>
            </a:r>
            <a:endParaRPr lang="en-US" sz="1300" dirty="0"/>
          </a:p>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Les matières premières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restent à +36 : elles diversifient peu, d'où leur place réduite</a:t>
            </a:r>
            <a:endParaRPr lang="en-US" sz="1300" dirty="0"/>
          </a:p>
        </p:txBody>
      </p:sp>
      <p:sp>
        <p:nvSpPr>
          <p:cNvPr id="24" name="Text 20"/>
          <p:cNvSpPr txBox="1"/>
          <p:nvPr/>
        </p:nvSpPr>
        <p:spPr>
          <a:xfrm>
            <a:off x="6355080" y="4983480"/>
            <a:ext cx="50292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 revers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entre eux, crédit court et indexées passent de +36 à +62, États courts et longs de +51 à +71</a:t>
            </a:r>
            <a:endParaRPr lang="en-US" sz="1300" dirty="0"/>
          </a:p>
          <a:p>
            <a:pPr marL="203200" indent="-203200">
              <a:spcAft>
                <a:spcPts val="700"/>
              </a:spcAft>
              <a:buSzPct val="100000"/>
              <a:buChar char="•"/>
            </a:pPr>
            <a:r>
              <a:rPr lang="en-US" sz="1300" dirty="0">
                <a:solidFill>
                  <a:srgbClr val="1F2937"/>
                </a:solidFill>
                <a:latin typeface="Calibri" pitchFamily="34" charset="0"/>
                <a:ea typeface="Calibri" pitchFamily="34" charset="-122"/>
                <a:cs typeface="Calibri" pitchFamily="34" charset="-120"/>
              </a:rPr>
              <a:t>Le coussin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se resserre sur lui-même</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d'où le refus de le concentrer sur une seule maturité</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calcul libre apprend le passé par cœur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répartition qui rapporte le plus, avec une seule exigence : jamais plus de 15 % de baisse sur 2006-2026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graphicFrame>
        <p:nvGraphicFramePr>
          <p:cNvPr id="17" name="Chart 0" descr=""/>
          <p:cNvGraphicFramePr/>
          <p:nvPr/>
        </p:nvGraphicFramePr>
        <p:xfrm>
          <a:off x="548640" y="1463040"/>
          <a:ext cx="576072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31520" y="4983480"/>
            <a:ext cx="2560320" cy="640080"/>
          </a:xfrm>
          <a:prstGeom prst="rect">
            <a:avLst/>
          </a:prstGeom>
          <a:noFill/>
          <a:ln/>
        </p:spPr>
        <p:txBody>
          <a:bodyPr wrap="square" lIns="0" tIns="0" rIns="0" bIns="0" rtlCol="0" anchor="b"/>
          <a:lstStyle/>
          <a:p>
            <a:pPr indent="0" marL="0">
              <a:buNone/>
            </a:pPr>
            <a:r>
              <a:rPr lang="en-US" sz="3400" b="1" dirty="0">
                <a:solidFill>
                  <a:srgbClr val="1BAF7A"/>
                </a:solidFill>
                <a:latin typeface="Cambria" pitchFamily="34" charset="0"/>
                <a:ea typeface="Cambria" pitchFamily="34" charset="-122"/>
                <a:cs typeface="Cambria" pitchFamily="34" charset="-120"/>
              </a:rPr>
              <a:t>6,47 %</a:t>
            </a:r>
            <a:endParaRPr lang="en-US" sz="3400" dirty="0"/>
          </a:p>
        </p:txBody>
      </p:sp>
      <p:sp>
        <p:nvSpPr>
          <p:cNvPr id="19" name="Text 16"/>
          <p:cNvSpPr txBox="1"/>
          <p:nvPr/>
        </p:nvSpPr>
        <p:spPr>
          <a:xfrm>
            <a:off x="73152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sur le papier</a:t>
            </a:r>
            <a:endParaRPr lang="en-US" sz="1200" dirty="0"/>
          </a:p>
        </p:txBody>
      </p:sp>
      <p:sp>
        <p:nvSpPr>
          <p:cNvPr id="20" name="Text 17"/>
          <p:cNvSpPr txBox="1"/>
          <p:nvPr/>
        </p:nvSpPr>
        <p:spPr>
          <a:xfrm>
            <a:off x="3566160" y="4983480"/>
            <a:ext cx="25603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−15,0 %</a:t>
            </a:r>
            <a:endParaRPr lang="en-US" sz="3400" dirty="0"/>
          </a:p>
        </p:txBody>
      </p:sp>
      <p:sp>
        <p:nvSpPr>
          <p:cNvPr id="21" name="Text 18"/>
          <p:cNvSpPr txBox="1"/>
          <p:nvPr/>
        </p:nvSpPr>
        <p:spPr>
          <a:xfrm>
            <a:off x="356616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 la limite tout juste</a:t>
            </a:r>
            <a:endParaRPr lang="en-US" sz="1200" dirty="0"/>
          </a:p>
        </p:txBody>
      </p:sp>
      <p:sp>
        <p:nvSpPr>
          <p:cNvPr id="22" name="Shape 19"/>
          <p:cNvSpPr/>
          <p:nvPr/>
        </p:nvSpPr>
        <p:spPr>
          <a:xfrm>
            <a:off x="6675120" y="1463040"/>
            <a:ext cx="4965192" cy="4754880"/>
          </a:xfrm>
          <a:prstGeom prst="roundRect">
            <a:avLst>
              <a:gd name="adj" fmla="val 1538"/>
            </a:avLst>
          </a:prstGeom>
          <a:solidFill>
            <a:srgbClr val="F2F5F9"/>
          </a:solidFill>
          <a:ln w="12700">
            <a:solidFill>
              <a:srgbClr val="F2F5F9"/>
            </a:solidFill>
            <a:prstDash val="solid"/>
          </a:ln>
        </p:spPr>
      </p:sp>
      <p:sp>
        <p:nvSpPr>
          <p:cNvPr id="23" name="Text 20"/>
          <p:cNvSpPr txBox="1"/>
          <p:nvPr/>
        </p:nvSpPr>
        <p:spPr>
          <a:xfrm>
            <a:off x="6903720" y="1572768"/>
            <a:ext cx="45720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c'est inutilisable</a:t>
            </a:r>
            <a:endParaRPr lang="en-US" sz="1600" dirty="0"/>
          </a:p>
        </p:txBody>
      </p:sp>
      <p:sp>
        <p:nvSpPr>
          <p:cNvPr id="24" name="Text 21"/>
          <p:cNvSpPr txBox="1"/>
          <p:nvPr/>
        </p:nvSpPr>
        <p:spPr>
          <a:xfrm>
            <a:off x="6903720" y="2011680"/>
            <a:ext cx="4572000" cy="4114800"/>
          </a:xfrm>
          <a:prstGeom prst="rect">
            <a:avLst/>
          </a:prstGeom>
          <a:noFill/>
          <a:ln/>
        </p:spPr>
        <p:txBody>
          <a:bodyPr wrap="square" lIns="0" tIns="0" rIns="0" bIns="0" rtlCol="0" anchor="t"/>
          <a:lstStyle/>
          <a:p>
            <a:pPr marL="203200" indent="-203200">
              <a:spcAft>
                <a:spcPts val="1200"/>
              </a:spcAft>
              <a:buSzPct val="100000"/>
              <a:buChar char="•"/>
            </a:pPr>
            <a:r>
              <a:rPr lang="en-US" sz="1450" b="1" dirty="0">
                <a:solidFill>
                  <a:srgbClr val="14304F"/>
                </a:solidFill>
                <a:latin typeface="Calibri" pitchFamily="34" charset="0"/>
                <a:ea typeface="Calibri" pitchFamily="34" charset="-122"/>
                <a:cs typeface="Calibri" pitchFamily="34" charset="-120"/>
              </a:rPr>
              <a:t>87 % sur deux supports</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 si l'un se comporte autrement qu'en 2006-2026, rien ne compense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 Japon n'est pas gardé pour son rendement : ramené à 8,94 %, il reste à 28 %. Il l'est pour sa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tenue en crise</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(le yen refuge)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indexées : leur 2008 est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flatté par le remplaçant</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10 M€ ignorés :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1 %</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seulement en AAA</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L'Europe à zéro, alors que c'est la poche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construite titre par titre</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Quatre règles, chacune chiffrée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On ajoute les règles une à une ; chaque ligne garde les précédentes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400800" cy="914400"/>
        </p:xfrm>
        <a:graphic>
          <a:graphicData uri="http://schemas.openxmlformats.org/drawingml/2006/table">
            <a:tbl>
              <a:tblPr/>
              <a:tblGrid>
                <a:gridCol w="2880360"/>
                <a:gridCol w="1783080"/>
                <a:gridCol w="914400"/>
                <a:gridCol w="82296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Règle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Pourquoi</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Rendement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Coût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Calcul libre (limite de 15 % seule)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6,47 %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Au moins 10 % sur l'échelle AAA</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Les 10 M€ à décaisser</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6,46 %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Actions 40 / 35 / 10 / 15</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pari sur le yen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5,78 %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Plafonds (indexées 15 %, or 10 %…)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concentration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5,40 %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Marge : pire baisse visée 14 %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Remplaçants flatteurs</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5,31 %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−0,09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18" name="Chart 0" descr=""/>
          <p:cNvGraphicFramePr/>
          <p:nvPr/>
        </p:nvGraphicFramePr>
        <p:xfrm>
          <a:off x="7178040" y="1371600"/>
          <a:ext cx="4480560" cy="374904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4572000"/>
            <a:ext cx="6400800" cy="1645920"/>
          </a:xfrm>
          <a:prstGeom prst="roundRect">
            <a:avLst>
              <a:gd name="adj" fmla="val 4444"/>
            </a:avLst>
          </a:prstGeom>
          <a:solidFill>
            <a:srgbClr val="14304F"/>
          </a:solidFill>
          <a:ln w="12700">
            <a:solidFill>
              <a:srgbClr val="14304F"/>
            </a:solidFill>
            <a:prstDash val="solid"/>
          </a:ln>
        </p:spPr>
      </p:sp>
      <p:sp>
        <p:nvSpPr>
          <p:cNvPr id="20" name="Text 16"/>
          <p:cNvSpPr txBox="1"/>
          <p:nvPr/>
        </p:nvSpPr>
        <p:spPr>
          <a:xfrm>
            <a:off x="777240" y="4709160"/>
            <a:ext cx="59436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La plus chère : </a:t>
            </a:r>
            <a:pPr indent="0" marL="0">
              <a:buNone/>
            </a:pPr>
            <a:r>
              <a:rPr lang="en-US" sz="1400" b="1" dirty="0">
                <a:solidFill>
                  <a:srgbClr val="F5C969"/>
                </a:solidFill>
                <a:latin typeface="Calibri" pitchFamily="34" charset="0"/>
                <a:ea typeface="Calibri" pitchFamily="34" charset="-122"/>
                <a:cs typeface="Calibri" pitchFamily="34" charset="-120"/>
              </a:rPr>
              <a:t>la clé des actions</a:t>
            </a:r>
            <a:pPr indent="0" marL="0">
              <a:buNone/>
            </a:pPr>
            <a:r>
              <a:rPr lang="en-US" sz="1400" dirty="0">
                <a:solidFill>
                  <a:srgbClr val="FFFFFF"/>
                </a:solidFill>
                <a:latin typeface="Calibri" pitchFamily="34" charset="0"/>
                <a:ea typeface="Calibri" pitchFamily="34" charset="-122"/>
                <a:cs typeface="Calibri" pitchFamily="34" charset="-120"/>
              </a:rPr>
              <a:t> (−0,68 pt). Coût total des règles : </a:t>
            </a:r>
            <a:pPr indent="0" marL="0">
              <a:buNone/>
            </a:pPr>
            <a:r>
              <a:rPr lang="en-US" sz="1400" b="1" dirty="0">
                <a:solidFill>
                  <a:srgbClr val="F5C969"/>
                </a:solidFill>
                <a:latin typeface="Calibri" pitchFamily="34" charset="0"/>
                <a:ea typeface="Calibri" pitchFamily="34" charset="-122"/>
                <a:cs typeface="Calibri" pitchFamily="34" charset="-120"/>
              </a:rPr>
              <a:t>−1,17 pt</a:t>
            </a:r>
            <a:pPr indent="0" marL="0">
              <a:buNone/>
            </a:pPr>
            <a:r>
              <a:rPr lang="en-US" sz="1400" dirty="0">
                <a:solidFill>
                  <a:srgbClr val="FFFFFF"/>
                </a:solidFill>
                <a:latin typeface="Calibri" pitchFamily="34" charset="0"/>
                <a:ea typeface="Calibri" pitchFamily="34" charset="-122"/>
                <a:cs typeface="Calibri" pitchFamily="34" charset="-120"/>
              </a:rPr>
              <a:t> — le prix pour ne pas miser sur un passé appris par cœur.</a:t>
            </a:r>
            <a:endParaRPr lang="en-US" sz="1400" dirty="0"/>
          </a:p>
        </p:txBody>
      </p:sp>
      <p:sp>
        <p:nvSpPr>
          <p:cNvPr id="21" name="Text 17"/>
          <p:cNvSpPr txBox="1"/>
          <p:nvPr/>
        </p:nvSpPr>
        <p:spPr>
          <a:xfrm>
            <a:off x="7178040" y="5257800"/>
            <a:ext cx="4480560" cy="1005840"/>
          </a:xfrm>
          <a:prstGeom prst="rect">
            <a:avLst/>
          </a:prstGeom>
          <a:noFill/>
          <a:ln/>
        </p:spPr>
        <p:txBody>
          <a:bodyPr wrap="square" lIns="0" tIns="0" rIns="0" bIns="0" rtlCol="0" anchor="t"/>
          <a:lstStyle/>
          <a:p>
            <a:pPr indent="0" marL="0">
              <a:spcAft>
                <a:spcPts val="600"/>
              </a:spcAft>
              <a:buNone/>
            </a:pPr>
            <a:r>
              <a:rPr lang="en-US" sz="1150" dirty="0">
                <a:solidFill>
                  <a:srgbClr val="1F2937"/>
                </a:solidFill>
                <a:latin typeface="Calibri" pitchFamily="34" charset="0"/>
                <a:ea typeface="Calibri" pitchFamily="34" charset="-122"/>
                <a:cs typeface="Calibri" pitchFamily="34" charset="-120"/>
              </a:rPr>
              <a:t>Crédit et matières premières restent </a:t>
            </a:r>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à zéro</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 : le crédit rapporte moins que les États, les matières premières baissent avec les actions.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retenu</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Rééquilibré chaque mois · les actions portent l'objectif, les obligations tiennent la limite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graphicFrame>
        <p:nvGraphicFramePr>
          <p:cNvPr id="17" name="Chart 0" descr=""/>
          <p:cNvGraphicFramePr/>
          <p:nvPr/>
        </p:nvGraphicFramePr>
        <p:xfrm>
          <a:off x="548640" y="1371600"/>
          <a:ext cx="4754880" cy="48920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1463040"/>
            <a:ext cx="2834640" cy="64008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4,86 %</a:t>
            </a:r>
            <a:endParaRPr lang="en-US" sz="4000" dirty="0"/>
          </a:p>
        </p:txBody>
      </p:sp>
      <p:sp>
        <p:nvSpPr>
          <p:cNvPr id="19" name="Text 16"/>
          <p:cNvSpPr txBox="1"/>
          <p:nvPr/>
        </p:nvSpPr>
        <p:spPr>
          <a:xfrm>
            <a:off x="576072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NET de frais</a:t>
            </a:r>
            <a:endParaRPr lang="en-US" sz="1200" dirty="0"/>
          </a:p>
        </p:txBody>
      </p:sp>
      <p:sp>
        <p:nvSpPr>
          <p:cNvPr id="20" name="Text 17"/>
          <p:cNvSpPr txBox="1"/>
          <p:nvPr/>
        </p:nvSpPr>
        <p:spPr>
          <a:xfrm>
            <a:off x="8778240" y="1463040"/>
            <a:ext cx="2834640" cy="640080"/>
          </a:xfrm>
          <a:prstGeom prst="rect">
            <a:avLst/>
          </a:prstGeom>
          <a:noFill/>
          <a:ln/>
        </p:spPr>
        <p:txBody>
          <a:bodyPr wrap="square" lIns="0" tIns="0" rIns="0" bIns="0" rtlCol="0" anchor="b"/>
          <a:lstStyle/>
          <a:p>
            <a:pPr indent="0" marL="0">
              <a:buNone/>
            </a:pPr>
            <a:r>
              <a:rPr lang="en-US" sz="4000" b="1" dirty="0">
                <a:solidFill>
                  <a:srgbClr val="14304F"/>
                </a:solidFill>
                <a:latin typeface="Cambria" pitchFamily="34" charset="0"/>
                <a:ea typeface="Cambria" pitchFamily="34" charset="-122"/>
                <a:cs typeface="Cambria" pitchFamily="34" charset="-120"/>
              </a:rPr>
              <a:t>+0,86 pt</a:t>
            </a:r>
            <a:endParaRPr lang="en-US" sz="4000" dirty="0"/>
          </a:p>
        </p:txBody>
      </p:sp>
      <p:sp>
        <p:nvSpPr>
          <p:cNvPr id="21" name="Text 18"/>
          <p:cNvSpPr txBox="1"/>
          <p:nvPr/>
        </p:nvSpPr>
        <p:spPr>
          <a:xfrm>
            <a:off x="877824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au-dessus des 4 % d'inflation</a:t>
            </a:r>
            <a:endParaRPr lang="en-US" sz="1200" dirty="0"/>
          </a:p>
        </p:txBody>
      </p:sp>
      <p:sp>
        <p:nvSpPr>
          <p:cNvPr id="22" name="Text 19"/>
          <p:cNvSpPr txBox="1"/>
          <p:nvPr/>
        </p:nvSpPr>
        <p:spPr>
          <a:xfrm>
            <a:off x="5760720" y="2926080"/>
            <a:ext cx="2834640" cy="640080"/>
          </a:xfrm>
          <a:prstGeom prst="rect">
            <a:avLst/>
          </a:prstGeom>
          <a:noFill/>
          <a:ln/>
        </p:spPr>
        <p:txBody>
          <a:bodyPr wrap="square" lIns="0" tIns="0" rIns="0" bIns="0" rtlCol="0" anchor="b"/>
          <a:lstStyle/>
          <a:p>
            <a:pPr indent="0" marL="0">
              <a:buNone/>
            </a:pPr>
            <a:r>
              <a:rPr lang="en-US" sz="4000" b="1" dirty="0">
                <a:solidFill>
                  <a:srgbClr val="C2410C"/>
                </a:solidFill>
                <a:latin typeface="Cambria" pitchFamily="34" charset="0"/>
                <a:ea typeface="Cambria" pitchFamily="34" charset="-122"/>
                <a:cs typeface="Cambria" pitchFamily="34" charset="-120"/>
              </a:rPr>
              <a:t>−14,0 %</a:t>
            </a:r>
            <a:endParaRPr lang="en-US" sz="4000" dirty="0"/>
          </a:p>
        </p:txBody>
      </p:sp>
      <p:sp>
        <p:nvSpPr>
          <p:cNvPr id="23" name="Text 20"/>
          <p:cNvSpPr txBox="1"/>
          <p:nvPr/>
        </p:nvSpPr>
        <p:spPr>
          <a:xfrm>
            <a:off x="576072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depuis le plus haut (2008 et 2020)</a:t>
            </a:r>
            <a:endParaRPr lang="en-US" sz="1200" dirty="0"/>
          </a:p>
        </p:txBody>
      </p:sp>
      <p:sp>
        <p:nvSpPr>
          <p:cNvPr id="24" name="Text 21"/>
          <p:cNvSpPr txBox="1"/>
          <p:nvPr/>
        </p:nvSpPr>
        <p:spPr>
          <a:xfrm>
            <a:off x="8778240" y="2926080"/>
            <a:ext cx="2834640" cy="64008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48 %</a:t>
            </a:r>
            <a:endParaRPr lang="en-US" sz="4000" dirty="0"/>
          </a:p>
        </p:txBody>
      </p:sp>
      <p:sp>
        <p:nvSpPr>
          <p:cNvPr id="25" name="Text 22"/>
          <p:cNvSpPr txBox="1"/>
          <p:nvPr/>
        </p:nvSpPr>
        <p:spPr>
          <a:xfrm>
            <a:off x="877824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rendement vient des actions, qui ne font que 30 % du patrimoine</a:t>
            </a:r>
            <a:endParaRPr lang="en-US" sz="1200" dirty="0"/>
          </a:p>
        </p:txBody>
      </p:sp>
      <p:sp>
        <p:nvSpPr>
          <p:cNvPr id="26" name="Shape 23"/>
          <p:cNvSpPr/>
          <p:nvPr/>
        </p:nvSpPr>
        <p:spPr>
          <a:xfrm>
            <a:off x="5760720" y="4526280"/>
            <a:ext cx="5879592" cy="1691640"/>
          </a:xfrm>
          <a:prstGeom prst="roundRect">
            <a:avLst>
              <a:gd name="adj" fmla="val 4324"/>
            </a:avLst>
          </a:prstGeom>
          <a:solidFill>
            <a:srgbClr val="14304F"/>
          </a:solidFill>
          <a:ln w="12700">
            <a:solidFill>
              <a:srgbClr val="14304F"/>
            </a:solidFill>
            <a:prstDash val="solid"/>
          </a:ln>
        </p:spPr>
      </p:sp>
      <p:sp>
        <p:nvSpPr>
          <p:cNvPr id="27" name="Text 24"/>
          <p:cNvSpPr txBox="1"/>
          <p:nvPr/>
        </p:nvSpPr>
        <p:spPr>
          <a:xfrm>
            <a:off x="5989320" y="4663440"/>
            <a:ext cx="5422392" cy="14173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Les deux exigences du client sont tenues : </a:t>
            </a:r>
            <a:pPr indent="0" marL="0">
              <a:buNone/>
            </a:pPr>
            <a:r>
              <a:rPr lang="en-US" sz="1500" b="1" dirty="0">
                <a:solidFill>
                  <a:srgbClr val="F5C969"/>
                </a:solidFill>
                <a:latin typeface="Calibri" pitchFamily="34" charset="0"/>
                <a:ea typeface="Calibri" pitchFamily="34" charset="-122"/>
                <a:cs typeface="Calibri" pitchFamily="34" charset="-120"/>
              </a:rPr>
              <a:t>4,86 % nets espérés</a:t>
            </a:r>
            <a:pPr indent="0" marL="0">
              <a:buNone/>
            </a:pPr>
            <a:r>
              <a:rPr lang="en-US" sz="1500" dirty="0">
                <a:solidFill>
                  <a:srgbClr val="FFFFFF"/>
                </a:solidFill>
                <a:latin typeface="Calibri" pitchFamily="34" charset="0"/>
                <a:ea typeface="Calibri" pitchFamily="34" charset="-122"/>
                <a:cs typeface="Calibri" pitchFamily="34" charset="-120"/>
              </a:rPr>
              <a:t> contre 4 % à battre, et </a:t>
            </a:r>
            <a:pPr indent="0" marL="0">
              <a:buNone/>
            </a:pPr>
            <a:r>
              <a:rPr lang="en-US" sz="1500" b="1" dirty="0">
                <a:solidFill>
                  <a:srgbClr val="F5C969"/>
                </a:solidFill>
                <a:latin typeface="Calibri" pitchFamily="34" charset="0"/>
                <a:ea typeface="Calibri" pitchFamily="34" charset="-122"/>
                <a:cs typeface="Calibri" pitchFamily="34" charset="-120"/>
              </a:rPr>
              <a:t>jamais plus de 14 % de baisse</a:t>
            </a:r>
            <a:pPr indent="0" marL="0">
              <a:buNone/>
            </a:pPr>
            <a:r>
              <a:rPr lang="en-US" sz="1500" dirty="0">
                <a:solidFill>
                  <a:srgbClr val="FFFFFF"/>
                </a:solidFill>
                <a:latin typeface="Calibri" pitchFamily="34" charset="0"/>
                <a:ea typeface="Calibri" pitchFamily="34" charset="-122"/>
                <a:cs typeface="Calibri" pitchFamily="34" charset="-120"/>
              </a:rPr>
              <a:t> dans les crises des vingt dernières années.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en millions d'euros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100 M€, support par support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Frais des fonds : 47 k€ par an (0,05 % du patrimoine) · frais de mandat 0,40 % · aucune ligne ne dépasse 1 % de son fonds</a:t>
            </a:r>
            <a:endParaRPr lang="en-US" sz="8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2743200"/>
                <a:gridCol w="2011680"/>
                <a:gridCol w="960120"/>
                <a:gridCol w="731520"/>
                <a:gridCol w="1143000"/>
              </a:tblGrid>
              <a:tr h="4297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Ligne</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Support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Montant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Poids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Rendement espéré</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européennes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titres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9,23 %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américaines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XZMU</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7,19 %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japonaises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XZMJ</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9,44 %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émergentes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XZEM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8,40 %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AAA, 6 à 24 mois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zone euro, 2 à 10 ans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3,63 %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1BAF7A"/>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Obligations indexées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IBCI</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5,43 %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DA100"/>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Or</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4GLD</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100,0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5,31 %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58200" y="1463040"/>
            <a:ext cx="3200400" cy="4754880"/>
          </a:xfrm>
          <a:prstGeom prst="rect">
            <a:avLst/>
          </a:prstGeom>
          <a:noFill/>
          <a:ln/>
        </p:spPr>
        <p:txBody>
          <a:bodyPr wrap="square" lIns="0" tIns="0" rIns="0" bIns="0" rtlCol="0" anchor="t"/>
          <a:lstStyle/>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30 actions européennes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à 0,41 M€ chacune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AAA</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10,0 M€ investis, qui rendront les 10 M€ avec une petite réserve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2-10 ans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5 × 8,26 M€</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Fonds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XZMU, XZMJ, XZEM, IBCI, Xetra-Gold</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Réalisé 2006-2026 :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4,47 % par an</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(dix ans de taux négatifs inclus)</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Rendement espéré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net de frais : 4,86 %</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5</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Backtests</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Le portefeuille rejoué de 2006 à aujourd'hui : combien de temps sous l'eau, et à quoi ressemble une mauvaise année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100 M€ en 2006 : 239 M€ aujourd'hui</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portefeuille retenu, rééquilibré chaque mois, d'octobre 2006 à septembre 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de l'étape 4 · la limite de −14 % a été imposée sur ces mêmes données : sa tenue est acquise d'avance · inflation zone euro constatée : FRED, IPCH, 53,5 % cumulés sur la période</a:t>
            </a:r>
            <a:endParaRPr lang="en-US" sz="850" dirty="0"/>
          </a:p>
        </p:txBody>
      </p:sp>
      <p:graphicFrame>
        <p:nvGraphicFramePr>
          <p:cNvPr id="18"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412480" y="1554480"/>
            <a:ext cx="3200400" cy="640080"/>
          </a:xfrm>
          <a:prstGeom prst="rect">
            <a:avLst/>
          </a:prstGeom>
          <a:noFill/>
          <a:ln/>
        </p:spPr>
        <p:txBody>
          <a:bodyPr wrap="square" lIns="0" tIns="0" rIns="0" bIns="0" rtlCol="0" anchor="b"/>
          <a:lstStyle/>
          <a:p>
            <a:pPr indent="0" marL="0">
              <a:buNone/>
            </a:pPr>
            <a:r>
              <a:rPr lang="en-US" sz="3800" b="1" dirty="0">
                <a:solidFill>
                  <a:srgbClr val="1BAF7A"/>
                </a:solidFill>
                <a:latin typeface="Cambria" pitchFamily="34" charset="0"/>
                <a:ea typeface="Cambria" pitchFamily="34" charset="-122"/>
                <a:cs typeface="Cambria" pitchFamily="34" charset="-120"/>
              </a:rPr>
              <a:t>4,47 %</a:t>
            </a:r>
            <a:endParaRPr lang="en-US" sz="3800" dirty="0"/>
          </a:p>
        </p:txBody>
      </p:sp>
      <p:sp>
        <p:nvSpPr>
          <p:cNvPr id="20" name="Text 17"/>
          <p:cNvSpPr txBox="1"/>
          <p:nvPr/>
        </p:nvSpPr>
        <p:spPr>
          <a:xfrm>
            <a:off x="8412480" y="221284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sur vingt ans</a:t>
            </a:r>
            <a:endParaRPr lang="en-US" sz="1200" dirty="0"/>
          </a:p>
        </p:txBody>
      </p:sp>
      <p:sp>
        <p:nvSpPr>
          <p:cNvPr id="21" name="Text 18"/>
          <p:cNvSpPr txBox="1"/>
          <p:nvPr/>
        </p:nvSpPr>
        <p:spPr>
          <a:xfrm>
            <a:off x="8412480" y="2834640"/>
            <a:ext cx="3200400" cy="640080"/>
          </a:xfrm>
          <a:prstGeom prst="rect">
            <a:avLst/>
          </a:prstGeom>
          <a:noFill/>
          <a:ln/>
        </p:spPr>
        <p:txBody>
          <a:bodyPr wrap="square" lIns="0" tIns="0" rIns="0" bIns="0" rtlCol="0" anchor="b"/>
          <a:lstStyle/>
          <a:p>
            <a:pPr indent="0" marL="0">
              <a:buNone/>
            </a:pPr>
            <a:r>
              <a:rPr lang="en-US" sz="3800" b="1" dirty="0">
                <a:solidFill>
                  <a:srgbClr val="2A78D6"/>
                </a:solidFill>
                <a:latin typeface="Cambria" pitchFamily="34" charset="0"/>
                <a:ea typeface="Cambria" pitchFamily="34" charset="-122"/>
                <a:cs typeface="Cambria" pitchFamily="34" charset="-120"/>
              </a:rPr>
              <a:t>+2,29 pt</a:t>
            </a:r>
            <a:endParaRPr lang="en-US" sz="3800" dirty="0"/>
          </a:p>
        </p:txBody>
      </p:sp>
      <p:sp>
        <p:nvSpPr>
          <p:cNvPr id="22" name="Text 19"/>
          <p:cNvSpPr txBox="1"/>
          <p:nvPr/>
        </p:nvSpPr>
        <p:spPr>
          <a:xfrm>
            <a:off x="8412480" y="34930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AU-DELÀ de l'inflation, qui a fait 2,18 % sur la période</a:t>
            </a:r>
            <a:endParaRPr lang="en-US" sz="1200" dirty="0"/>
          </a:p>
        </p:txBody>
      </p:sp>
      <p:sp>
        <p:nvSpPr>
          <p:cNvPr id="23" name="Text 20"/>
          <p:cNvSpPr txBox="1"/>
          <p:nvPr/>
        </p:nvSpPr>
        <p:spPr>
          <a:xfrm>
            <a:off x="8412480" y="4206240"/>
            <a:ext cx="3200400" cy="640080"/>
          </a:xfrm>
          <a:prstGeom prst="rect">
            <a:avLst/>
          </a:prstGeom>
          <a:noFill/>
          <a:ln/>
        </p:spPr>
        <p:txBody>
          <a:bodyPr wrap="square" lIns="0" tIns="0" rIns="0" bIns="0" rtlCol="0" anchor="b"/>
          <a:lstStyle/>
          <a:p>
            <a:pPr indent="0" marL="0">
              <a:buNone/>
            </a:pPr>
            <a:r>
              <a:rPr lang="en-US" sz="3800" b="1" dirty="0">
                <a:solidFill>
                  <a:srgbClr val="C2410C"/>
                </a:solidFill>
                <a:latin typeface="Cambria" pitchFamily="34" charset="0"/>
                <a:ea typeface="Cambria" pitchFamily="34" charset="-122"/>
                <a:cs typeface="Cambria" pitchFamily="34" charset="-120"/>
              </a:rPr>
              <a:t>−14,0 %</a:t>
            </a:r>
            <a:endParaRPr lang="en-US" sz="3800" dirty="0"/>
          </a:p>
        </p:txBody>
      </p:sp>
      <p:sp>
        <p:nvSpPr>
          <p:cNvPr id="24" name="Text 21"/>
          <p:cNvSpPr txBox="1"/>
          <p:nvPr/>
        </p:nvSpPr>
        <p:spPr>
          <a:xfrm>
            <a:off x="8412480" y="48646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(2008 et 2020)</a:t>
            </a:r>
            <a:endParaRPr lang="en-US" sz="1200" dirty="0"/>
          </a:p>
        </p:txBody>
      </p:sp>
      <p:sp>
        <p:nvSpPr>
          <p:cNvPr id="25" name="Shape 22"/>
          <p:cNvSpPr/>
          <p:nvPr/>
        </p:nvSpPr>
        <p:spPr>
          <a:xfrm>
            <a:off x="8412480" y="5486400"/>
            <a:ext cx="3227832" cy="777240"/>
          </a:xfrm>
          <a:prstGeom prst="roundRect">
            <a:avLst>
              <a:gd name="adj" fmla="val 9412"/>
            </a:avLst>
          </a:prstGeom>
          <a:solidFill>
            <a:srgbClr val="14304F"/>
          </a:solidFill>
          <a:ln w="12700">
            <a:solidFill>
              <a:srgbClr val="14304F"/>
            </a:solidFill>
            <a:prstDash val="solid"/>
          </a:ln>
        </p:spPr>
      </p:sp>
      <p:sp>
        <p:nvSpPr>
          <p:cNvPr id="26" name="Text 23"/>
          <p:cNvSpPr txBox="1"/>
          <p:nvPr/>
        </p:nvSpPr>
        <p:spPr>
          <a:xfrm>
            <a:off x="8641080" y="5623560"/>
            <a:ext cx="2770632"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Ce rejeu ne </a:t>
            </a:r>
            <a:pPr indent="0" marL="0">
              <a:buNone/>
            </a:pPr>
            <a:r>
              <a:rPr lang="en-US" sz="1350" b="1" dirty="0">
                <a:solidFill>
                  <a:srgbClr val="F5C969"/>
                </a:solidFill>
                <a:latin typeface="Calibri" pitchFamily="34" charset="0"/>
                <a:ea typeface="Calibri" pitchFamily="34" charset="-122"/>
                <a:cs typeface="Calibri" pitchFamily="34" charset="-120"/>
              </a:rPr>
              <a:t>prouve pas</a:t>
            </a:r>
            <a:pPr indent="0" marL="0">
              <a:buNone/>
            </a:pPr>
            <a:r>
              <a:rPr lang="en-US" sz="1350" dirty="0">
                <a:solidFill>
                  <a:srgbClr val="FFFFFF"/>
                </a:solidFill>
                <a:latin typeface="Calibri" pitchFamily="34" charset="0"/>
                <a:ea typeface="Calibri" pitchFamily="34" charset="-122"/>
                <a:cs typeface="Calibri" pitchFamily="34" charset="-120"/>
              </a:rPr>
              <a:t> la limite.</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La plus longue baisse n'est pas la plus profonde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Chaque baisse de plus de 5 % depuis le plus haut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graphicFrame>
        <p:nvGraphicFramePr>
          <p:cNvPr id="17" name="Chart 0" descr=""/>
          <p:cNvGraphicFramePr/>
          <p:nvPr/>
        </p:nvGraphicFramePr>
        <p:xfrm>
          <a:off x="548640" y="1371600"/>
          <a:ext cx="585216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675120" y="1417320"/>
          <a:ext cx="4965192" cy="914400"/>
        </p:xfrm>
        <a:graphic>
          <a:graphicData uri="http://schemas.openxmlformats.org/drawingml/2006/table">
            <a:tbl>
              <a:tblPr/>
              <a:tblGrid>
                <a:gridCol w="960120"/>
                <a:gridCol w="960120"/>
                <a:gridCol w="914400"/>
                <a:gridCol w="1051560"/>
                <a:gridCol w="1078992"/>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Plus haut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Point bas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Baisse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Retour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Sous l'eau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10/2007</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23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−7,2 %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01/2012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05/2013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06/2013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−5,8 %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6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04/2015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08/2015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−8,3 %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12/2016</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20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9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11/2021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10/2022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−13,4 %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07/2024</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32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04/2025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5"/>
          <p:cNvSpPr txBox="1"/>
          <p:nvPr/>
        </p:nvSpPr>
        <p:spPr>
          <a:xfrm>
            <a:off x="548640" y="4389120"/>
            <a:ext cx="2651760" cy="640080"/>
          </a:xfrm>
          <a:prstGeom prst="rect">
            <a:avLst/>
          </a:prstGeom>
          <a:noFill/>
          <a:ln/>
        </p:spPr>
        <p:txBody>
          <a:bodyPr wrap="square" lIns="0" tIns="0" rIns="0" bIns="0" rtlCol="0" anchor="b"/>
          <a:lstStyle/>
          <a:p>
            <a:pPr indent="0" marL="0">
              <a:buNone/>
            </a:pPr>
            <a:r>
              <a:rPr lang="en-US" sz="3200" b="1" dirty="0">
                <a:solidFill>
                  <a:srgbClr val="14304F"/>
                </a:solidFill>
                <a:latin typeface="Cambria" pitchFamily="34" charset="0"/>
                <a:ea typeface="Cambria" pitchFamily="34" charset="-122"/>
                <a:cs typeface="Cambria" pitchFamily="34" charset="-120"/>
              </a:rPr>
              <a:t>53 %</a:t>
            </a:r>
            <a:endParaRPr lang="en-US" sz="3200" dirty="0"/>
          </a:p>
        </p:txBody>
      </p:sp>
      <p:sp>
        <p:nvSpPr>
          <p:cNvPr id="20" name="Text 16"/>
          <p:cNvSpPr txBox="1"/>
          <p:nvPr/>
        </p:nvSpPr>
        <p:spPr>
          <a:xfrm>
            <a:off x="54864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temps à plus de 1 % sous son plus haut</a:t>
            </a:r>
            <a:endParaRPr lang="en-US" sz="1200" dirty="0"/>
          </a:p>
        </p:txBody>
      </p:sp>
      <p:sp>
        <p:nvSpPr>
          <p:cNvPr id="21" name="Text 17"/>
          <p:cNvSpPr txBox="1"/>
          <p:nvPr/>
        </p:nvSpPr>
        <p:spPr>
          <a:xfrm>
            <a:off x="3383280" y="4389120"/>
            <a:ext cx="265176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17 %</a:t>
            </a:r>
            <a:endParaRPr lang="en-US" sz="3200" dirty="0"/>
          </a:p>
        </p:txBody>
      </p:sp>
      <p:sp>
        <p:nvSpPr>
          <p:cNvPr id="22" name="Text 18"/>
          <p:cNvSpPr txBox="1"/>
          <p:nvPr/>
        </p:nvSpPr>
        <p:spPr>
          <a:xfrm>
            <a:off x="338328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5 %</a:t>
            </a:r>
            <a:endParaRPr lang="en-US" sz="1200" dirty="0"/>
          </a:p>
        </p:txBody>
      </p:sp>
      <p:sp>
        <p:nvSpPr>
          <p:cNvPr id="23" name="Text 19"/>
          <p:cNvSpPr txBox="1"/>
          <p:nvPr/>
        </p:nvSpPr>
        <p:spPr>
          <a:xfrm>
            <a:off x="6217920" y="4389120"/>
            <a:ext cx="265176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4 %</a:t>
            </a:r>
            <a:endParaRPr lang="en-US" sz="3200" dirty="0"/>
          </a:p>
        </p:txBody>
      </p:sp>
      <p:sp>
        <p:nvSpPr>
          <p:cNvPr id="24" name="Text 20"/>
          <p:cNvSpPr txBox="1"/>
          <p:nvPr/>
        </p:nvSpPr>
        <p:spPr>
          <a:xfrm>
            <a:off x="621792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10 %</a:t>
            </a:r>
            <a:endParaRPr lang="en-US" sz="1200" dirty="0"/>
          </a:p>
        </p:txBody>
      </p:sp>
      <p:sp>
        <p:nvSpPr>
          <p:cNvPr id="25" name="Text 21"/>
          <p:cNvSpPr txBox="1"/>
          <p:nvPr/>
        </p:nvSpPr>
        <p:spPr>
          <a:xfrm>
            <a:off x="9052560" y="4389120"/>
            <a:ext cx="2587752" cy="182880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2022 : 32 mois sous l'eau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pour une baisse moindre que 2008 : les obligations ont baissé avec les actions.</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À quoi ressemble une mauvaise année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Résultat sur douze mois glissants, à chaque fin de mois depuis octobre 2007 (228 années glissantes)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VaR : perte dépassée une année sur vingt · CVaR : perte moyenne de ces années-là · chiffres descriptifs, pas une prévision</a:t>
            </a:r>
            <a:endParaRPr lang="en-US" sz="850" dirty="0"/>
          </a:p>
        </p:txBody>
      </p:sp>
      <p:graphicFrame>
        <p:nvGraphicFramePr>
          <p:cNvPr id="18"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1463040"/>
            <a:ext cx="1828800" cy="64008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−6,5 %</a:t>
            </a:r>
            <a:endParaRPr lang="en-US" sz="3000" dirty="0"/>
          </a:p>
        </p:txBody>
      </p:sp>
      <p:sp>
        <p:nvSpPr>
          <p:cNvPr id="20" name="Text 17"/>
          <p:cNvSpPr txBox="1"/>
          <p:nvPr/>
        </p:nvSpPr>
        <p:spPr>
          <a:xfrm>
            <a:off x="786384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VaR 95 % à un an</a:t>
            </a:r>
            <a:endParaRPr lang="en-US" sz="1200" dirty="0"/>
          </a:p>
        </p:txBody>
      </p:sp>
      <p:sp>
        <p:nvSpPr>
          <p:cNvPr id="21" name="Text 18"/>
          <p:cNvSpPr txBox="1"/>
          <p:nvPr/>
        </p:nvSpPr>
        <p:spPr>
          <a:xfrm>
            <a:off x="9784080" y="146304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−8,5 %</a:t>
            </a:r>
            <a:endParaRPr lang="en-US" sz="3000" dirty="0"/>
          </a:p>
        </p:txBody>
      </p:sp>
      <p:sp>
        <p:nvSpPr>
          <p:cNvPr id="22" name="Text 19"/>
          <p:cNvSpPr txBox="1"/>
          <p:nvPr/>
        </p:nvSpPr>
        <p:spPr>
          <a:xfrm>
            <a:off x="978408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CVaR 95 %</a:t>
            </a:r>
            <a:endParaRPr lang="en-US" sz="1200" dirty="0"/>
          </a:p>
        </p:txBody>
      </p:sp>
      <p:sp>
        <p:nvSpPr>
          <p:cNvPr id="23" name="Text 20"/>
          <p:cNvSpPr txBox="1"/>
          <p:nvPr/>
        </p:nvSpPr>
        <p:spPr>
          <a:xfrm>
            <a:off x="7863840" y="274320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−11,4 %</a:t>
            </a:r>
            <a:endParaRPr lang="en-US" sz="3000" dirty="0"/>
          </a:p>
        </p:txBody>
      </p:sp>
      <p:sp>
        <p:nvSpPr>
          <p:cNvPr id="24" name="Text 21"/>
          <p:cNvSpPr txBox="1"/>
          <p:nvPr/>
        </p:nvSpPr>
        <p:spPr>
          <a:xfrm>
            <a:off x="786384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pire année</a:t>
            </a:r>
            <a:endParaRPr lang="en-US" sz="1200" dirty="0"/>
          </a:p>
        </p:txBody>
      </p:sp>
      <p:sp>
        <p:nvSpPr>
          <p:cNvPr id="25" name="Text 22"/>
          <p:cNvSpPr txBox="1"/>
          <p:nvPr/>
        </p:nvSpPr>
        <p:spPr>
          <a:xfrm>
            <a:off x="9784080" y="2743200"/>
            <a:ext cx="182880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29 %</a:t>
            </a:r>
            <a:endParaRPr lang="en-US" sz="3000" dirty="0"/>
          </a:p>
        </p:txBody>
      </p:sp>
      <p:sp>
        <p:nvSpPr>
          <p:cNvPr id="26" name="Text 23"/>
          <p:cNvSpPr txBox="1"/>
          <p:nvPr/>
        </p:nvSpPr>
        <p:spPr>
          <a:xfrm>
            <a:off x="978408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des années n'ont pas battu l'inflation</a:t>
            </a:r>
            <a:endParaRPr lang="en-US" sz="1200" dirty="0"/>
          </a:p>
        </p:txBody>
      </p:sp>
      <p:sp>
        <p:nvSpPr>
          <p:cNvPr id="27" name="Shape 24"/>
          <p:cNvSpPr/>
          <p:nvPr/>
        </p:nvSpPr>
        <p:spPr>
          <a:xfrm>
            <a:off x="7863840" y="4160520"/>
            <a:ext cx="3776472" cy="2057400"/>
          </a:xfrm>
          <a:prstGeom prst="roundRect">
            <a:avLst>
              <a:gd name="adj" fmla="val 3556"/>
            </a:avLst>
          </a:prstGeom>
          <a:solidFill>
            <a:srgbClr val="14304F"/>
          </a:solidFill>
          <a:ln w="12700">
            <a:solidFill>
              <a:srgbClr val="14304F"/>
            </a:solidFill>
            <a:prstDash val="solid"/>
          </a:ln>
        </p:spPr>
      </p:sp>
      <p:sp>
        <p:nvSpPr>
          <p:cNvPr id="28" name="Text 25"/>
          <p:cNvSpPr txBox="1"/>
          <p:nvPr/>
        </p:nvSpPr>
        <p:spPr>
          <a:xfrm>
            <a:off x="8092440" y="4297680"/>
            <a:ext cx="3319272" cy="1783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Sur un an, jamais plus de </a:t>
            </a:r>
            <a:pPr indent="0" marL="0">
              <a:buNone/>
            </a:pPr>
            <a:r>
              <a:rPr lang="en-US" sz="1350" b="1" dirty="0">
                <a:solidFill>
                  <a:srgbClr val="F5C969"/>
                </a:solidFill>
                <a:latin typeface="Calibri" pitchFamily="34" charset="0"/>
                <a:ea typeface="Calibri" pitchFamily="34" charset="-122"/>
                <a:cs typeface="Calibri" pitchFamily="34" charset="-120"/>
              </a:rPr>
              <a:t>11,4 %</a:t>
            </a:r>
            <a:pPr indent="0" marL="0">
              <a:buNone/>
            </a:pPr>
            <a:r>
              <a:rPr lang="en-US" sz="1350" dirty="0">
                <a:solidFill>
                  <a:srgbClr val="FFFFFF"/>
                </a:solidFill>
                <a:latin typeface="Calibri" pitchFamily="34" charset="0"/>
                <a:ea typeface="Calibri" pitchFamily="34" charset="-122"/>
                <a:cs typeface="Calibri" pitchFamily="34" charset="-120"/>
              </a:rPr>
              <a:t> de perte, alors que la pire baisse atteint </a:t>
            </a:r>
            <a:pPr indent="0" marL="0">
              <a:buNone/>
            </a:pPr>
            <a:r>
              <a:rPr lang="en-US" sz="1350" b="1" dirty="0">
                <a:solidFill>
                  <a:srgbClr val="F5C969"/>
                </a:solidFill>
                <a:latin typeface="Calibri" pitchFamily="34" charset="0"/>
                <a:ea typeface="Calibri" pitchFamily="34" charset="-122"/>
                <a:cs typeface="Calibri" pitchFamily="34" charset="-120"/>
              </a:rPr>
              <a:t>14 %</a:t>
            </a:r>
            <a:pPr indent="0" marL="0">
              <a:buNone/>
            </a:pPr>
            <a:r>
              <a:rPr lang="en-US" sz="1350" dirty="0">
                <a:solidFill>
                  <a:srgbClr val="FFFFFF"/>
                </a:solidFill>
                <a:latin typeface="Calibri" pitchFamily="34" charset="0"/>
                <a:ea typeface="Calibri" pitchFamily="34" charset="-122"/>
                <a:cs typeface="Calibri" pitchFamily="34" charset="-120"/>
              </a:rPr>
              <a:t> : les baisses s'étalent sur plus d'un an. Et préserver le pouvoir d'achat est </a:t>
            </a:r>
            <a:pPr indent="0" marL="0">
              <a:buNone/>
            </a:pPr>
            <a:r>
              <a:rPr lang="en-US" sz="1350" b="1" dirty="0">
                <a:solidFill>
                  <a:srgbClr val="F5C969"/>
                </a:solidFill>
                <a:latin typeface="Calibri" pitchFamily="34" charset="0"/>
                <a:ea typeface="Calibri" pitchFamily="34" charset="-122"/>
                <a:cs typeface="Calibri" pitchFamily="34" charset="-120"/>
              </a:rPr>
              <a:t>un objectif de moyenne longue, pas une garantie annuelle.</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Notre proposition</a:t>
            </a:r>
            <a:endParaRPr lang="en-US" sz="4000" dirty="0"/>
          </a:p>
        </p:txBody>
      </p:sp>
      <p:sp>
        <p:nvSpPr>
          <p:cNvPr id="3" name="Text 1"/>
          <p:cNvSpPr txBox="1"/>
          <p:nvPr/>
        </p:nvSpPr>
        <p:spPr>
          <a:xfrm>
            <a:off x="54864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4,86 %</a:t>
            </a:r>
            <a:endParaRPr lang="en-US" sz="4000" dirty="0"/>
          </a:p>
        </p:txBody>
      </p:sp>
      <p:sp>
        <p:nvSpPr>
          <p:cNvPr id="4" name="Text 2"/>
          <p:cNvSpPr txBox="1"/>
          <p:nvPr/>
        </p:nvSpPr>
        <p:spPr>
          <a:xfrm>
            <a:off x="54864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rendement espéré net de frais</a:t>
            </a:r>
            <a:endParaRPr lang="en-US" sz="1500" dirty="0"/>
          </a:p>
        </p:txBody>
      </p:sp>
      <p:sp>
        <p:nvSpPr>
          <p:cNvPr id="5" name="Text 3"/>
          <p:cNvSpPr txBox="1"/>
          <p:nvPr/>
        </p:nvSpPr>
        <p:spPr>
          <a:xfrm>
            <a:off x="338328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−14,0 %</a:t>
            </a:r>
            <a:endParaRPr lang="en-US" sz="4000" dirty="0"/>
          </a:p>
        </p:txBody>
      </p:sp>
      <p:sp>
        <p:nvSpPr>
          <p:cNvPr id="6" name="Text 4"/>
          <p:cNvSpPr txBox="1"/>
          <p:nvPr/>
        </p:nvSpPr>
        <p:spPr>
          <a:xfrm>
            <a:off x="338328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pire baisse sur vingt ans</a:t>
            </a:r>
            <a:endParaRPr lang="en-US" sz="1500" dirty="0"/>
          </a:p>
        </p:txBody>
      </p:sp>
      <p:sp>
        <p:nvSpPr>
          <p:cNvPr id="7" name="Text 5"/>
          <p:cNvSpPr txBox="1"/>
          <p:nvPr/>
        </p:nvSpPr>
        <p:spPr>
          <a:xfrm>
            <a:off x="621792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30 %</a:t>
            </a:r>
            <a:endParaRPr lang="en-US" sz="4000" dirty="0"/>
          </a:p>
        </p:txBody>
      </p:sp>
      <p:sp>
        <p:nvSpPr>
          <p:cNvPr id="8" name="Text 6"/>
          <p:cNvSpPr txBox="1"/>
          <p:nvPr/>
        </p:nvSpPr>
        <p:spPr>
          <a:xfrm>
            <a:off x="621792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d'actions, dont 30 titres en direct</a:t>
            </a:r>
            <a:endParaRPr lang="en-US" sz="1500" dirty="0"/>
          </a:p>
        </p:txBody>
      </p:sp>
      <p:sp>
        <p:nvSpPr>
          <p:cNvPr id="9" name="Text 7"/>
          <p:cNvSpPr txBox="1"/>
          <p:nvPr/>
        </p:nvSpPr>
        <p:spPr>
          <a:xfrm>
            <a:off x="905256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10 M€</a:t>
            </a:r>
            <a:endParaRPr lang="en-US" sz="4000" dirty="0"/>
          </a:p>
        </p:txBody>
      </p:sp>
      <p:sp>
        <p:nvSpPr>
          <p:cNvPr id="10" name="Text 8"/>
          <p:cNvSpPr txBox="1"/>
          <p:nvPr/>
        </p:nvSpPr>
        <p:spPr>
          <a:xfrm>
            <a:off x="905256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sécurisés en AAA, à taux garantis</a:t>
            </a:r>
            <a:endParaRPr lang="en-US" sz="1500" dirty="0"/>
          </a:p>
        </p:txBody>
      </p:sp>
      <p:sp>
        <p:nvSpPr>
          <p:cNvPr id="11" name="Text 9"/>
          <p:cNvSpPr txBox="1"/>
          <p:nvPr/>
        </p:nvSpPr>
        <p:spPr>
          <a:xfrm>
            <a:off x="548640" y="5212080"/>
            <a:ext cx="11094415" cy="82296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Un portefeuille diversifié, sans pari sur une zone, qui préserve le pouvoir d'achat en respectant la limite de perte dans toutes les crises récentes.</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le client doit savoir, et ce que nous lui demanderons</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Toute la démarche, avec les chiffres et leurs sources, est consultable dans l'application : mandat-lauren.streamlit.app</a:t>
            </a:r>
            <a:endParaRPr lang="en-US" sz="850" dirty="0"/>
          </a:p>
        </p:txBody>
      </p:sp>
      <p:sp>
        <p:nvSpPr>
          <p:cNvPr id="5" name="Shape 3"/>
          <p:cNvSpPr/>
          <p:nvPr/>
        </p:nvSpPr>
        <p:spPr>
          <a:xfrm>
            <a:off x="548640" y="1280160"/>
            <a:ext cx="5486400" cy="4937760"/>
          </a:xfrm>
          <a:prstGeom prst="roundRect">
            <a:avLst>
              <a:gd name="adj" fmla="val 1481"/>
            </a:avLst>
          </a:prstGeom>
          <a:solidFill>
            <a:srgbClr val="F2F5F9"/>
          </a:solidFill>
          <a:ln w="12700">
            <a:solidFill>
              <a:srgbClr val="F2F5F9"/>
            </a:solidFill>
            <a:prstDash val="solid"/>
          </a:ln>
        </p:spPr>
      </p:sp>
      <p:sp>
        <p:nvSpPr>
          <p:cNvPr id="6" name="Text 4"/>
          <p:cNvSpPr txBox="1"/>
          <p:nvPr/>
        </p:nvSpPr>
        <p:spPr>
          <a:xfrm>
            <a:off x="777240" y="1417320"/>
            <a:ext cx="50292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limites, dites franchement</a:t>
            </a:r>
            <a:endParaRPr lang="en-US" sz="1700" dirty="0"/>
          </a:p>
        </p:txBody>
      </p:sp>
      <p:sp>
        <p:nvSpPr>
          <p:cNvPr id="7" name="Text 5"/>
          <p:cNvSpPr txBox="1"/>
          <p:nvPr/>
        </p:nvSpPr>
        <p:spPr>
          <a:xfrm>
            <a:off x="777240" y="1874520"/>
            <a:ext cx="502920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limite de 15 % tient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sur le passé</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la prochaine crise peut être différente</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Avant 2018, plusieurs supports sont mesurés par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remplaçants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parfois flatteurs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rendements espérés sont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moyennes sur dix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pas des promesses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Une baisse peut durer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plus de deux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(2022)</a:t>
            </a:r>
            <a:endParaRPr lang="en-US" sz="1700" dirty="0"/>
          </a:p>
        </p:txBody>
      </p:sp>
      <p:sp>
        <p:nvSpPr>
          <p:cNvPr id="8" name="Shape 6"/>
          <p:cNvSpPr/>
          <p:nvPr/>
        </p:nvSpPr>
        <p:spPr>
          <a:xfrm>
            <a:off x="6245352" y="1280160"/>
            <a:ext cx="5394960" cy="4937760"/>
          </a:xfrm>
          <a:prstGeom prst="roundRect">
            <a:avLst>
              <a:gd name="adj" fmla="val 1481"/>
            </a:avLst>
          </a:prstGeom>
          <a:solidFill>
            <a:srgbClr val="F2F5F9"/>
          </a:solidFill>
          <a:ln w="12700">
            <a:solidFill>
              <a:srgbClr val="F2F5F9"/>
            </a:solidFill>
            <a:prstDash val="solid"/>
          </a:ln>
        </p:spPr>
      </p:sp>
      <p:sp>
        <p:nvSpPr>
          <p:cNvPr id="9" name="Text 7"/>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questions pour M. Lauren</a:t>
            </a:r>
            <a:endParaRPr lang="en-US" sz="1700" dirty="0"/>
          </a:p>
        </p:txBody>
      </p:sp>
      <p:sp>
        <p:nvSpPr>
          <p:cNvPr id="10" name="Text 8"/>
          <p:cNvSpPr txBox="1"/>
          <p:nvPr/>
        </p:nvSpPr>
        <p:spPr>
          <a:xfrm>
            <a:off x="6473952" y="1874520"/>
            <a:ext cx="493776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dates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exactes des 10 M€</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15 % : une limite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absolue</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ou acceptable si très rare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crypto</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un placement, ou un geste envers son fils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Souhaite-t-il être traité en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client professionnel</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(univers plus large) ?</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A — Comment on estime le rendement d'une action</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sp>
        <p:nvSpPr>
          <p:cNvPr id="5" name="Shape 3"/>
          <p:cNvSpPr/>
          <p:nvPr/>
        </p:nvSpPr>
        <p:spPr>
          <a:xfrm>
            <a:off x="548640" y="1417320"/>
            <a:ext cx="5486400" cy="1737360"/>
          </a:xfrm>
          <a:prstGeom prst="roundRect">
            <a:avLst>
              <a:gd name="adj" fmla="val 4211"/>
            </a:avLst>
          </a:prstGeom>
          <a:solidFill>
            <a:srgbClr val="F2F5F9"/>
          </a:solidFill>
          <a:ln w="12700">
            <a:solidFill>
              <a:srgbClr val="F2F5F9"/>
            </a:solidFill>
            <a:prstDash val="solid"/>
          </a:ln>
        </p:spPr>
      </p:sp>
      <p:sp>
        <p:nvSpPr>
          <p:cNvPr id="6" name="Text 4"/>
          <p:cNvSpPr txBox="1"/>
          <p:nvPr/>
        </p:nvSpPr>
        <p:spPr>
          <a:xfrm>
            <a:off x="777240" y="155448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① Par les bénéfices</a:t>
            </a:r>
            <a:endParaRPr lang="en-US" sz="1600" dirty="0"/>
          </a:p>
        </p:txBody>
      </p:sp>
      <p:sp>
        <p:nvSpPr>
          <p:cNvPr id="7" name="Text 5"/>
          <p:cNvSpPr txBox="1"/>
          <p:nvPr/>
        </p:nvSpPr>
        <p:spPr>
          <a:xfrm>
            <a:off x="777240" y="1965960"/>
            <a:ext cx="502920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À un PER de 20, on achète 5 % de bénéfices par an ; sur longue période, c'est une bonne estimation du rendement au-delà de l'inflation.</a:t>
            </a:r>
            <a:endParaRPr lang="en-US" sz="1350" dirty="0"/>
          </a:p>
        </p:txBody>
      </p:sp>
      <p:sp>
        <p:nvSpPr>
          <p:cNvPr id="8" name="Shape 6"/>
          <p:cNvSpPr/>
          <p:nvPr/>
        </p:nvSpPr>
        <p:spPr>
          <a:xfrm>
            <a:off x="6245352" y="1417320"/>
            <a:ext cx="5394960" cy="1737360"/>
          </a:xfrm>
          <a:prstGeom prst="roundRect">
            <a:avLst>
              <a:gd name="adj" fmla="val 4211"/>
            </a:avLst>
          </a:prstGeom>
          <a:solidFill>
            <a:srgbClr val="F2F5F9"/>
          </a:solidFill>
          <a:ln w="12700">
            <a:solidFill>
              <a:srgbClr val="F2F5F9"/>
            </a:solidFill>
            <a:prstDash val="solid"/>
          </a:ln>
        </p:spPr>
      </p:sp>
      <p:sp>
        <p:nvSpPr>
          <p:cNvPr id="9" name="Text 7"/>
          <p:cNvSpPr txBox="1"/>
          <p:nvPr/>
        </p:nvSpPr>
        <p:spPr>
          <a:xfrm>
            <a:off x="6473952" y="155448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② Par le dividende et la croissance</a:t>
            </a:r>
            <a:endParaRPr lang="en-US" sz="1600" dirty="0"/>
          </a:p>
        </p:txBody>
      </p:sp>
      <p:sp>
        <p:nvSpPr>
          <p:cNvPr id="10" name="Text 8"/>
          <p:cNvSpPr txBox="1"/>
          <p:nvPr/>
        </p:nvSpPr>
        <p:spPr>
          <a:xfrm>
            <a:off x="6473952" y="1965960"/>
            <a:ext cx="493776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dividende + croissance réelle des bénéfices</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(2,0 % par an, S&amp;P 500 depuis 1900).</a:t>
            </a:r>
            <a:endParaRPr lang="en-US" sz="1350" dirty="0"/>
          </a:p>
        </p:txBody>
      </p:sp>
      <p:sp>
        <p:nvSpPr>
          <p:cNvPr id="11" name="Shape 9"/>
          <p:cNvSpPr/>
          <p:nvPr/>
        </p:nvSpPr>
        <p:spPr>
          <a:xfrm>
            <a:off x="548640" y="3429000"/>
            <a:ext cx="11094415" cy="1005840"/>
          </a:xfrm>
          <a:prstGeom prst="roundRect">
            <a:avLst>
              <a:gd name="adj" fmla="val 7273"/>
            </a:avLst>
          </a:prstGeom>
          <a:solidFill>
            <a:srgbClr val="14304F"/>
          </a:solidFill>
          <a:ln w="12700">
            <a:solidFill>
              <a:srgbClr val="14304F"/>
            </a:solidFill>
            <a:prstDash val="solid"/>
          </a:ln>
        </p:spPr>
      </p:sp>
      <p:sp>
        <p:nvSpPr>
          <p:cNvPr id="12" name="Text 10"/>
          <p:cNvSpPr txBox="1"/>
          <p:nvPr/>
        </p:nvSpPr>
        <p:spPr>
          <a:xfrm>
            <a:off x="777240" y="3566160"/>
            <a:ext cx="1063721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Rendement espéré = </a:t>
            </a:r>
            <a:pPr indent="0" marL="0">
              <a:buNone/>
            </a:pPr>
            <a:r>
              <a:rPr lang="en-US" sz="1500" b="1" dirty="0">
                <a:solidFill>
                  <a:srgbClr val="F5C969"/>
                </a:solidFill>
                <a:latin typeface="Calibri" pitchFamily="34" charset="0"/>
                <a:ea typeface="Calibri" pitchFamily="34" charset="-122"/>
                <a:cs typeface="Calibri" pitchFamily="34" charset="-120"/>
              </a:rPr>
              <a:t>moyenne de ① et ②  + 4 % d'inflation</a:t>
            </a:r>
            <a:pPr indent="0" marL="0">
              <a:buNone/>
            </a:pPr>
            <a:r>
              <a:rPr lang="en-US" sz="1500" dirty="0">
                <a:solidFill>
                  <a:srgbClr val="FFFFFF"/>
                </a:solidFill>
                <a:latin typeface="Calibri" pitchFamily="34" charset="0"/>
                <a:ea typeface="Calibri" pitchFamily="34" charset="-122"/>
                <a:cs typeface="Calibri" pitchFamily="34" charset="-120"/>
              </a:rPr>
              <a:t> (les entreprises répercutent la hausse des prix dans leurs bénéfices).</a:t>
            </a:r>
            <a:endParaRPr lang="en-US" sz="1500" dirty="0"/>
          </a:p>
        </p:txBody>
      </p:sp>
      <p:sp>
        <p:nvSpPr>
          <p:cNvPr id="13" name="Text 11"/>
          <p:cNvSpPr txBox="1"/>
          <p:nvPr/>
        </p:nvSpPr>
        <p:spPr>
          <a:xfrm>
            <a:off x="548640" y="4663440"/>
            <a:ext cx="11094415" cy="146304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Fourchette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écart entre sources de PER (iShares / Yahoo) et entre périodes de mesure de la croissance</a:t>
            </a:r>
            <a:endParaRPr lang="en-US" sz="1500" dirty="0"/>
          </a:p>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Contrôle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à moins d'un point des hypothèses J.P. Morgan une fois leur inflation (2 %) corrigée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B — Données, remplaçants et contrôles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194560"/>
                <a:gridCol w="5303520"/>
                <a:gridCol w="3593592"/>
              </a:tblGrid>
              <a:tr h="6400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Sujet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Ce qu'on a fait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Limite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Historique 2006-2018</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Vrai support dès qu'il existe, fonds plus ancien sur le même indice avant, converti en euros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Indexées : remplaçant classique en 2008 (flatteur)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Emprunts d'État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Obligations recalculées chaque jour sur la courbe BCE (Svensson) depuis 2006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Aucune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Crédit avant 2016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Prime reconstituée depuis les écarts US (sensibilité mesurée sur le vrai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Lien faible : ligne la moins bien mesurée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Optimisation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Pire baisse mesurée sur le chemin réel, rééquilibrage mensuel, 16 départs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Apprend le passé : d'où les règles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Libellés des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Nom Yahoo et nom justETF (par ISIN) doivent concorder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Neuf erreurs trouvées et corrigées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Prix aberrants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Allers-retours isolés retirés ; baisses de crédit sur cours du vendredi</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Mandat Lauren — proposition de gestion</dc:title>
  <dc:subject>PptxGenJS Presentation</dc:subject>
  <dc:creator>Allan Guichard</dc:creator>
  <cp:lastModifiedBy>Allan Guichard</cp:lastModifiedBy>
  <cp:revision>1</cp:revision>
  <dcterms:created xsi:type="dcterms:W3CDTF">2026-09-23T11:49:16Z</dcterms:created>
  <dcterms:modified xsi:type="dcterms:W3CDTF">2026-09-23T11:49:16Z</dcterms:modified>
</cp:coreProperties>
</file>