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2.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9.230474444344882</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Deux étages ensuite : notre vue sectorielle en écarte 16, la note en retient 30, et les attentes des analystes resserrent ces 30 en 15. Deux questions différentes, dans cet ordre : ce que les sociétés SONT, puis où elles VONT.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Détail technique si on me le demande : chaque indicateur est mesuré en écarts-types par rapport à la moyenne du secteur, après avoir écarté les données aberrantes. SUR LE PLAFOND DE VOLATILITÉ, il est mesuré DANS le métier et non sur tout l'univers, et c'est une correction du 25 septembre : un plafond unique ne dit pas « ce titre est agité pour son métier », il dit « ce métier est agité », et il interdisait le métier. La technologie disparaissait entièrement de la sélection alors qu'elle pèse 7,4 % de l'indice — ASML sortait pour moins d'un point de volatilité, alors que sa note passait le seuil. Elle est aujourd'hui la première des quinze sur les attentes des analystes. SI ON ME DEMANDE OÙ EST LA VUE SECTORIELLE : elle existe, mais elle n'est pas dans la note — elle a sa propre slide. La note, elle, est aveugle aux secteurs par construction : comparer chaque société à son propre secteur la fait dire qu'une banque est meilleure que les autres banques, jamais s'il faut détenir des banques. Les secteurs de la sélection sont donc un résultat, pas une décision, et notre vue sectorielle agit à côté, en écartant des métiers, pas en pondérant. SI ON ME DEMANDE OÙ AGIT LA MACRO : sur la répartition entre classes d'actifs, et par un seul canal — elle fixe les rendements espérés, et c'est le calcul de l'étape 4 qui les convertit en poids. Elle tranche combien d'actions au total et combien d'indexées ; elle ne tranche ni la zone, figée par la clé 40/35/10/15, ni le secteur. Attention à une formulation que j'ai corrigée : le crédit à zéro n'est PAS une décision macro, c'est une mesure de marché de l'étape 3 — 3,39 % défauts déduits contre 3,63 % pour les emprunts d'État. Tirer EN PLUS des paris sectoriels de la macro reviendrait à miser deux fois sur le même diagnostic. Un portefeuille, un pari.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précision de méthode, et j'insiste dessus parce qu'elle sépare deux choses que l'on confond souvent. Les exclusions tabac, armement et charbon sont des contraintes du client : elles sont subies, non négociables, et leur respect se constate. Ce que vous voyez ici est l'inverse : c'est notre décision de gérant, assumée et révisable, et c'est à nous de la défendre. D'où une slide séparée. POURQUOI UNE EXCLUSION ET NON UN MALUS DANS LA NOTE, si on me le demande : parce que le signe d'un malus n'est pas déterminé. Dire que les gérants sous-pondèrent l'automobile justifie aussi bien de la vendre, si le consensus a raison, que de l'acheter, puisqu'elle est devenue bon marché parce qu'elle est détestée. Nos cinq piliers disent d'ailleurs exactement ces deux choses à la fois : sur les constructeurs, la Dynamique sort à moins 0,58 quand la Valorisation sort à plus 0,62, et la note finale ressort à la médiane de l'univers. La note ne rate donc pas la difficulté du secteur — le momentum médian des constructeurs est à moins 15,9 % quand l'univers est à plus 15,5 % — elle juge qu'elle est DÉJÀ PAYÉE par le prix. Retrancher un malus reviendrait à casser cette compensation sans le dire. Une exclusion déclarée, elle, est datée, motivée, et son coût se mesure. DERNIER POINT, et je le dis avant qu'on me le demande : la colonne de droite dit ce que NOS données pensent de chaque thèse, y compris quand elles la contredisent. Sur la chimie de spécialité, elles la contredisent — quinze titres, milieu de classement. La vue y anticipe une dégradation que les chiffres n'enregistrent pas encore, et c'est aussi le seul cas qui nous coûte un titre. C'est écrit dans le tableau plutôt que caché.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premier étage mesure ce que les sociétés SONT : tout y est constaté, sur le passé et le présent. Ce deuxième étage pose la question d'après — où vont-elles ? C'est une décision de méthode que je revendique : trente lignes, pour du stock picking, c'est beaucoup, et surtout c'est un portefeuille qu'on n'a pas vraiment choisi. QUATRE INDICATEURS, et deux usages distincts. Deux classent : la révision du bénéfice attendu sur 90 jours, et le solde des révisions du mois. Deux éliminent seulement : le potentiel et la dispersion. Pourquoi cette séparation ? Parce que la valeur exacte d'un potentiel n'est pas un signal — l'objectif de cours bouge plus lentement que le cours, donc un fort potentiel signale souvent une chute récente plutôt qu'un bon dossier. Et la dispersion est structurellement sectorielle : une pétrolière dépend d'un prix que personne ne prévoit, donc la noter reviendrait à noter le secteur. TROIS SEUILS QUE J'AI DÛ CORRIGER, et je préfère les dire : le solde était d'abord rapporté au nombre d'analystes, un champ incohérent chez Yahoo, ce qui plaçait argenx première pour cette seule raison ; sans plancher de qualité, la sélection raclait le fond dès qu'un secteur se vidait, et retenait Norsk Hydro avec une révision de moins 17 % ; et sur une ou deux révisions le solde ne peut valoir que moins 100 ou plus 100, ce qui faisait sortir Airtel à moins 100 pour UN analyste. Les trois sont corrigés, et c'est écrit dans le code. DERNIER POINT si on me le demande : le garde-fou du potentiel est CONDITIONNEL. Il excluait d'abord tout titre cotant au-dessus de sa cible, ce qui contredisait mon propre argument. Mesuré : les huit titres concernés avaient TOUS un bénéfice révisé à la hausse. La règle ne sanctionnait pas la cherté, elle sanctionnait la bonne dynamique.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d'actions européennes : 15 lignes à parts égales, 9 secteurs et 9 pays. Deux colonnes de note, et c'est tout le propos : « Note » est le premier étage, ce que la société EST ; « Avenir » est le second, où elle VA. Un titre doit passer les deux. ASML est le cas le plus parlant : son bénéfice attendu a été relevé de 24 % en trois mois, le meilleur dossier des trente sur l'avenir — et elle a failli ne jamais entrer dans l'univers, parce que le plafond de volatilité était mesuré sur tout le marché au lieu de l'être sur son métier. SUR LE SURCROÎT DE RISQUE, et il faut le dire avant qu'on me le demande : passer de trente à quinze lignes fait monter la volatilité du panier d'environ 1,3 point. La cause est identifiée : le garde-fou du potentiel frappe les défensives, qui cotent souvent au-dessus de leur objectif quand elles sont chères. Chercher l'avenir coûte de la protection. L'échelle réelle, en revanche, est petite : la poche d'actions européennes vaut 12,2 % du portefeuille, donc l'écart pèse environ 0,16 point au niveau du patrimoine. La limite de moins 15 % n'est pas approchée.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−12,7 % contre −18,4 %. En 2020, les deux ont baissé d'environ un tiers. La colonne du milieu est la mesure honnête du resserrement : passer de 30 à 15 lignes coûte de la volatilité, 11,92 % contre 10,59 %, et un peu de 2020. Rapporté au patrimoine, où la poche vaut 12,2 %, cela pèse environ 0,16 point.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sur la fenêtre de crise, les emprunts d'État gagnent 15,5 % et l'or 22,2 %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−0,69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1,16 point de rendement espéré : c'est le prix d'un portefeuille robuste. SI ON ME DEMANDE POURQUOI SI PEU D'OR : parce que personne n'a choisi ce chiffre. Le plafond autorise 10 % et le calcul n'en prend que 3,3 % — le plafond n'est pas la contrainte qui mord. L'or a le plus faible rendement espéré du modèle, 4,00 %, à peine au-dessus des 3,63 % des emprunts d'État à 2-10 ans. On ne le détient donc pas pour ce qu'il rapporte mais pour sa tenue en crise. Les chiffres exacts, en euros et sur les fenêtres de crise du dossier : 22,2 % en 2008, 25,6 % en 2011, 11,2 % en 2020, 16,9 % en 2022 — c'est LE SEUL SUPPORT du portefeuille à finir positif sur les quatre, quand la poche d'actions perd 39,3 % en 2008 et les emprunts d'État 8,2 % en 2022. Si on me montre la table des pires baisses, où l'or affiche moins 25,7 % en 2008 : les deux sont vrais et ne mesurent pas la même chose — il a bien reculé de 25,7 % À L'INTÉRIEUR de la fenêtre avant de la finir en hausse. Le calcul en achète juste ce qu'il faut pour laisser la poche actions atteindre 30,4 % sous la limite ; au-delà, chaque euro d'or supplémentaire coûte du rendement sans acheter assez de protection. Et c'est stable : huit tirages aléatoires différents donnent tous 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Un point de méthode important : le rendement brut est de 5,31 %, mais l'objectif du client est un objectif NET — ce qui doit battre l'inflation, c'est ce qui lui reste. On retire donc les frais des fonds, 0,05 point, et nos frais de mandat, 0,40 point : il reste 4,86 % nets, soit 0,86 point au-dessus de l'inflation de l'énoncé. Si on me demande la fiscalité : elle est hors périmètre de cet exercice et retirerait encore environ 0,30 point. Pire baisse sur vingt ans : 14,0 %. Les actions ne font que 30 % du patrimoine mais apportent près de la moitié du rendement ; les obligations tiennent la limite de perte. Le petit 3,3 % d'or n'est pas un arrondi de confort : c'est un résidu de calcul, détaillé à la slide précédente.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15 actions européennes, à 1 M€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 la seule ligne détenue pour sa tenue en crise et non pour son rendement.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Ce chiffre-là, il ne faut pas le comparer aux 4 % de l'énoncé : ces 4 % décrivent un monde à 4 % d'inflation, or la zone euro en a connu 2,18 % par an sur cette période, 53,5 % cumulés. Jugé contre l'inflation réellement constatée, le portefeuille a donc dégagé 2,29 point de rendement réel par an. L'objectif du client a été tenu, et largement. Je dois être honnête en revanche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Un chiffre que je préfère donner moi-même plutôt qu'on me le sorte : 29 % des années glissantes n'ont pas battu l'inflation de leur époque. C'est normal, et c'est important à dire : préserver le pouvoir d'achat est un objectif de moyenne longue, aucun portefeuille tenu à 15 % de perte maximum ne peut le garantir chaque année. Précaution enfin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4,86 % espérés par an NETS de tous frais, soit 0,86 point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notation. Le point à retenir si on me pose la question : ce n'est pas un modèle à facteurs. On n'explique pas un rendement, on classe des titres les uns par rapport aux autres — c'est du stock screening, et ça ne prétend pas prédire. Les trois étapes règlent trois problèmes concrets : mettre tous les indicateurs dans le sens « plus haut = mieux », les ramener sur une échelle commune en les comparant à leur propre secteur, et seulement alors en faire une moyenne. Le choix du secteur plutôt que du marché entier est le plus important : sans lui, on sélectionnerait des secteurs en croyant sélectionner des sociétés. Deux détails si on creuse : les données aberrantes sont supprimées et non corrigées — Yahoo confond les pence et les livres sur certaines valeurs de Londres, ce qui donnait des PER multipliés par cent — et pour les banques on retire l'endettement, le flux de trésorerie et la marge, parce que la dette d'une banque est sa matière première, pas un fardeau.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la courbe des taux. Si on me demande d'où viennent les taux que j'utilise pour valoriser les obligations : ils viennent de la courbe zéro-coupon publiée chaque jour par la Banque centrale européenne, calculée avec le modèle de Svensson. L'idée tient en une phrase : plutôt que de relier les points entre les obligations qui existent — ce qui recopie le bruit de cotation — on décrit la forme de la courbe par six nombres. Une courbe de taux a toujours la même allure : un niveau, une pente, une ou deux bosses. Quatre boutons règlent les tailles, deux règlent les positions. C'est comme décrire un visage : on peut lister chaque pixel, ou dire « ovale, yeux écartés, nez droit ». La seconde description est plus robuste, et surtout elle permet de donner le taux à six ans même si aucune obligation ne tombe exactement à six ans. Deux lectures immédiates pour un gérant : le niveau seul donne le très long terme, et le niveau plus la pente donnent le taux au jour le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et c'est la question qu'on me posera en premier. La théorie classique dit : matrice de covariance, minimisation de la variance, frontière efficiente. Je ne l'ai pas fait, pour une raison simple : la contrainte du client n'est pas une volatilité. Il n'a pas demandé une volatilité de six pour cent, il a demandé de ne jamais perdre plus de quinze. L'expérience qui tranche tient en une phrase : prenez les rendements mensuels, mélangez les mois comme un paquet de cartes. La volatilité est identique — elle ne regarde que la dispersion. La pire baisse, elle, change complètement : si les mauvais mois se suivent vous creusez quarante pour cent, s'ils sont éparpillés vous ne descendez jamais sous dix. La volatilité ignore l'ordre, le drawdown ne dépend que de l'ordre. Il n'y a donc pas de formule qui relie la covariance à la perte maximale, sauf sous hypothèse d'indépendance et de normalité — hypothèse fausse exactement dans les crises. Optimiser la variance en espérant que la perte suive aurait été un raccourci non vérifié. Je dois dire le prix de mon choix : la contrainte est mesurée sur une seule trajectoire, celle qui a eu lieu, donc c'est du surapprentissage. C'est précisément pour ça que le résultat brut du calcul libre est rejeté et que j'ajoute des règles dont je chiffre le coût une par une. Sur Black-Litterman enfin : écarté parce que mes opinions sont déjà dans les rendements espérés, qui sortent des valorisations. Dire que l'Europe est moins chère donc rapportera plus, c'est déjà l'opinion. La réinjecter serait la compter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les mesures obligataires, pour les chiffres de sensibilité cités dans le dossier. La duration, c'est le délai moyen de récupération de l'argent : une obligation à dix ans verse des coupons avant l'échéance, donc elle me rend mon argent en moyenne plus tôt que dans dix ans. La sensibilité, c'est la duration corrigée d'un petit facteur, et elle se lit directement : si les taux montent d'un point, le prix baisse d'à peu près autant de pour cent. C'est de là que vient le chiffre du dossier — l'échelle deux-dix ans perdrait 4,7 % si les taux montaient d'un point. L'intuition est simple : si je détiens du trois pour cent et que le marché se met à payer quatre, personne ne veut du mien à son prix actuel, donc il baisse jusqu'à redevenir compétitif. La convexité est la bonne nouvelle : la relation n'est pas une droite mais une courbe, et elle est courbée en faveur du détenteur — on perd un peu moins que prévu quand les taux montent, on gagne un peu plus quand ils baissent. Un détail de méthode si on me le demande : je ne passe pas par l'approximation sensibilité plus convexité, je revalorise réellement l'obligation avec la courbe décalée d'un point, ce qui est exact plutôt qu'approché et évite de décrocher sur les longues maturités. Enfin, si la courbe ne bouge pas d'un an sur l'autre, je gagne quand même par deux canaux : le portage, c'est-à-dire le coupon, et le glissement — mon obligation à dix ans devient une neuf ans, valorisée avec un taux plus bas sur une courbe montante, donc son prix monte tout seul.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la suite de l'annexe E. E dit pourquoi je n'ai pas fait de Markowitz ; celle-ci dit ce que je fais à la place. On maximise le rendement espéré du portefeuille, c'est-à-dire la moyenne des rendements de chaque support pondérée par son poids. On s'interdit de perdre plus que la limite, et c'est le point important : pour chaque partage essayé, le programme rejoue vingt ans d'histoire — il place cent millions selon ces poids en octobre 2006, les remet à ces mêmes poids chaque mois, suit la valeur semaine après semaine, et mesure la plus forte baisse depuis un sommet. Enfin les poids sont bornés : positifs, somme de cent pour cent, dix pour cent au moins sur l'échelle AAA pour les dix millions à décaisser, la clé actions, et les plafonds. Pourquoi aucune formule ne donne la réponse : la variance de Markowitz est lisse et convexe, elle a une solution fermée. La pire baisse est un minimum sur vingt ans de dates, et déplacer un poids d'un dixième de point peut faire basculer la date qui la donne — deux mille huit devient deux mille vingt, et la contrainte saute d'un coup au lieu de varier doucement. Aucune dérivée fiable. On cherche donc, avec un solveur sous contraintes relancé depuis seize points de départ, et on garde le meilleur résultat admissible. QUATRE PRÉCAUTIONS, si on me demande pourquoi seize et pas un. Premièrement les départs sont admissibles par construction : un tirage au hasard ignore les plafonds, il pose en moyenne quatorze pour cent par support quand les matières premières plafonnent à cinq, et trois tirages sur deux cents seulement respectaient les bornes. Deuxièmement il existe un point de repli certain, un portefeuille très obligataire dont on sait qu'il tient la limite — et le repli naturel, tout en États deux-dix ans, est lui-même inadmissible puisque cent pour cent de ce support perd quinze virgule trois pour cent ; le repli est donc sur l'échelle AAA, qui perd sept virgule un. Troisièmement seize départs, parce qu'avant correction un seul sur seize aboutissait et trois graines sur huit ne trouvaient rien : le résultat tenait à un départ heureux. Quatrièmement on vérifie la limite pour de bon, parce que le solveur l'accepte à cinq pour dix mille près, ce qui laissait passer un portefeuille à moins quatorze virgule zéro cinq pour une limite de moins quatorze. Huit tirages indépendants donnent le même portefeuille : c'est ce qui permet de dire que le résultat n'est pas un accident de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l'or, et c'est une question qui revient systématiquement. La réponse tient en une phrase : personne n'a choisi ce chiffre. Le plafond autorise 10 % et le calcul n'en prend que 3,3 %, ce qui veut dire que le plafond n'est pas la contrainte qui mord — si on le relevait, rien ne bougerait. L'or a le rendement espéré le plus faible du modèle, 4,00 %, à peine au-dessus des emprunts d'État à deux-dix ans. On ne le détient donc pas pour ce qu'il rapporte mais pour sa tenue en crise, et le tableau de gauche le montre : sur les quatre fenêtres de crise du dossier, en euros, l'or est le seul support du portefeuille à finir positif, quand la poche d'actions perd trente-neuf pour cent en deux mille huit et les emprunts d'État huit pour cent en deux mille vingt-deux. C'est de la protection achetée avec du rendement, et le calcul en prend exactement ce qu'il faut pour que la poche d'actions puisse atteindre trente pour cent sous la limite de perte ; au-delà, chaque euro d'or supplémentaire coûte du rendement sans acheter assez de protection pour financer une action de plus. Si on me montre la table des pires baisses, où l'or affiche moins vingt-cinq virgule sept en deux mille huit : les deux chiffres sont vrais et ne mesurent pas la même chose. Il a reculé de vingt-cinq pour cent à l'intérieur de la fenêtre, avant de la finir en hausse. Et le résultat est stable : huit tirages aléatoires différents donnent tous le même poids.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technique sur le lien entre l'étape 2 et l'étape 4, parce que le dossier annonce que chaque étape nourrit la suivante et qu'il faut pouvoir dire par quel canal. La lecture macro ne choisit aucun poids : elle fixe les rendements espérés de chaque classe, et c'est le calcul qui les convertit en poids sous la limite de perte. La distinction n'est pas cosmétique, elle explique pourquoi une erreur de diagnostic macro ne déforme pas le portefeuille dans les mêmes proportions. Ce qu'elle tranche : combien d'actions au total, par les rendements espérés des quatre zones ; et combien d'obligations indexées, puisque l'inflation de l'énoncé les porte au meilleur rendement obligataire du tableau et que le calcul sature leur plafond de quinze pour cent. Ce qu'elle ne tranche pas : la zone d'actions, figée par la clé quarante trente-cinq dix quinze précisément pour que la vue de zone ne devienne pas un pari ; et le secteur, puisque la note de l'étape trois compare chaque société à son propre secteur et se trouve aveugle aux secteurs par construction. UNE FORMULATION QUE J'AI CORRIGÉE, si elle figure encore quelque part : le crédit à zéro n'est PAS une décision macro. C'est une mesure de marché de l'étape trois — trois virgule trente-neuf pour cent défauts déduits, contre trois virgule soixante-trois pour les emprunts d'État. Enfin, la contrainte qui commande tout le reste n'est pas macro non plus : sur dix bornes du problème, deux seulement mordent, le plancher AAA et le plafond des indexées. L'or s'arrête à trois virgule trois pour cent pour un plafond de dix. Ce qui borne vraiment le portefeuille, c'est la limite de perte, atteinte exactement à la valeur visée.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que la notation retient : ils couvrent 11 secteurs sur 11. Ce n'est PAS encore le portefeuille — c'est le premier étage, celui du constaté : bilan, marges, valorisation, comportement en crise. Tout y est mesuré sur le passé et le présent. Le deuxième étage, dans le corps de la présentation, pose la question d'après, celle de l'avenir, et resserre ces 30 en 15. La sélection ne ressemble pas à l'indice, et c'est voulu : la note ignore la taille des sociétés, elle ne regarde que leurs qualités face à leurs concurrentes. Cette liste est en annexe : l'entonnoir suffit dans le corps de la présentation, et la seule liste qui compte est celle des 15 retenus.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mot sur la corrélation, parce que la question vient toujours. À gauche, les semaines ordinaires ; à droite, les seules semaines de crise. Deux chiffres comptent. L'échelle AAA était à −3 face aux actions en temps normal : indépendante. En crise elle passe à −21 : elle monte quand les actions chutent. L'or fait le même chemin, de +12 à −11. Voilà pourquoi on garde de l'or malgré un rendement espéré de 4 % seulement : on ne l'achète pas pour son rendement, on l'achète pour ce qu'il fait ce jour-là. À l'inverse, les matières premières restent à +36 : elles diversifient peu, et c'est pour ça qu'elles ont une place réduite. Et je veux être honnête sur le revers, parce qu'on me le demanderait sinon : la poche défensive, elle, se resserre. Crédit court et indexées passent de +36 à +62 entre eux. Autrement dit les amortisseurs deviennent un seul pari au moment où on compte sur eux. C'est exactement la raison pour laquelle on ne met pas tout le défensif sur la même maturité, et pourquoi le calcul ne travaille pas sur une corrélation moyenne, mais fait traverser au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15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55168" y="1389888"/>
            <a:ext cx="10881360" cy="502920"/>
          </a:xfrm>
          <a:prstGeom prst="roundRect">
            <a:avLst>
              <a:gd name="adj" fmla="val 10909"/>
            </a:avLst>
          </a:prstGeom>
          <a:solidFill>
            <a:srgbClr val="14304F"/>
          </a:solidFill>
          <a:ln w="12700">
            <a:solidFill>
              <a:srgbClr val="14304F"/>
            </a:solidFill>
            <a:prstDash val="solid"/>
          </a:ln>
        </p:spPr>
      </p:sp>
      <p:sp>
        <p:nvSpPr>
          <p:cNvPr id="18" name="Text 16"/>
          <p:cNvSpPr txBox="1"/>
          <p:nvPr/>
        </p:nvSpPr>
        <p:spPr>
          <a:xfrm>
            <a:off x="655168" y="1389888"/>
            <a:ext cx="1088136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600  </a:t>
            </a:r>
            <a:pPr algn="ctr" indent="0" marL="0">
              <a:buNone/>
            </a:pPr>
            <a:r>
              <a:rPr lang="en-US" sz="1250" dirty="0">
                <a:solidFill>
                  <a:srgbClr val="FFFFFF"/>
                </a:solidFill>
                <a:latin typeface="Calibri" pitchFamily="34" charset="0"/>
                <a:ea typeface="Calibri" pitchFamily="34" charset="-122"/>
                <a:cs typeface="Calibri" pitchFamily="34" charset="-120"/>
              </a:rPr>
              <a:t>valeurs du STOXX 600</a:t>
            </a:r>
            <a:endParaRPr lang="en-US" sz="1700" dirty="0"/>
          </a:p>
        </p:txBody>
      </p:sp>
      <p:sp>
        <p:nvSpPr>
          <p:cNvPr id="19" name="Shape 17"/>
          <p:cNvSpPr/>
          <p:nvPr/>
        </p:nvSpPr>
        <p:spPr>
          <a:xfrm>
            <a:off x="1194664" y="1965960"/>
            <a:ext cx="9802368" cy="502920"/>
          </a:xfrm>
          <a:prstGeom prst="roundRect">
            <a:avLst>
              <a:gd name="adj" fmla="val 10909"/>
            </a:avLst>
          </a:prstGeom>
          <a:solidFill>
            <a:srgbClr val="3B5A80"/>
          </a:solidFill>
          <a:ln w="12700">
            <a:solidFill>
              <a:srgbClr val="3B5A80"/>
            </a:solidFill>
            <a:prstDash val="solid"/>
          </a:ln>
        </p:spPr>
      </p:sp>
      <p:sp>
        <p:nvSpPr>
          <p:cNvPr id="20" name="Text 18"/>
          <p:cNvSpPr txBox="1"/>
          <p:nvPr/>
        </p:nvSpPr>
        <p:spPr>
          <a:xfrm>
            <a:off x="1194664" y="1965960"/>
            <a:ext cx="9802368"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− 26  </a:t>
            </a:r>
            <a:pPr algn="ctr" indent="0" marL="0">
              <a:buNone/>
            </a:pPr>
            <a:r>
              <a:rPr lang="en-US" sz="1250" dirty="0">
                <a:solidFill>
                  <a:srgbClr val="FFFFFF"/>
                </a:solidFill>
                <a:latin typeface="Calibri" pitchFamily="34" charset="0"/>
                <a:ea typeface="Calibri" pitchFamily="34" charset="-122"/>
                <a:cs typeface="Calibri" pitchFamily="34" charset="-120"/>
              </a:rPr>
              <a:t>exclues : tabac, armement, charbon</a:t>
            </a:r>
            <a:endParaRPr lang="en-US" sz="1700" dirty="0"/>
          </a:p>
        </p:txBody>
      </p:sp>
      <p:sp>
        <p:nvSpPr>
          <p:cNvPr id="21" name="Shape 19"/>
          <p:cNvSpPr/>
          <p:nvPr/>
        </p:nvSpPr>
        <p:spPr>
          <a:xfrm>
            <a:off x="1734160" y="2542032"/>
            <a:ext cx="8723376" cy="502920"/>
          </a:xfrm>
          <a:prstGeom prst="roundRect">
            <a:avLst>
              <a:gd name="adj" fmla="val 10909"/>
            </a:avLst>
          </a:prstGeom>
          <a:solidFill>
            <a:srgbClr val="3B5A80"/>
          </a:solidFill>
          <a:ln w="12700">
            <a:solidFill>
              <a:srgbClr val="3B5A80"/>
            </a:solidFill>
            <a:prstDash val="solid"/>
          </a:ln>
        </p:spPr>
      </p:sp>
      <p:sp>
        <p:nvSpPr>
          <p:cNvPr id="22" name="Text 20"/>
          <p:cNvSpPr txBox="1"/>
          <p:nvPr/>
        </p:nvSpPr>
        <p:spPr>
          <a:xfrm>
            <a:off x="1734160" y="2542032"/>
            <a:ext cx="8723376"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− 11  </a:t>
            </a:r>
            <a:pPr algn="ctr" indent="0" marL="0">
              <a:buNone/>
            </a:pPr>
            <a:r>
              <a:rPr lang="en-US" sz="1250" dirty="0">
                <a:solidFill>
                  <a:srgbClr val="FFFFFF"/>
                </a:solidFill>
                <a:latin typeface="Calibri" pitchFamily="34" charset="0"/>
                <a:ea typeface="Calibri" pitchFamily="34" charset="-122"/>
                <a:cs typeface="Calibri" pitchFamily="34" charset="-120"/>
              </a:rPr>
              <a:t>sociétés d'investissement, non notables</a:t>
            </a:r>
            <a:endParaRPr lang="en-US" sz="1700" dirty="0"/>
          </a:p>
        </p:txBody>
      </p:sp>
      <p:sp>
        <p:nvSpPr>
          <p:cNvPr id="23" name="Shape 21"/>
          <p:cNvSpPr/>
          <p:nvPr/>
        </p:nvSpPr>
        <p:spPr>
          <a:xfrm>
            <a:off x="2273656" y="3118104"/>
            <a:ext cx="7644384" cy="502920"/>
          </a:xfrm>
          <a:prstGeom prst="roundRect">
            <a:avLst>
              <a:gd name="adj" fmla="val 10909"/>
            </a:avLst>
          </a:prstGeom>
          <a:solidFill>
            <a:srgbClr val="3B5A80"/>
          </a:solidFill>
          <a:ln w="12700">
            <a:solidFill>
              <a:srgbClr val="3B5A80"/>
            </a:solidFill>
            <a:prstDash val="solid"/>
          </a:ln>
        </p:spPr>
      </p:sp>
      <p:sp>
        <p:nvSpPr>
          <p:cNvPr id="24" name="Text 22"/>
          <p:cNvSpPr txBox="1"/>
          <p:nvPr/>
        </p:nvSpPr>
        <p:spPr>
          <a:xfrm>
            <a:off x="2273656" y="3118104"/>
            <a:ext cx="7644384"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− 262  </a:t>
            </a:r>
            <a:pPr algn="ctr" indent="0" marL="0">
              <a:buNone/>
            </a:pPr>
            <a:r>
              <a:rPr lang="en-US" sz="1250" dirty="0">
                <a:solidFill>
                  <a:srgbClr val="FFFFFF"/>
                </a:solidFill>
                <a:latin typeface="Calibri" pitchFamily="34" charset="0"/>
                <a:ea typeface="Calibri" pitchFamily="34" charset="-122"/>
                <a:cs typeface="Calibri" pitchFamily="34" charset="-120"/>
              </a:rPr>
              <a:t>trop petites (&lt; 10 Md€)</a:t>
            </a:r>
            <a:endParaRPr lang="en-US" sz="1700" dirty="0"/>
          </a:p>
        </p:txBody>
      </p:sp>
      <p:sp>
        <p:nvSpPr>
          <p:cNvPr id="25" name="Shape 23"/>
          <p:cNvSpPr/>
          <p:nvPr/>
        </p:nvSpPr>
        <p:spPr>
          <a:xfrm>
            <a:off x="2813152" y="3694176"/>
            <a:ext cx="6565392" cy="502920"/>
          </a:xfrm>
          <a:prstGeom prst="roundRect">
            <a:avLst>
              <a:gd name="adj" fmla="val 10909"/>
            </a:avLst>
          </a:prstGeom>
          <a:solidFill>
            <a:srgbClr val="3B5A80"/>
          </a:solidFill>
          <a:ln w="12700">
            <a:solidFill>
              <a:srgbClr val="3B5A80"/>
            </a:solidFill>
            <a:prstDash val="solid"/>
          </a:ln>
        </p:spPr>
      </p:sp>
      <p:sp>
        <p:nvSpPr>
          <p:cNvPr id="26" name="Text 24"/>
          <p:cNvSpPr txBox="1"/>
          <p:nvPr/>
        </p:nvSpPr>
        <p:spPr>
          <a:xfrm>
            <a:off x="2813152" y="3694176"/>
            <a:ext cx="6565392"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300  </a:t>
            </a:r>
            <a:pPr algn="ctr" indent="0" marL="0">
              <a:buNone/>
            </a:pPr>
            <a:r>
              <a:rPr lang="en-US" sz="1250" dirty="0">
                <a:solidFill>
                  <a:srgbClr val="FFFFFF"/>
                </a:solidFill>
                <a:latin typeface="Calibri" pitchFamily="34" charset="0"/>
                <a:ea typeface="Calibri" pitchFamily="34" charset="-122"/>
                <a:cs typeface="Calibri" pitchFamily="34" charset="-120"/>
              </a:rPr>
              <a:t>notées sur cinq piliers</a:t>
            </a:r>
            <a:endParaRPr lang="en-US" sz="1700" dirty="0"/>
          </a:p>
        </p:txBody>
      </p:sp>
      <p:sp>
        <p:nvSpPr>
          <p:cNvPr id="27" name="Shape 25"/>
          <p:cNvSpPr/>
          <p:nvPr/>
        </p:nvSpPr>
        <p:spPr>
          <a:xfrm>
            <a:off x="3352648" y="4270248"/>
            <a:ext cx="5486400" cy="502920"/>
          </a:xfrm>
          <a:prstGeom prst="roundRect">
            <a:avLst>
              <a:gd name="adj" fmla="val 10909"/>
            </a:avLst>
          </a:prstGeom>
          <a:solidFill>
            <a:srgbClr val="3B5A80"/>
          </a:solidFill>
          <a:ln w="12700">
            <a:solidFill>
              <a:srgbClr val="3B5A80"/>
            </a:solidFill>
            <a:prstDash val="solid"/>
          </a:ln>
        </p:spPr>
      </p:sp>
      <p:sp>
        <p:nvSpPr>
          <p:cNvPr id="28" name="Text 26"/>
          <p:cNvSpPr txBox="1"/>
          <p:nvPr/>
        </p:nvSpPr>
        <p:spPr>
          <a:xfrm>
            <a:off x="3352648" y="4270248"/>
            <a:ext cx="548640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− 16  </a:t>
            </a:r>
            <a:pPr algn="ctr" indent="0" marL="0">
              <a:buNone/>
            </a:pPr>
            <a:r>
              <a:rPr lang="en-US" sz="1250" dirty="0">
                <a:solidFill>
                  <a:srgbClr val="FFFFFF"/>
                </a:solidFill>
                <a:latin typeface="Calibri" pitchFamily="34" charset="0"/>
                <a:ea typeface="Calibri" pitchFamily="34" charset="-122"/>
                <a:cs typeface="Calibri" pitchFamily="34" charset="-120"/>
              </a:rPr>
              <a:t>écartées par notre vue sectorielle</a:t>
            </a:r>
            <a:endParaRPr lang="en-US" sz="1700" dirty="0"/>
          </a:p>
        </p:txBody>
      </p:sp>
      <p:sp>
        <p:nvSpPr>
          <p:cNvPr id="29" name="Shape 27"/>
          <p:cNvSpPr/>
          <p:nvPr/>
        </p:nvSpPr>
        <p:spPr>
          <a:xfrm>
            <a:off x="3892144" y="4846320"/>
            <a:ext cx="4407408" cy="502920"/>
          </a:xfrm>
          <a:prstGeom prst="roundRect">
            <a:avLst>
              <a:gd name="adj" fmla="val 10909"/>
            </a:avLst>
          </a:prstGeom>
          <a:solidFill>
            <a:srgbClr val="3B5A80"/>
          </a:solidFill>
          <a:ln w="12700">
            <a:solidFill>
              <a:srgbClr val="3B5A80"/>
            </a:solidFill>
            <a:prstDash val="solid"/>
          </a:ln>
        </p:spPr>
      </p:sp>
      <p:sp>
        <p:nvSpPr>
          <p:cNvPr id="30" name="Text 28"/>
          <p:cNvSpPr txBox="1"/>
          <p:nvPr/>
        </p:nvSpPr>
        <p:spPr>
          <a:xfrm>
            <a:off x="3892144" y="4846320"/>
            <a:ext cx="4407408"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30  </a:t>
            </a:r>
            <a:pPr algn="ctr" indent="0" marL="0">
              <a:buNone/>
            </a:pPr>
            <a:r>
              <a:rPr lang="en-US" sz="1250" dirty="0">
                <a:solidFill>
                  <a:srgbClr val="FFFFFF"/>
                </a:solidFill>
                <a:latin typeface="Calibri" pitchFamily="34" charset="0"/>
                <a:ea typeface="Calibri" pitchFamily="34" charset="-122"/>
                <a:cs typeface="Calibri" pitchFamily="34" charset="-120"/>
              </a:rPr>
              <a:t>présélectionnées</a:t>
            </a:r>
            <a:endParaRPr lang="en-US" sz="1700" dirty="0"/>
          </a:p>
        </p:txBody>
      </p:sp>
      <p:sp>
        <p:nvSpPr>
          <p:cNvPr id="31" name="Shape 29"/>
          <p:cNvSpPr/>
          <p:nvPr/>
        </p:nvSpPr>
        <p:spPr>
          <a:xfrm>
            <a:off x="4431640" y="5422392"/>
            <a:ext cx="3328416" cy="502920"/>
          </a:xfrm>
          <a:prstGeom prst="roundRect">
            <a:avLst>
              <a:gd name="adj" fmla="val 10909"/>
            </a:avLst>
          </a:prstGeom>
          <a:solidFill>
            <a:srgbClr val="C98A1B"/>
          </a:solidFill>
          <a:ln w="12700">
            <a:solidFill>
              <a:srgbClr val="C98A1B"/>
            </a:solidFill>
            <a:prstDash val="solid"/>
          </a:ln>
        </p:spPr>
      </p:sp>
      <p:sp>
        <p:nvSpPr>
          <p:cNvPr id="32" name="Text 30"/>
          <p:cNvSpPr txBox="1"/>
          <p:nvPr/>
        </p:nvSpPr>
        <p:spPr>
          <a:xfrm>
            <a:off x="4431640" y="5422392"/>
            <a:ext cx="3328416"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15  </a:t>
            </a:r>
            <a:pPr algn="ctr" indent="0" marL="0">
              <a:buNone/>
            </a:pPr>
            <a:r>
              <a:rPr lang="en-US" sz="1250" dirty="0">
                <a:solidFill>
                  <a:srgbClr val="FFFFFF"/>
                </a:solidFill>
                <a:latin typeface="Calibri" pitchFamily="34" charset="0"/>
                <a:ea typeface="Calibri" pitchFamily="34" charset="-122"/>
                <a:cs typeface="Calibri" pitchFamily="34" charset="-120"/>
              </a:rPr>
              <a:t>retenues sur les attentes des analystes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4 titres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au plus par secteur,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6</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par pays</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Volatilité plafonnée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dans son métier</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35,8 % pour tous, jusqu'à 47,1 % là où l'agitation est structurelle</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Données aberrantes écartées (un PER de 1 042…)</a:t>
            </a:r>
            <a:endParaRPr lang="en-US" sz="1250" dirty="0"/>
          </a:p>
        </p:txBody>
      </p:sp>
      <p:sp>
        <p:nvSpPr>
          <p:cNvPr id="43" name="Text 41"/>
          <p:cNvSpPr txBox="1"/>
          <p:nvPr/>
        </p:nvSpPr>
        <p:spPr>
          <a:xfrm>
            <a:off x="548640" y="5870448"/>
            <a:ext cx="5029200" cy="502920"/>
          </a:xfrm>
          <a:prstGeom prst="rect">
            <a:avLst/>
          </a:prstGeom>
          <a:noFill/>
          <a:ln/>
        </p:spPr>
        <p:txBody>
          <a:bodyPr wrap="square" lIns="0" tIns="0" rIns="0" bIns="0" rtlCol="0" anchor="t"/>
          <a:lstStyle/>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La note ne dit donc rien d'un secteur</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seulement d'une société face à ses concurrentes : la vue macro agit à l'étape 4, pas ici.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vue sectorielle, et ce qu'elle coûte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Quatre métiers que nous nous interdisons · décision de gestion, pas contrainte du client · depuis le 25/09/2026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846320"/>
                <a:gridCol w="457200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Métier écarté</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Pourquoi</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Ce que disent nos données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Auto Manufacturers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Les constructeurs européens font face à une concurrence chinoise qui produit moins cher sur l'électrique, à une transition qui rend obsolète l'outil thermique avant d'être rentable, et à des surcapacités en Europe. Le problème est structurel : il ne se résout pas par un retour de cycle.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CONFIRMÉE. Momentum médian à 12 mois -15,9 %, le pire des 41 industries d'au moins cinq titres, contre +15,5 % pour l'univers. Et le marché vend malgré des bénéfices en hausse de 10,1 % : il escompte une rupture, pas un creux de cycle.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Auto Parts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Même exposition que les constructeurs, en plus concentrée : un équipementier ne choisit pas ses volumes et subit la pression sur les prix de ses donneurs d'ordre.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CONFIRMÉE sur l'activité — bénéfices -2,4 %, ventes -2,6 %, les deux négatifs, ce qui n'arrive sur aucune autre industrie de la liste. Le momentum, lui, est positif (+22,1 %) : le marché ne partage pas encore ce diagnostic.</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Chemicals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La chimie de base européenne a perdu son avantage de coût de l'énergie depuis 2022 : le gaz y reste structurellement plus cher qu'aux États-Unis, et c'est le premier poste d'un craqueur. L'écart ne se referme pas par la conjoncture.</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NON VÉRIFIABLE sur nos données : l'industrie ne compte que trois sociétés dans l'univers, une seule notée. Le bénéfice médian y recule de 34,3 % mais sur trois titres ce chiffre ne veut rien dire — c'est le même piège que les soldes de révision sur une seule révision, déjà documenté dans core/outlook.py.</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4320">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Specialty Chemicals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Même désavantage énergétique, une marche plus haut dans la chaîne. La spécialité protège les marges plus longtemps que la chimie de base, mais elle achète les mêmes intrants.</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00" dirty="0">
                          <a:solidFill>
                            <a:srgbClr val="1F2937"/>
                          </a:solidFill>
                          <a:latin typeface="Calibri" pitchFamily="34" charset="0"/>
                          <a:ea typeface="Calibri" pitchFamily="34" charset="-122"/>
                          <a:cs typeface="Calibri" pitchFamily="34" charset="-120"/>
                        </a:rPr>
                        <a:t>CONTREDITE par nos mesures, et c'est assumé. Sur quinze titres, l'industrie est au milieu du classement de difficulté : bénéfices +1,9 %, ventes +1,3 %, momentum +7,5 %. La vue anticipe donc une dégradation que les chiffres n'enregistrent pas encore. C'EST LE SEUL CAS DE LA LISTE OÙ NOUS ALLONS CONTRE NOS PROPRES DONNÉES, et c'est aussi le seul qui coûte un titre (voir `cout`).</a:t>
                      </a:r>
                      <a:endParaRPr lang="en-US" sz="9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8" name="Shape 15"/>
          <p:cNvSpPr/>
          <p:nvPr/>
        </p:nvSpPr>
        <p:spPr>
          <a:xfrm>
            <a:off x="548640" y="5074920"/>
            <a:ext cx="11094415" cy="1143000"/>
          </a:xfrm>
          <a:prstGeom prst="roundRect">
            <a:avLst>
              <a:gd name="adj" fmla="val 6400"/>
            </a:avLst>
          </a:prstGeom>
          <a:solidFill>
            <a:srgbClr val="F2F5F9"/>
          </a:solidFill>
          <a:ln w="12700">
            <a:solidFill>
              <a:srgbClr val="F2F5F9"/>
            </a:solidFill>
            <a:prstDash val="solid"/>
          </a:ln>
        </p:spPr>
      </p:sp>
      <p:sp>
        <p:nvSpPr>
          <p:cNvPr id="19" name="Text 16"/>
          <p:cNvSpPr txBox="1"/>
          <p:nvPr/>
        </p:nvSpPr>
        <p:spPr>
          <a:xfrm>
            <a:off x="777240" y="5184648"/>
            <a:ext cx="54864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Ce que la décision coûte</a:t>
            </a:r>
            <a:endParaRPr lang="en-US" sz="1500" dirty="0"/>
          </a:p>
        </p:txBody>
      </p:sp>
      <p:sp>
        <p:nvSpPr>
          <p:cNvPr id="20" name="Text 17"/>
          <p:cNvSpPr txBox="1"/>
          <p:nvPr/>
        </p:nvSpPr>
        <p:spPr>
          <a:xfrm>
            <a:off x="777240" y="5532120"/>
            <a:ext cx="10637215" cy="59436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16 sociétés notées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sortent de l'univers. La meilleure d'entre elles, EMS-CHEMIE HOLDING AG, était notée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0,26</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elle était la dernière des présélectionnés. La sélection finale et le risque du panier sont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inchangés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la vue ne coûte qu'un titre, et le dernier.</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Deuxième étage : où vont-elles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présélectionnés resserrés en 15 · ce que le consensus des analystes ATTEND, relevé du 25/09/2026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Objectifs de cours et estimations de bénéfice · Yahoo Finance</a:t>
            </a:r>
            <a:endParaRPr lang="en-US" sz="850" dirty="0"/>
          </a:p>
        </p:txBody>
      </p:sp>
      <p:sp>
        <p:nvSpPr>
          <p:cNvPr id="18" name="Text 16"/>
          <p:cNvSpPr txBox="1"/>
          <p:nvPr/>
        </p:nvSpPr>
        <p:spPr>
          <a:xfrm>
            <a:off x="548640" y="1371600"/>
            <a:ext cx="5486400" cy="347472"/>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mesures qui classent</a:t>
            </a:r>
            <a:endParaRPr lang="en-US" sz="1600" dirty="0"/>
          </a:p>
        </p:txBody>
      </p:sp>
      <p:sp>
        <p:nvSpPr>
          <p:cNvPr id="19" name="Text 17"/>
          <p:cNvSpPr txBox="1"/>
          <p:nvPr/>
        </p:nvSpPr>
        <p:spPr>
          <a:xfrm>
            <a:off x="548640" y="1755648"/>
            <a:ext cx="5394960" cy="1600200"/>
          </a:xfrm>
          <a:prstGeom prst="rect">
            <a:avLst/>
          </a:prstGeom>
          <a:noFill/>
          <a:ln/>
        </p:spPr>
        <p:txBody>
          <a:bodyPr wrap="square" lIns="0" tIns="0" rIns="0" bIns="0" rtlCol="0" anchor="t"/>
          <a:lstStyle/>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révision</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de combien le bénéfice attendu a bougé en 90 jours. Le SENS dans lequel le consensus se déplace, qui vaut mieux que son niveau</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Le solde des révisions</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la part des analystes qui relèvent, moins ceux qui abaissent</a:t>
            </a:r>
            <a:endParaRPr lang="en-US" sz="1250" dirty="0"/>
          </a:p>
        </p:txBody>
      </p:sp>
      <p:sp>
        <p:nvSpPr>
          <p:cNvPr id="20" name="Text 18"/>
          <p:cNvSpPr txBox="1"/>
          <p:nvPr/>
        </p:nvSpPr>
        <p:spPr>
          <a:xfrm>
            <a:off x="548640" y="3474720"/>
            <a:ext cx="5486400" cy="347472"/>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mesures qui éliminent</a:t>
            </a:r>
            <a:endParaRPr lang="en-US" sz="1600" dirty="0"/>
          </a:p>
        </p:txBody>
      </p:sp>
      <p:sp>
        <p:nvSpPr>
          <p:cNvPr id="21" name="Text 19"/>
          <p:cNvSpPr txBox="1"/>
          <p:nvPr/>
        </p:nvSpPr>
        <p:spPr>
          <a:xfrm>
            <a:off x="548640" y="3858768"/>
            <a:ext cx="5394960" cy="1600200"/>
          </a:xfrm>
          <a:prstGeom prst="rect">
            <a:avLst/>
          </a:prstGeom>
          <a:noFill/>
          <a:ln/>
        </p:spPr>
        <p:txBody>
          <a:bodyPr wrap="square" lIns="0" tIns="0" rIns="0" bIns="0" rtlCol="0" anchor="t"/>
          <a:lstStyle/>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Le potentiel</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(cours face à l'objectif). Écarte un titre </a:t>
            </a:r>
            <a:pPr indent="0" marL="0">
              <a:spcAft>
                <a:spcPts val="700"/>
              </a:spcAft>
              <a:buNone/>
            </a:pPr>
            <a:r>
              <a:rPr lang="en-US" sz="1250" b="1" dirty="0">
                <a:solidFill>
                  <a:srgbClr val="14304F"/>
                </a:solidFill>
                <a:latin typeface="Calibri" pitchFamily="34" charset="0"/>
                <a:ea typeface="Calibri" pitchFamily="34" charset="-122"/>
                <a:cs typeface="Calibri" pitchFamily="34" charset="-120"/>
              </a:rPr>
              <a:t>seulement</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s'il cote au-dessus de sa cible ET que les bénéfices ne suivent pas</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dispersion</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des estimations : au-delà de 49 %, l'avenir de la société est jugé illisible</a:t>
            </a:r>
            <a:endParaRPr lang="en-US" sz="1250" dirty="0"/>
          </a:p>
        </p:txBody>
      </p:sp>
      <p:sp>
        <p:nvSpPr>
          <p:cNvPr id="22" name="Shape 20"/>
          <p:cNvSpPr/>
          <p:nvPr/>
        </p:nvSpPr>
        <p:spPr>
          <a:xfrm>
            <a:off x="6263640" y="1371600"/>
            <a:ext cx="5379415" cy="2286000"/>
          </a:xfrm>
          <a:prstGeom prst="roundRect">
            <a:avLst>
              <a:gd name="adj" fmla="val 3200"/>
            </a:avLst>
          </a:prstGeom>
          <a:solidFill>
            <a:srgbClr val="F2F5F9"/>
          </a:solidFill>
          <a:ln w="12700">
            <a:solidFill>
              <a:srgbClr val="F2F5F9"/>
            </a:solidFill>
            <a:prstDash val="solid"/>
          </a:ln>
        </p:spPr>
      </p:sp>
      <p:sp>
        <p:nvSpPr>
          <p:cNvPr id="23" name="Text 21"/>
          <p:cNvSpPr txBox="1"/>
          <p:nvPr/>
        </p:nvSpPr>
        <p:spPr>
          <a:xfrm>
            <a:off x="6492240" y="1481328"/>
            <a:ext cx="5029200" cy="347472"/>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Les garde-fous, et pourquoi ces seuils</a:t>
            </a:r>
            <a:endParaRPr lang="en-US" sz="1500" dirty="0"/>
          </a:p>
        </p:txBody>
      </p:sp>
      <p:sp>
        <p:nvSpPr>
          <p:cNvPr id="24" name="Text 22"/>
          <p:cNvSpPr txBox="1"/>
          <p:nvPr/>
        </p:nvSpPr>
        <p:spPr>
          <a:xfrm>
            <a:off x="6492240" y="1874520"/>
            <a:ext cx="4922215" cy="1691640"/>
          </a:xfrm>
          <a:prstGeom prst="rect">
            <a:avLst/>
          </a:prstGeom>
          <a:noFill/>
          <a:ln/>
        </p:spPr>
        <p:txBody>
          <a:bodyPr wrap="square" lIns="0" tIns="0" rIns="0" bIns="0" rtlCol="0" anchor="t"/>
          <a:lstStyle/>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Bénéfice attendu coupé de plus de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5 %</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écarté. Seuil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absolu</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et non en percentile — un percentile écarte toujours 10 % des titres, même quand aucun ne va mal</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Solde ignoré en dessous de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3 révisions</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sur une seule, il ne peut valoir que −100 ou +100</a:t>
            </a:r>
            <a:endParaRPr lang="en-US" sz="1150" dirty="0"/>
          </a:p>
          <a:p>
            <a:pPr marL="203200" indent="-203200">
              <a:spcAft>
                <a:spcPts val="500"/>
              </a:spcAft>
              <a:buSzPct val="100000"/>
              <a:buChar char="•"/>
            </a:pPr>
            <a:r>
              <a:rPr lang="en-US" sz="1150" dirty="0">
                <a:solidFill>
                  <a:srgbClr val="1F2937"/>
                </a:solidFill>
                <a:latin typeface="Calibri" pitchFamily="34" charset="0"/>
                <a:ea typeface="Calibri" pitchFamily="34" charset="-122"/>
                <a:cs typeface="Calibri" pitchFamily="34" charset="-120"/>
              </a:rPr>
              <a:t>Au plus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2 titres par secteur</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et </a:t>
            </a:r>
            <a:pPr indent="0" marL="0">
              <a:spcAft>
                <a:spcPts val="500"/>
              </a:spcAft>
              <a:buNone/>
            </a:pPr>
            <a:r>
              <a:rPr lang="en-US" sz="1150" b="1" dirty="0">
                <a:solidFill>
                  <a:srgbClr val="14304F"/>
                </a:solidFill>
                <a:latin typeface="Calibri" pitchFamily="34" charset="0"/>
                <a:ea typeface="Calibri" pitchFamily="34" charset="-122"/>
                <a:cs typeface="Calibri" pitchFamily="34" charset="-120"/>
              </a:rPr>
              <a:t>4 par pays</a:t>
            </a:r>
            <a:pPr indent="0" marL="0">
              <a:spcAft>
                <a:spcPts val="500"/>
              </a:spcAft>
              <a:buNone/>
            </a:pPr>
            <a:r>
              <a:rPr lang="en-US" sz="1150" dirty="0">
                <a:solidFill>
                  <a:srgbClr val="1F2937"/>
                </a:solidFill>
                <a:latin typeface="Calibri" pitchFamily="34" charset="0"/>
                <a:ea typeface="Calibri" pitchFamily="34" charset="-122"/>
                <a:cs typeface="Calibri" pitchFamily="34" charset="-120"/>
              </a:rPr>
              <a:t> : sur 15 lignes, les plafonds du premier étage laisseraient 6 espagnols faire 40 % du panier</a:t>
            </a:r>
            <a:endParaRPr lang="en-US" sz="1150" dirty="0"/>
          </a:p>
        </p:txBody>
      </p:sp>
      <p:sp>
        <p:nvSpPr>
          <p:cNvPr id="25" name="Shape 23"/>
          <p:cNvSpPr/>
          <p:nvPr/>
        </p:nvSpPr>
        <p:spPr>
          <a:xfrm>
            <a:off x="6263640" y="3840480"/>
            <a:ext cx="5379415" cy="1618488"/>
          </a:xfrm>
          <a:prstGeom prst="roundRect">
            <a:avLst>
              <a:gd name="adj" fmla="val 4520"/>
            </a:avLst>
          </a:prstGeom>
          <a:solidFill>
            <a:srgbClr val="F2F5F9"/>
          </a:solidFill>
          <a:ln w="12700">
            <a:solidFill>
              <a:srgbClr val="F2F5F9"/>
            </a:solidFill>
            <a:prstDash val="solid"/>
          </a:ln>
        </p:spPr>
      </p:sp>
      <p:sp>
        <p:nvSpPr>
          <p:cNvPr id="26" name="Text 24"/>
          <p:cNvSpPr txBox="1"/>
          <p:nvPr/>
        </p:nvSpPr>
        <p:spPr>
          <a:xfrm>
            <a:off x="6492240" y="3950208"/>
            <a:ext cx="5029200" cy="347472"/>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Écartés par les garde-fous</a:t>
            </a:r>
            <a:endParaRPr lang="en-US" sz="1500" dirty="0"/>
          </a:p>
        </p:txBody>
      </p:sp>
      <p:sp>
        <p:nvSpPr>
          <p:cNvPr id="27" name="Text 25"/>
          <p:cNvSpPr txBox="1"/>
          <p:nvPr/>
        </p:nvSpPr>
        <p:spPr>
          <a:xfrm>
            <a:off x="6492240" y="4343400"/>
            <a:ext cx="4922215" cy="1005840"/>
          </a:xfrm>
          <a:prstGeom prst="rect">
            <a:avLst/>
          </a:prstGeom>
          <a:noFill/>
          <a:ln/>
        </p:spPr>
        <p:txBody>
          <a:bodyPr wrap="square" lIns="0" tIns="0" rIns="0" bIns="0" rtlCol="0" anchor="t"/>
          <a:lstStyle/>
          <a:p>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Rio</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prévisions en net recul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Equinor</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Norsk</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prévisions en net recul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OMV</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avenir illisible  ·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Klépierre</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attentes indisponibles</a:t>
            </a:r>
            <a:endParaRPr lang="en-US" sz="1100" dirty="0"/>
          </a:p>
        </p:txBody>
      </p:sp>
      <p:sp>
        <p:nvSpPr>
          <p:cNvPr id="28" name="Text 26"/>
          <p:cNvSpPr txBox="1"/>
          <p:nvPr/>
        </p:nvSpPr>
        <p:spPr>
          <a:xfrm>
            <a:off x="548640" y="5715000"/>
            <a:ext cx="11094415" cy="548640"/>
          </a:xfrm>
          <a:prstGeom prst="rect">
            <a:avLst/>
          </a:prstGeom>
          <a:noFill/>
          <a:ln/>
        </p:spPr>
        <p:txBody>
          <a:bodyPr wrap="square" lIns="0" tIns="0" rIns="0" bIns="0" rtlCol="0" anchor="t"/>
          <a:lstStyle/>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Pourquoi pas l'avis « acheter / conserver / vendre »</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 le biais acheteur est structurel, et l'objectif de cours monte mécaniquement quand un titre baisse. Il manquait en plus sur 6 des 30, dont des sociétés suivies par 14 analystes. Affiché, jamais noté.</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15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9 secteurs et 9 pays · note = le constaté, avenir = l'attendu</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Yahoo Finance, septembre 2026</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65760"/>
                <a:gridCol w="2743200"/>
                <a:gridCol w="2377440"/>
                <a:gridCol w="1371600"/>
                <a:gridCol w="868680"/>
                <a:gridCol w="868680"/>
                <a:gridCol w="2496312"/>
              </a:tblGrid>
              <a:tr h="28346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Société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Secteur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Pays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Note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Avenir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Bénéfice attendu, 90 j</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ASML Holding</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Technologie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Pays-Bas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+24,4 %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Unipol Assicurazioni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Italie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+5,0 %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Diploma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Industrie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+4,5 %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Endesa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Services aux collectivités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+1,8 %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BAWAG Group</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Autriche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+11,4 %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Naturgy Energy Group</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Services aux collectivités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+2,8 %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argenx</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Santé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Belgique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+5,6 %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NEXT</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discrétionnaire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Vår Energi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Énergie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Norvège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+0,16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+7,3 %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InterContinental Hotels Gr</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discrétionnaire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+0,14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Publicis Groupe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Télécoms et médias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France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+0,2 %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Anheuser-Busch InBev SA/NV</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Consommation de base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Belgique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+0,41</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+2,0 %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Orion</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Santé</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Finlande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+0,58</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+6,4 %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Airtel Africa</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Télécoms et médias</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Royaume-Uni</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+0,00</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+6,1 %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8346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Aena S.M.E.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Industrie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Espagne</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−0,05</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+0,9 %</a:t>
                      </a:r>
                      <a:endParaRPr lang="en-US" sz="10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548640" y="5998464"/>
            <a:ext cx="11094415" cy="365760"/>
          </a:xfrm>
          <a:prstGeom prst="rect">
            <a:avLst/>
          </a:prstGeom>
          <a:noFill/>
          <a:ln/>
        </p:spPr>
        <p:txBody>
          <a:bodyPr wrap="square" lIns="0" tIns="0" rIns="0" bIns="0" rtlCol="0" anchor="t"/>
          <a:lstStyle/>
          <a:p>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Le resserrement coûte du risque, et je l'assume</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volatilité 11,92 % contre 10,59 % à trente — chercher l'avenir coûte de la protection, parce que les défensives cotent souvent au-dessus de leur objectif.</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15 titres à parts égales, en euros, face aux 30 présélectionnés et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Shape 15"/>
          <p:cNvSpPr/>
          <p:nvPr/>
        </p:nvSpPr>
        <p:spPr>
          <a:xfrm>
            <a:off x="548640" y="1554480"/>
            <a:ext cx="3520440" cy="2606040"/>
          </a:xfrm>
          <a:prstGeom prst="roundRect">
            <a:avLst>
              <a:gd name="adj" fmla="val 2807"/>
            </a:avLst>
          </a:prstGeom>
          <a:solidFill>
            <a:srgbClr val="F2F5F9"/>
          </a:solidFill>
          <a:ln w="12700">
            <a:solidFill>
              <a:srgbClr val="F2F5F9"/>
            </a:solidFill>
            <a:prstDash val="solid"/>
          </a:ln>
        </p:spPr>
      </p:sp>
      <p:sp>
        <p:nvSpPr>
          <p:cNvPr id="18" name="Text 16"/>
          <p:cNvSpPr txBox="1"/>
          <p:nvPr/>
        </p:nvSpPr>
        <p:spPr>
          <a:xfrm>
            <a:off x="77724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11,9 %</a:t>
            </a:r>
            <a:endParaRPr lang="en-US" sz="3800" dirty="0"/>
          </a:p>
        </p:txBody>
      </p:sp>
      <p:sp>
        <p:nvSpPr>
          <p:cNvPr id="20" name="Text 18"/>
          <p:cNvSpPr txBox="1"/>
          <p:nvPr/>
        </p:nvSpPr>
        <p:spPr>
          <a:xfrm>
            <a:off x="77724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10,6 %</a:t>
            </a:r>
            <a:endParaRPr lang="en-US" sz="1350" dirty="0"/>
          </a:p>
        </p:txBody>
      </p:sp>
      <p:sp>
        <p:nvSpPr>
          <p:cNvPr id="21" name="Text 19"/>
          <p:cNvSpPr txBox="1"/>
          <p:nvPr/>
        </p:nvSpPr>
        <p:spPr>
          <a:xfrm>
            <a:off x="77724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12,8 %</a:t>
            </a:r>
            <a:endParaRPr lang="en-US" sz="1350" dirty="0"/>
          </a:p>
        </p:txBody>
      </p:sp>
      <p:sp>
        <p:nvSpPr>
          <p:cNvPr id="22" name="Shape 20"/>
          <p:cNvSpPr/>
          <p:nvPr/>
        </p:nvSpPr>
        <p:spPr>
          <a:xfrm>
            <a:off x="4297680" y="1554480"/>
            <a:ext cx="3520440" cy="2606040"/>
          </a:xfrm>
          <a:prstGeom prst="roundRect">
            <a:avLst>
              <a:gd name="adj" fmla="val 2807"/>
            </a:avLst>
          </a:prstGeom>
          <a:solidFill>
            <a:srgbClr val="F2F5F9"/>
          </a:solidFill>
          <a:ln w="12700">
            <a:solidFill>
              <a:srgbClr val="F2F5F9"/>
            </a:solidFill>
            <a:prstDash val="solid"/>
          </a:ln>
        </p:spPr>
      </p:sp>
      <p:sp>
        <p:nvSpPr>
          <p:cNvPr id="23" name="Text 21"/>
          <p:cNvSpPr txBox="1"/>
          <p:nvPr/>
        </p:nvSpPr>
        <p:spPr>
          <a:xfrm>
            <a:off x="452628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4" name="Text 22"/>
          <p:cNvSpPr txBox="1"/>
          <p:nvPr/>
        </p:nvSpPr>
        <p:spPr>
          <a:xfrm>
            <a:off x="452628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−36,5 %</a:t>
            </a:r>
            <a:endParaRPr lang="en-US" sz="3800" dirty="0"/>
          </a:p>
        </p:txBody>
      </p:sp>
      <p:sp>
        <p:nvSpPr>
          <p:cNvPr id="25" name="Text 23"/>
          <p:cNvSpPr txBox="1"/>
          <p:nvPr/>
        </p:nvSpPr>
        <p:spPr>
          <a:xfrm>
            <a:off x="452628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−34,2 %</a:t>
            </a:r>
            <a:endParaRPr lang="en-US" sz="1350" dirty="0"/>
          </a:p>
        </p:txBody>
      </p:sp>
      <p:sp>
        <p:nvSpPr>
          <p:cNvPr id="26" name="Text 24"/>
          <p:cNvSpPr txBox="1"/>
          <p:nvPr/>
        </p:nvSpPr>
        <p:spPr>
          <a:xfrm>
            <a:off x="452628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−32,1 %</a:t>
            </a:r>
            <a:endParaRPr lang="en-US" sz="1350" dirty="0"/>
          </a:p>
        </p:txBody>
      </p:sp>
      <p:sp>
        <p:nvSpPr>
          <p:cNvPr id="27" name="Shape 25"/>
          <p:cNvSpPr/>
          <p:nvPr/>
        </p:nvSpPr>
        <p:spPr>
          <a:xfrm>
            <a:off x="8046720" y="1554480"/>
            <a:ext cx="3520440" cy="2606040"/>
          </a:xfrm>
          <a:prstGeom prst="roundRect">
            <a:avLst>
              <a:gd name="adj" fmla="val 2807"/>
            </a:avLst>
          </a:prstGeom>
          <a:solidFill>
            <a:srgbClr val="F2F5F9"/>
          </a:solidFill>
          <a:ln w="12700">
            <a:solidFill>
              <a:srgbClr val="F2F5F9"/>
            </a:solidFill>
            <a:prstDash val="solid"/>
          </a:ln>
        </p:spPr>
      </p:sp>
      <p:sp>
        <p:nvSpPr>
          <p:cNvPr id="28" name="Text 26"/>
          <p:cNvSpPr txBox="1"/>
          <p:nvPr/>
        </p:nvSpPr>
        <p:spPr>
          <a:xfrm>
            <a:off x="8275320" y="1664208"/>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9" name="Text 27"/>
          <p:cNvSpPr txBox="1"/>
          <p:nvPr/>
        </p:nvSpPr>
        <p:spPr>
          <a:xfrm>
            <a:off x="8275320" y="2048256"/>
            <a:ext cx="3108960" cy="777240"/>
          </a:xfrm>
          <a:prstGeom prst="rect">
            <a:avLst/>
          </a:prstGeom>
          <a:noFill/>
          <a:ln/>
        </p:spPr>
        <p:txBody>
          <a:bodyPr wrap="square" lIns="0" tIns="0" rIns="0" bIns="0" rtlCol="0" anchor="ctr"/>
          <a:lstStyle/>
          <a:p>
            <a:pPr indent="0" marL="0">
              <a:buNone/>
            </a:pPr>
            <a:r>
              <a:rPr lang="en-US" sz="3800" b="1" dirty="0">
                <a:solidFill>
                  <a:srgbClr val="14304F"/>
                </a:solidFill>
                <a:latin typeface="Cambria" pitchFamily="34" charset="0"/>
                <a:ea typeface="Cambria" pitchFamily="34" charset="-122"/>
                <a:cs typeface="Cambria" pitchFamily="34" charset="-120"/>
              </a:rPr>
              <a:t>−12,7 %</a:t>
            </a:r>
            <a:endParaRPr lang="en-US" sz="3800" dirty="0"/>
          </a:p>
        </p:txBody>
      </p:sp>
      <p:sp>
        <p:nvSpPr>
          <p:cNvPr id="30" name="Text 28"/>
          <p:cNvSpPr txBox="1"/>
          <p:nvPr/>
        </p:nvSpPr>
        <p:spPr>
          <a:xfrm>
            <a:off x="8275320" y="2871216"/>
            <a:ext cx="3108960" cy="347472"/>
          </a:xfrm>
          <a:prstGeom prst="rect">
            <a:avLst/>
          </a:prstGeom>
          <a:noFill/>
          <a:ln/>
        </p:spPr>
        <p:txBody>
          <a:bodyPr wrap="square" lIns="0" tIns="0" rIns="0" bIns="0" rtlCol="0" anchor="ctr"/>
          <a:lstStyle/>
          <a:p>
            <a:pPr indent="0" marL="0">
              <a:buNone/>
            </a:pPr>
            <a:r>
              <a:rPr lang="en-US" sz="1350" dirty="0">
                <a:solidFill>
                  <a:srgbClr val="1F2937"/>
                </a:solidFill>
                <a:latin typeface="Calibri" pitchFamily="34" charset="0"/>
                <a:ea typeface="Calibri" pitchFamily="34" charset="-122"/>
                <a:cs typeface="Calibri" pitchFamily="34" charset="-120"/>
              </a:rPr>
              <a:t>les 30 : −12,8 %</a:t>
            </a:r>
            <a:endParaRPr lang="en-US" sz="1350" dirty="0"/>
          </a:p>
        </p:txBody>
      </p:sp>
      <p:sp>
        <p:nvSpPr>
          <p:cNvPr id="31" name="Text 29"/>
          <p:cNvSpPr txBox="1"/>
          <p:nvPr/>
        </p:nvSpPr>
        <p:spPr>
          <a:xfrm>
            <a:off x="8275320" y="3218688"/>
            <a:ext cx="3108960" cy="347472"/>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indice : −18,4 %</a:t>
            </a:r>
            <a:endParaRPr lang="en-US" sz="1350" dirty="0"/>
          </a:p>
        </p:txBody>
      </p:sp>
      <p:sp>
        <p:nvSpPr>
          <p:cNvPr id="32" name="Shape 30"/>
          <p:cNvSpPr/>
          <p:nvPr/>
        </p:nvSpPr>
        <p:spPr>
          <a:xfrm>
            <a:off x="548640" y="4480560"/>
            <a:ext cx="11094415" cy="1463040"/>
          </a:xfrm>
          <a:prstGeom prst="roundRect">
            <a:avLst>
              <a:gd name="adj" fmla="val 5000"/>
            </a:avLst>
          </a:prstGeom>
          <a:solidFill>
            <a:srgbClr val="14304F"/>
          </a:solidFill>
          <a:ln w="12700">
            <a:solidFill>
              <a:srgbClr val="14304F"/>
            </a:solidFill>
            <a:prstDash val="solid"/>
          </a:ln>
        </p:spPr>
      </p:sp>
      <p:sp>
        <p:nvSpPr>
          <p:cNvPr id="33" name="Text 31"/>
          <p:cNvSpPr txBox="1"/>
          <p:nvPr/>
        </p:nvSpPr>
        <p:spPr>
          <a:xfrm>
            <a:off x="777240" y="4617720"/>
            <a:ext cx="10637215" cy="118872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Moins agité que l'indice, nettement mieux tenu en 2022, un peu plus exposé en 2020 que les trente — le prix du resserrement. Mais en crise, un panier d'actions perd </a:t>
            </a:r>
            <a:pPr indent="0" marL="0">
              <a:buNone/>
            </a:pPr>
            <a:r>
              <a:rPr lang="en-US" sz="1450" b="1" dirty="0">
                <a:solidFill>
                  <a:srgbClr val="F5C969"/>
                </a:solidFill>
                <a:latin typeface="Calibri" pitchFamily="34" charset="0"/>
                <a:ea typeface="Calibri" pitchFamily="34" charset="-122"/>
                <a:cs typeface="Calibri" pitchFamily="34" charset="-120"/>
              </a:rPr>
              <a:t>bien plus que 15 %</a:t>
            </a:r>
            <a:pPr indent="0" marL="0">
              <a:buNone/>
            </a:pPr>
            <a:r>
              <a:rPr lang="en-US" sz="14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194560"/>
                <a:gridCol w="2834640"/>
                <a:gridCol w="91440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Exclusions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Conforme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Conforme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Conforme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Sans objet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Sans objet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Sans objet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Conforme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700"/>
              </a:spcAft>
              <a:buSzPct val="100000"/>
              <a:buChar char="•"/>
            </a:pPr>
            <a:r>
              <a:rPr lang="en-US" sz="1200" b="1" dirty="0">
                <a:solidFill>
                  <a:srgbClr val="14304F"/>
                </a:solidFill>
                <a:latin typeface="Calibri" pitchFamily="34" charset="0"/>
                <a:ea typeface="Calibri" pitchFamily="34" charset="-122"/>
                <a:cs typeface="Calibri" pitchFamily="34" charset="-120"/>
              </a:rPr>
              <a:t>Aucun fonds non conforme retenu</a:t>
            </a:r>
            <a:pPr indent="0" marL="0">
              <a:spcAft>
                <a:spcPts val="700"/>
              </a:spcAft>
              <a:buNone/>
            </a:pPr>
            <a:r>
              <a:rPr lang="en-US" sz="1200" dirty="0">
                <a:solidFill>
                  <a:srgbClr val="1F2937"/>
                </a:solidFill>
                <a:latin typeface="Calibri" pitchFamily="34" charset="0"/>
                <a:ea typeface="Calibri" pitchFamily="34" charset="-122"/>
                <a:cs typeface="Calibri" pitchFamily="34" charset="-120"/>
              </a:rPr>
              <a:t> : *sans objet* = ni action ni entreprise à filtrer (États, or, contrats à terme)</a:t>
            </a:r>
            <a:endParaRPr lang="en-US" sz="1200" dirty="0"/>
          </a:p>
          <a:p>
            <a:pPr marL="203200" indent="-203200">
              <a:spcAft>
                <a:spcPts val="700"/>
              </a:spcAft>
              <a:buSzPct val="100000"/>
              <a:buChar char="•"/>
            </a:pPr>
            <a:r>
              <a:rPr lang="en-US" sz="1200" b="1" dirty="0">
                <a:solidFill>
                  <a:srgbClr val="14304F"/>
                </a:solidFill>
                <a:latin typeface="Calibri" pitchFamily="34" charset="0"/>
                <a:ea typeface="Calibri" pitchFamily="34" charset="-122"/>
                <a:cs typeface="Calibri" pitchFamily="34" charset="-120"/>
              </a:rPr>
              <a:t>États-Unis et Japon séparés</a:t>
            </a:r>
            <a:pPr indent="0" marL="0">
              <a:spcAft>
                <a:spcPts val="700"/>
              </a:spcAft>
              <a:buNone/>
            </a:pPr>
            <a:r>
              <a:rPr lang="en-US" sz="1200" dirty="0">
                <a:solidFill>
                  <a:srgbClr val="1F2937"/>
                </a:solidFill>
                <a:latin typeface="Calibri" pitchFamily="34" charset="0"/>
                <a:ea typeface="Calibri" pitchFamily="34" charset="-122"/>
                <a:cs typeface="Calibri" pitchFamily="34" charset="-120"/>
              </a:rPr>
              <a:t>, plutôt qu'un fonds Monde qui recompterait l'Europe</a:t>
            </a:r>
            <a:endParaRPr lang="en-US" sz="1200" dirty="0"/>
          </a:p>
          <a:p>
            <a:pPr marL="203200" indent="-203200">
              <a:spcAft>
                <a:spcPts val="700"/>
              </a:spcAft>
              <a:buSzPct val="100000"/>
              <a:buChar char="•"/>
            </a:pPr>
            <a:r>
              <a:rPr lang="en-US" sz="1200" b="1" dirty="0">
                <a:solidFill>
                  <a:srgbClr val="14304F"/>
                </a:solidFill>
                <a:latin typeface="Calibri" pitchFamily="34" charset="0"/>
                <a:ea typeface="Calibri" pitchFamily="34" charset="-122"/>
                <a:cs typeface="Calibri" pitchFamily="34" charset="-120"/>
              </a:rPr>
              <a:t>Émergents</a:t>
            </a:r>
            <a:pPr indent="0" marL="0">
              <a:spcAft>
                <a:spcPts val="700"/>
              </a:spcAft>
              <a:buNone/>
            </a:pPr>
            <a:r>
              <a:rPr lang="en-US" sz="120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00" dirty="0"/>
          </a:p>
          <a:p>
            <a:pPr marL="203200" indent="-203200">
              <a:spcAft>
                <a:spcPts val="700"/>
              </a:spcAft>
              <a:buSzPct val="100000"/>
              <a:buChar char="•"/>
            </a:pPr>
            <a:r>
              <a:rPr lang="en-US" sz="1200" b="1" dirty="0">
                <a:solidFill>
                  <a:srgbClr val="14304F"/>
                </a:solidFill>
                <a:latin typeface="Calibri" pitchFamily="34" charset="0"/>
                <a:ea typeface="Calibri" pitchFamily="34" charset="-122"/>
                <a:cs typeface="Calibri" pitchFamily="34" charset="-120"/>
              </a:rPr>
              <a:t>Infrastructure retirée</a:t>
            </a:r>
            <a:pPr indent="0" marL="0">
              <a:spcAft>
                <a:spcPts val="700"/>
              </a:spcAft>
              <a:buNone/>
            </a:pPr>
            <a:r>
              <a:rPr lang="en-US" sz="1200" dirty="0">
                <a:solidFill>
                  <a:srgbClr val="1F2937"/>
                </a:solidFill>
                <a:latin typeface="Calibri" pitchFamily="34" charset="0"/>
                <a:ea typeface="Calibri" pitchFamily="34" charset="-122"/>
                <a:cs typeface="Calibri" pitchFamily="34" charset="-120"/>
              </a:rPr>
              <a:t> : aucun fonds à la fois assez gros et conforme</a:t>
            </a:r>
            <a:endParaRPr lang="en-US" sz="1200" dirty="0"/>
          </a:p>
          <a:p>
            <a:pPr marL="203200" indent="-203200">
              <a:spcAft>
                <a:spcPts val="700"/>
              </a:spcAft>
              <a:buSzPct val="100000"/>
              <a:buChar char="•"/>
            </a:pPr>
            <a:r>
              <a:rPr lang="en-US" sz="1200" b="1" dirty="0">
                <a:solidFill>
                  <a:srgbClr val="14304F"/>
                </a:solidFill>
                <a:latin typeface="Calibri" pitchFamily="34" charset="0"/>
                <a:ea typeface="Calibri" pitchFamily="34" charset="-122"/>
                <a:cs typeface="Calibri" pitchFamily="34" charset="-120"/>
              </a:rPr>
              <a:t>Pas de fonds Bitcoin</a:t>
            </a:r>
            <a:pPr indent="0" marL="0">
              <a:spcAft>
                <a:spcPts val="700"/>
              </a:spcAft>
              <a:buNone/>
            </a:pPr>
            <a:r>
              <a:rPr lang="en-US" sz="1200" dirty="0">
                <a:solidFill>
                  <a:srgbClr val="1F2937"/>
                </a:solidFill>
                <a:latin typeface="Calibri" pitchFamily="34" charset="0"/>
                <a:ea typeface="Calibri" pitchFamily="34" charset="-122"/>
                <a:cs typeface="Calibri" pitchFamily="34" charset="-120"/>
              </a:rPr>
              <a:t> : la décision est de ne pas en détenir</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9,23 %, mesuré sur les 15 titres retenus — 1/PER 5,32 %, dividende 3,16 % + croissance 1,98 %, plus 4 % d'inflation</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143000"/>
          </a:xfrm>
          <a:prstGeom prst="roundRect">
            <a:avLst>
              <a:gd name="adj" fmla="val 6400"/>
            </a:avLst>
          </a:prstGeom>
          <a:solidFill>
            <a:srgbClr val="14304F"/>
          </a:solidFill>
          <a:ln w="12700">
            <a:solidFill>
              <a:srgbClr val="14304F"/>
            </a:solidFill>
            <a:prstDash val="solid"/>
          </a:ln>
        </p:spPr>
      </p:sp>
      <p:sp>
        <p:nvSpPr>
          <p:cNvPr id="23" name="Text 20"/>
          <p:cNvSpPr txBox="1"/>
          <p:nvPr/>
        </p:nvSpPr>
        <p:spPr>
          <a:xfrm>
            <a:off x="7818120" y="4480560"/>
            <a:ext cx="3593592" cy="8686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
        <p:nvSpPr>
          <p:cNvPr id="24" name="Text 21"/>
          <p:cNvSpPr txBox="1"/>
          <p:nvPr/>
        </p:nvSpPr>
        <p:spPr>
          <a:xfrm>
            <a:off x="7589520" y="5623560"/>
            <a:ext cx="4050792" cy="731520"/>
          </a:xfrm>
          <a:prstGeom prst="rect">
            <a:avLst/>
          </a:prstGeom>
          <a:noFill/>
          <a:ln/>
        </p:spPr>
        <p:txBody>
          <a:bodyPr wrap="square" lIns="0" tIns="0" rIns="0" bIns="0" rtlCol="0" anchor="t"/>
          <a:lstStyle/>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Actions Europe : 9,23 % mesuré sur les 15 titres retenus</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pas sur l'indice — même méthode, appliquée au panier qu'on achète.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(−0,69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−1,16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193792"/>
            <a:ext cx="4480560" cy="1143000"/>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 </a:t>
            </a:r>
            <a:pPr indent="0" marL="0">
              <a:spcAft>
                <a:spcPts val="600"/>
              </a:spcAft>
              <a:buNone/>
            </a:pPr>
            <a:r>
              <a:rPr lang="en-US" sz="1100" b="1" dirty="0">
                <a:solidFill>
                  <a:srgbClr val="14304F"/>
                </a:solidFill>
                <a:latin typeface="Calibri" pitchFamily="34" charset="0"/>
                <a:ea typeface="Calibri" pitchFamily="34" charset="-122"/>
                <a:cs typeface="Calibri" pitchFamily="34" charset="-120"/>
              </a:rPr>
              <a:t>L'or s'arrête à 3,3 %</a:t>
            </a:r>
            <a:pPr indent="0" marL="0">
              <a:spcAft>
                <a:spcPts val="600"/>
              </a:spcAft>
              <a:buNone/>
            </a:pPr>
            <a:r>
              <a:rPr lang="en-US" sz="1100" dirty="0">
                <a:solidFill>
                  <a:srgbClr val="1F2937"/>
                </a:solidFill>
                <a:latin typeface="Calibri" pitchFamily="34" charset="0"/>
                <a:ea typeface="Calibri" pitchFamily="34" charset="-122"/>
                <a:cs typeface="Calibri" pitchFamily="34" charset="-120"/>
              </a:rPr>
              <a:t> alors que son plafond est à 10 % : personne ne l'a fixé à ce niveau, c'est tout ce que le calcul en veut.</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4,86 %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NET de frais</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+0,86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4,86 % nets espérés</a:t>
            </a:r>
            <a:pPr indent="0" marL="0">
              <a:buNone/>
            </a:pPr>
            <a:r>
              <a:rPr lang="en-US" sz="1500" dirty="0">
                <a:solidFill>
                  <a:srgbClr val="FFFFFF"/>
                </a:solidFill>
                <a:latin typeface="Calibri" pitchFamily="34" charset="0"/>
                <a:ea typeface="Calibri" pitchFamily="34" charset="-122"/>
                <a:cs typeface="Calibri" pitchFamily="34" charset="-120"/>
              </a:rPr>
              <a:t> contre 4 % à battre,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 frais de mandat 0,40 % · aucune ligne ne dépasse 1 % de son fonds</a:t>
            </a:r>
            <a:endParaRPr lang="en-US" sz="8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15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0,81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Rendement espéré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net de frais : 4,86 %</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 · inflation zone euro constatée : FRED, IPCH, 53,5 % cumulés sur la période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834640"/>
            <a:ext cx="3200400" cy="640080"/>
          </a:xfrm>
          <a:prstGeom prst="rect">
            <a:avLst/>
          </a:prstGeom>
          <a:noFill/>
          <a:ln/>
        </p:spPr>
        <p:txBody>
          <a:bodyPr wrap="square" lIns="0" tIns="0" rIns="0" bIns="0" rtlCol="0" anchor="b"/>
          <a:lstStyle/>
          <a:p>
            <a:pPr indent="0" marL="0">
              <a:buNone/>
            </a:pPr>
            <a:r>
              <a:rPr lang="en-US" sz="3800" b="1" dirty="0">
                <a:solidFill>
                  <a:srgbClr val="2A78D6"/>
                </a:solidFill>
                <a:latin typeface="Cambria" pitchFamily="34" charset="0"/>
                <a:ea typeface="Cambria" pitchFamily="34" charset="-122"/>
                <a:cs typeface="Cambria" pitchFamily="34" charset="-120"/>
              </a:rPr>
              <a:t>+2,29 pt</a:t>
            </a:r>
            <a:endParaRPr lang="en-US" sz="3800" dirty="0"/>
          </a:p>
        </p:txBody>
      </p:sp>
      <p:sp>
        <p:nvSpPr>
          <p:cNvPr id="22" name="Text 19"/>
          <p:cNvSpPr txBox="1"/>
          <p:nvPr/>
        </p:nvSpPr>
        <p:spPr>
          <a:xfrm>
            <a:off x="8412480" y="34930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AU-DELÀ de l'inflation, qui a fait 2,18 % sur la période</a:t>
            </a:r>
            <a:endParaRPr lang="en-US" sz="1200" dirty="0"/>
          </a:p>
        </p:txBody>
      </p:sp>
      <p:sp>
        <p:nvSpPr>
          <p:cNvPr id="23" name="Text 20"/>
          <p:cNvSpPr txBox="1"/>
          <p:nvPr/>
        </p:nvSpPr>
        <p:spPr>
          <a:xfrm>
            <a:off x="8412480" y="420624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4" name="Text 21"/>
          <p:cNvSpPr txBox="1"/>
          <p:nvPr/>
        </p:nvSpPr>
        <p:spPr>
          <a:xfrm>
            <a:off x="8412480" y="486460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5" name="Shape 22"/>
          <p:cNvSpPr/>
          <p:nvPr/>
        </p:nvSpPr>
        <p:spPr>
          <a:xfrm>
            <a:off x="8412480" y="5486400"/>
            <a:ext cx="3227832" cy="777240"/>
          </a:xfrm>
          <a:prstGeom prst="roundRect">
            <a:avLst>
              <a:gd name="adj" fmla="val 9412"/>
            </a:avLst>
          </a:prstGeom>
          <a:solidFill>
            <a:srgbClr val="14304F"/>
          </a:solidFill>
          <a:ln w="12700">
            <a:solidFill>
              <a:srgbClr val="14304F"/>
            </a:solidFill>
            <a:prstDash val="solid"/>
          </a:ln>
        </p:spPr>
      </p:sp>
      <p:sp>
        <p:nvSpPr>
          <p:cNvPr id="26" name="Text 23"/>
          <p:cNvSpPr txBox="1"/>
          <p:nvPr/>
        </p:nvSpPr>
        <p:spPr>
          <a:xfrm>
            <a:off x="8641080" y="5623560"/>
            <a:ext cx="2770632" cy="5029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29 %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n'ont pas battu l'inflation</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Et préserver le pouvoir d'achat est </a:t>
            </a:r>
            <a:pPr indent="0" marL="0">
              <a:buNone/>
            </a:pPr>
            <a:r>
              <a:rPr lang="en-US" sz="1350" b="1" dirty="0">
                <a:solidFill>
                  <a:srgbClr val="F5C969"/>
                </a:solidFill>
                <a:latin typeface="Calibri" pitchFamily="34" charset="0"/>
                <a:ea typeface="Calibri" pitchFamily="34" charset="-122"/>
                <a:cs typeface="Calibri" pitchFamily="34" charset="-120"/>
              </a:rPr>
              <a:t>un objectif de moyenne longue, pas une garantie annuelle.</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4,86 %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net de frais</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15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C — Comment 600 actions deviennent 15</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38</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on veut mélanger un PER, une marge, une volatilité et une croissance. </a:t>
            </a:r>
            <a:pPr indent="0" marL="0">
              <a:buNone/>
            </a:pPr>
            <a:r>
              <a:rPr lang="en-US" sz="1450" b="1" dirty="0">
                <a:solidFill>
                  <a:srgbClr val="F5C969"/>
                </a:solidFill>
                <a:latin typeface="Calibri" pitchFamily="34" charset="0"/>
                <a:ea typeface="Calibri" pitchFamily="34" charset="-122"/>
                <a:cs typeface="Calibri" pitchFamily="34" charset="-120"/>
              </a:rPr>
              <a:t>Trois obstacles — les unités diffèrent, les sens s'opposent, et le niveau « normal » dépend du secteur.</a:t>
            </a:r>
            <a:endParaRPr lang="en-US" sz="1450" dirty="0"/>
          </a:p>
        </p:txBody>
      </p:sp>
      <p:sp>
        <p:nvSpPr>
          <p:cNvPr id="7" name="Shape 5"/>
          <p:cNvSpPr/>
          <p:nvPr/>
        </p:nvSpPr>
        <p:spPr>
          <a:xfrm>
            <a:off x="548640" y="2423160"/>
            <a:ext cx="36576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498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① Tout mettre dans le même sens</a:t>
            </a:r>
            <a:endParaRPr lang="en-US" sz="1500" dirty="0"/>
          </a:p>
        </p:txBody>
      </p:sp>
      <p:sp>
        <p:nvSpPr>
          <p:cNvPr id="9" name="Text 7"/>
          <p:cNvSpPr txBox="1"/>
          <p:nvPr/>
        </p:nvSpPr>
        <p:spPr>
          <a:xfrm>
            <a:off x="7498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chaque indicateur par une version où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plus haut = mieux</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Le PER devient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soit le rendement des bénéfices : à un PER de 20 on achète 5 % par an. Ce n'est pas cosmétique — passer d'un PER de 10 à 20 coûte 5 points de rendement, de 30 à 40 seulement 0,8. Sur le PER brut, les deux écarts valent « 10 ».</a:t>
            </a:r>
            <a:endParaRPr lang="en-US" sz="1280" dirty="0"/>
          </a:p>
        </p:txBody>
      </p:sp>
      <p:sp>
        <p:nvSpPr>
          <p:cNvPr id="10" name="Shape 8"/>
          <p:cNvSpPr/>
          <p:nvPr/>
        </p:nvSpPr>
        <p:spPr>
          <a:xfrm>
            <a:off x="4434840" y="2423160"/>
            <a:ext cx="365760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46360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② Comparer chacune à son secteur</a:t>
            </a:r>
            <a:endParaRPr lang="en-US" sz="1500" dirty="0"/>
          </a:p>
        </p:txBody>
      </p:sp>
      <p:sp>
        <p:nvSpPr>
          <p:cNvPr id="12" name="Text 10"/>
          <p:cNvSpPr txBox="1"/>
          <p:nvPr/>
        </p:nvSpPr>
        <p:spPr>
          <a:xfrm>
            <a:off x="46360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On remplace la valeur par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de combien elle s'écarte de la moyenne de son secteur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mesuré en nombre d'écarts-types. Une action à +1 est meilleure que 84 % de ses pairs, à 0 elle est dans la moyenne. Tout devient comparable, donc moyennable.</a:t>
            </a:r>
            <a:endParaRPr lang="en-US" sz="1280" dirty="0"/>
          </a:p>
        </p:txBody>
      </p:sp>
      <p:sp>
        <p:nvSpPr>
          <p:cNvPr id="13" name="Shape 11"/>
          <p:cNvSpPr/>
          <p:nvPr/>
        </p:nvSpPr>
        <p:spPr>
          <a:xfrm>
            <a:off x="8321040" y="2423160"/>
            <a:ext cx="3657600" cy="2377440"/>
          </a:xfrm>
          <a:prstGeom prst="roundRect">
            <a:avLst>
              <a:gd name="adj" fmla="val 3077"/>
            </a:avLst>
          </a:prstGeom>
          <a:solidFill>
            <a:srgbClr val="F2F5F9"/>
          </a:solidFill>
          <a:ln w="12700">
            <a:solidFill>
              <a:srgbClr val="F2F5F9"/>
            </a:solidFill>
            <a:prstDash val="solid"/>
          </a:ln>
        </p:spPr>
      </p:sp>
      <p:sp>
        <p:nvSpPr>
          <p:cNvPr id="14" name="Text 12"/>
          <p:cNvSpPr txBox="1"/>
          <p:nvPr/>
        </p:nvSpPr>
        <p:spPr>
          <a:xfrm>
            <a:off x="8522208" y="2560320"/>
            <a:ext cx="3255264" cy="5486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③ Puis seulement, la moyenne</a:t>
            </a:r>
            <a:endParaRPr lang="en-US" sz="1500" dirty="0"/>
          </a:p>
        </p:txBody>
      </p:sp>
      <p:sp>
        <p:nvSpPr>
          <p:cNvPr id="15" name="Text 13"/>
          <p:cNvSpPr txBox="1"/>
          <p:nvPr/>
        </p:nvSpPr>
        <p:spPr>
          <a:xfrm>
            <a:off x="8522208" y="3127248"/>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Cinq piliers à poids égaux — valorisation, croissance, dynamique, qualité, résistance. Aucun n'a de raison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mesurée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d'être privilégié : les pondérer demanderait d'estimer des primes de facteur, ce qui est un autre métier.</a:t>
            </a:r>
            <a:endParaRPr lang="en-US" sz="1280" dirty="0"/>
          </a:p>
        </p:txBody>
      </p:sp>
      <p:sp>
        <p:nvSpPr>
          <p:cNvPr id="16" name="Shape 14"/>
          <p:cNvSpPr/>
          <p:nvPr/>
        </p:nvSpPr>
        <p:spPr>
          <a:xfrm>
            <a:off x="548640" y="5029200"/>
            <a:ext cx="11094415" cy="1005840"/>
          </a:xfrm>
          <a:prstGeom prst="roundRect">
            <a:avLst>
              <a:gd name="adj" fmla="val 7273"/>
            </a:avLst>
          </a:prstGeom>
          <a:solidFill>
            <a:srgbClr val="F2F5F9"/>
          </a:solidFill>
          <a:ln w="12700">
            <a:solidFill>
              <a:srgbClr val="F2F5F9"/>
            </a:solidFill>
            <a:prstDash val="solid"/>
          </a:ln>
        </p:spPr>
      </p:sp>
      <p:sp>
        <p:nvSpPr>
          <p:cNvPr id="17" name="Text 15"/>
          <p:cNvSpPr txBox="1"/>
          <p:nvPr/>
        </p:nvSpPr>
        <p:spPr>
          <a:xfrm>
            <a:off x="777240" y="5166360"/>
            <a:ext cx="10637215" cy="73152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Pourquoi « de son secteur » et pas « du marché entier »</a:t>
            </a:r>
            <a:pPr indent="0" marL="0">
              <a:buNone/>
            </a:pPr>
            <a:r>
              <a:rPr lang="en-US" sz="1400" dirty="0">
                <a:solidFill>
                  <a:srgbClr val="1F2937"/>
                </a:solidFill>
                <a:latin typeface="Calibri" pitchFamily="34" charset="0"/>
                <a:ea typeface="Calibri" pitchFamily="34" charset="-122"/>
                <a:cs typeface="Calibri" pitchFamily="34" charset="-120"/>
              </a:rPr>
              <a:t> : sinon les banques et l'énergie, structurellement bon marché, rafleraient toutes les bonnes notes de valorisation. On construirait </a:t>
            </a:r>
            <a:pPr indent="0" marL="0">
              <a:buNone/>
            </a:pPr>
            <a:r>
              <a:rPr lang="en-US" sz="1400" b="1" dirty="0">
                <a:solidFill>
                  <a:srgbClr val="1F2937"/>
                </a:solidFill>
                <a:latin typeface="Calibri" pitchFamily="34" charset="0"/>
                <a:ea typeface="Calibri" pitchFamily="34" charset="-122"/>
                <a:cs typeface="Calibri" pitchFamily="34" charset="-120"/>
              </a:rPr>
              <a:t>un pari sectoriel déguisé en sélection de titres</a:t>
            </a:r>
            <a:pPr indent="0" marL="0">
              <a:buNone/>
            </a:pPr>
            <a:r>
              <a:rPr lang="en-US" sz="1400" dirty="0">
                <a:solidFill>
                  <a:srgbClr val="1F2937"/>
                </a:solidFill>
                <a:latin typeface="Calibri" pitchFamily="34" charset="0"/>
                <a:ea typeface="Calibri" pitchFamily="34" charset="-122"/>
                <a:cs typeface="Calibri" pitchFamily="34" charset="-120"/>
              </a:rPr>
              <a:t>.</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D — La courbe des taux, en six nombres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modèle de Svensson, publié chaque jour par la BCE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39</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Le problème : les obligations qui existent ont des échéances </a:t>
            </a:r>
            <a:pPr indent="0" marL="0">
              <a:buNone/>
            </a:pPr>
            <a:r>
              <a:rPr lang="en-US" sz="1450" b="1" dirty="0">
                <a:solidFill>
                  <a:srgbClr val="F5C969"/>
                </a:solidFill>
                <a:latin typeface="Calibri" pitchFamily="34" charset="0"/>
                <a:ea typeface="Calibri" pitchFamily="34" charset="-122"/>
                <a:cs typeface="Calibri" pitchFamily="34" charset="-120"/>
              </a:rPr>
              <a:t>en désordre</a:t>
            </a:r>
            <a:pPr indent="0" marL="0">
              <a:buNone/>
            </a:pPr>
            <a:r>
              <a:rPr lang="en-US" sz="1450" dirty="0">
                <a:solidFill>
                  <a:srgbClr val="FFFFFF"/>
                </a:solidFill>
                <a:latin typeface="Calibri" pitchFamily="34" charset="0"/>
                <a:ea typeface="Calibri" pitchFamily="34" charset="-122"/>
                <a:cs typeface="Calibri" pitchFamily="34" charset="-120"/>
              </a:rPr>
              <a:t>. Une à 4 ans et 2 mois, une à 7 ans et 9 mois, rien à 6 ans. Si j'ai besoin du taux à 6 ans, personne ne me le donne.</a:t>
            </a:r>
            <a:endParaRPr lang="en-US" sz="1450" dirty="0"/>
          </a:p>
        </p:txBody>
      </p:sp>
      <p:sp>
        <p:nvSpPr>
          <p:cNvPr id="7" name="Shape 5"/>
          <p:cNvSpPr/>
          <p:nvPr/>
        </p:nvSpPr>
        <p:spPr>
          <a:xfrm>
            <a:off x="548640" y="2423160"/>
            <a:ext cx="5486400" cy="2286000"/>
          </a:xfrm>
          <a:prstGeom prst="roundRect">
            <a:avLst>
              <a:gd name="adj" fmla="val 3200"/>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Deux façons de combler les trous</a:t>
            </a:r>
            <a:endParaRPr lang="en-US" sz="1600" dirty="0"/>
          </a:p>
        </p:txBody>
      </p:sp>
      <p:sp>
        <p:nvSpPr>
          <p:cNvPr id="9" name="Text 7"/>
          <p:cNvSpPr txBox="1"/>
          <p:nvPr/>
        </p:nvSpPr>
        <p:spPr>
          <a:xfrm>
            <a:off x="777240" y="2999232"/>
            <a:ext cx="5029200" cy="1600200"/>
          </a:xfrm>
          <a:prstGeom prst="rect">
            <a:avLst/>
          </a:prstGeom>
          <a:noFill/>
          <a:ln/>
        </p:spPr>
        <p:txBody>
          <a:bodyPr wrap="square" lIns="0" tIns="0" rIns="0" bIns="0" rtlCol="0" anchor="t"/>
          <a:lstStyle/>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Relier les points.</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Simple, mais on recopie le bruit : une obligation mal cotée ce jour-là crée une bosse qui n'existe pas</a:t>
            </a:r>
            <a:endParaRPr lang="en-US" sz="1250" dirty="0"/>
          </a:p>
          <a:p>
            <a:pPr marL="203200" indent="-203200">
              <a:spcAft>
                <a:spcPts val="800"/>
              </a:spcAft>
              <a:buSzPct val="100000"/>
              <a:buChar char="•"/>
            </a:pPr>
            <a:r>
              <a:rPr lang="en-US" sz="1250" b="1" dirty="0">
                <a:solidFill>
                  <a:srgbClr val="14304F"/>
                </a:solidFill>
                <a:latin typeface="Calibri" pitchFamily="34" charset="0"/>
                <a:ea typeface="Calibri" pitchFamily="34" charset="-122"/>
                <a:cs typeface="Calibri" pitchFamily="34" charset="-120"/>
              </a:rPr>
              <a:t>Décrire la forme</a:t>
            </a:r>
            <a:pPr indent="0" marL="0">
              <a:spcAft>
                <a:spcPts val="800"/>
              </a:spcAft>
              <a:buNone/>
            </a:pPr>
            <a:r>
              <a:rPr lang="en-US" sz="1250" dirty="0">
                <a:solidFill>
                  <a:srgbClr val="1F2937"/>
                </a:solidFill>
                <a:latin typeface="Calibri" pitchFamily="34" charset="0"/>
                <a:ea typeface="Calibri" pitchFamily="34" charset="-122"/>
                <a:cs typeface="Calibri" pitchFamily="34" charset="-120"/>
              </a:rPr>
              <a:t> par quelques nombres, en acceptant de ne pas passer exactement par chaque point. C'est Svensson</a:t>
            </a:r>
            <a:endParaRPr lang="en-US" sz="1250" dirty="0"/>
          </a:p>
        </p:txBody>
      </p:sp>
      <p:sp>
        <p:nvSpPr>
          <p:cNvPr id="10" name="Shape 8"/>
          <p:cNvSpPr/>
          <p:nvPr/>
        </p:nvSpPr>
        <p:spPr>
          <a:xfrm>
            <a:off x="6245352" y="2423160"/>
            <a:ext cx="5394960" cy="2286000"/>
          </a:xfrm>
          <a:prstGeom prst="roundRect">
            <a:avLst>
              <a:gd name="adj" fmla="val 3200"/>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Une courbe a toujours la même allure</a:t>
            </a:r>
            <a:endParaRPr lang="en-US" sz="1600" dirty="0"/>
          </a:p>
        </p:txBody>
      </p:sp>
      <p:sp>
        <p:nvSpPr>
          <p:cNvPr id="12" name="Text 10"/>
          <p:cNvSpPr txBox="1"/>
          <p:nvPr/>
        </p:nvSpPr>
        <p:spPr>
          <a:xfrm>
            <a:off x="6473952" y="2999232"/>
            <a:ext cx="4937760" cy="1600200"/>
          </a:xfrm>
          <a:prstGeom prst="rect">
            <a:avLst/>
          </a:prstGeom>
          <a:noFill/>
          <a:ln/>
        </p:spPr>
        <p:txBody>
          <a:bodyPr wrap="square" lIns="0" tIns="0" rIns="0" bIns="0" rtlCol="0" anchor="t"/>
          <a:lstStyle/>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 niveau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globalement haute ou basse</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pente</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le court rapporte moins que le long (normal), ou l'inverse (signal de récession)</a:t>
            </a:r>
            <a:endParaRPr lang="en-US" sz="1250" dirty="0"/>
          </a:p>
          <a:p>
            <a:pPr marL="203200" indent="-203200">
              <a:spcAft>
                <a:spcPts val="600"/>
              </a:spcAft>
              <a:buSzPct val="100000"/>
              <a:buChar char="•"/>
            </a:pPr>
            <a:r>
              <a:rPr lang="en-US" sz="1250" b="1" dirty="0">
                <a:solidFill>
                  <a:srgbClr val="14304F"/>
                </a:solidFill>
                <a:latin typeface="Calibri" pitchFamily="34" charset="0"/>
                <a:ea typeface="Calibri" pitchFamily="34" charset="-122"/>
                <a:cs typeface="Calibri" pitchFamily="34" charset="-120"/>
              </a:rPr>
              <a:t>Une ou deux bosses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 banques centrales sur le court, assureurs sur le très long</a:t>
            </a:r>
            <a:endParaRPr lang="en-US" sz="1250" dirty="0"/>
          </a:p>
        </p:txBody>
      </p:sp>
      <p:sp>
        <p:nvSpPr>
          <p:cNvPr id="13" name="Shape 11"/>
          <p:cNvSpPr/>
          <p:nvPr/>
        </p:nvSpPr>
        <p:spPr>
          <a:xfrm>
            <a:off x="548640" y="4892040"/>
            <a:ext cx="5486400" cy="1371600"/>
          </a:xfrm>
          <a:prstGeom prst="roundRect">
            <a:avLst>
              <a:gd name="adj" fmla="val 5333"/>
            </a:avLst>
          </a:prstGeom>
          <a:solidFill>
            <a:srgbClr val="F2F5F9"/>
          </a:solidFill>
          <a:ln w="12700">
            <a:solidFill>
              <a:srgbClr val="F2F5F9"/>
            </a:solidFill>
            <a:prstDash val="solid"/>
          </a:ln>
        </p:spPr>
      </p:sp>
      <p:sp>
        <p:nvSpPr>
          <p:cNvPr id="14" name="Text 12"/>
          <p:cNvSpPr txBox="1"/>
          <p:nvPr/>
        </p:nvSpPr>
        <p:spPr>
          <a:xfrm>
            <a:off x="777240" y="4983480"/>
            <a:ext cx="5029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Les six nombres</a:t>
            </a:r>
            <a:endParaRPr lang="en-US" sz="1500" dirty="0"/>
          </a:p>
        </p:txBody>
      </p:sp>
      <p:sp>
        <p:nvSpPr>
          <p:cNvPr id="15" name="Text 13"/>
          <p:cNvSpPr txBox="1"/>
          <p:nvPr/>
        </p:nvSpPr>
        <p:spPr>
          <a:xfrm>
            <a:off x="777240" y="5321808"/>
            <a:ext cx="5029200" cy="868680"/>
          </a:xfrm>
          <a:prstGeom prst="rect">
            <a:avLst/>
          </a:prstGeom>
          <a:noFill/>
          <a:ln/>
        </p:spPr>
        <p:txBody>
          <a:bodyPr wrap="square" lIns="0" tIns="0" rIns="0" bIns="0" rtlCol="0" anchor="t"/>
          <a:lstStyle/>
          <a:p>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Quatre boutons de taille, deux boutons de position.</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Le niveau, la pente, la taille des deux bosses — et où chaque bosse se situe. C'est tout.</a:t>
            </a:r>
            <a:endParaRPr lang="en-US" sz="1300" dirty="0"/>
          </a:p>
        </p:txBody>
      </p:sp>
      <p:sp>
        <p:nvSpPr>
          <p:cNvPr id="16" name="Shape 14"/>
          <p:cNvSpPr/>
          <p:nvPr/>
        </p:nvSpPr>
        <p:spPr>
          <a:xfrm>
            <a:off x="6245352" y="4892040"/>
            <a:ext cx="5394960" cy="1371600"/>
          </a:xfrm>
          <a:prstGeom prst="roundRect">
            <a:avLst>
              <a:gd name="adj" fmla="val 5333"/>
            </a:avLst>
          </a:prstGeom>
          <a:solidFill>
            <a:srgbClr val="F2F5F9"/>
          </a:solidFill>
          <a:ln w="12700">
            <a:solidFill>
              <a:srgbClr val="F2F5F9"/>
            </a:solidFill>
            <a:prstDash val="solid"/>
          </a:ln>
        </p:spPr>
      </p:sp>
      <p:sp>
        <p:nvSpPr>
          <p:cNvPr id="17" name="Text 15"/>
          <p:cNvSpPr txBox="1"/>
          <p:nvPr/>
        </p:nvSpPr>
        <p:spPr>
          <a:xfrm>
            <a:off x="6473952" y="5029200"/>
            <a:ext cx="4937760" cy="109728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L'analogie.</a:t>
            </a:r>
            <a:pPr indent="0" marL="0">
              <a:buNone/>
            </a:pPr>
            <a:r>
              <a:rPr lang="en-US" sz="1300" dirty="0">
                <a:solidFill>
                  <a:srgbClr val="1F2937"/>
                </a:solidFill>
                <a:latin typeface="Calibri" pitchFamily="34" charset="0"/>
                <a:ea typeface="Calibri" pitchFamily="34" charset="-122"/>
                <a:cs typeface="Calibri" pitchFamily="34" charset="-120"/>
              </a:rPr>
              <a:t> Décrire un visage : lister la couleur de chaque pixel, ou dire « ovale, yeux écartés, nez droit ». La seconde description est plus courte, </a:t>
            </a:r>
            <a:pPr indent="0" marL="0">
              <a:buNone/>
            </a:pPr>
            <a:r>
              <a:rPr lang="en-US" sz="1300" b="1" dirty="0">
                <a:solidFill>
                  <a:srgbClr val="1F2937"/>
                </a:solidFill>
                <a:latin typeface="Calibri" pitchFamily="34" charset="0"/>
                <a:ea typeface="Calibri" pitchFamily="34" charset="-122"/>
                <a:cs typeface="Calibri" pitchFamily="34" charset="-120"/>
              </a:rPr>
              <a:t>résiste au bruit</a:t>
            </a:r>
            <a:pPr indent="0" marL="0">
              <a:buNone/>
            </a:pPr>
            <a:r>
              <a:rPr lang="en-US" sz="1300" dirty="0">
                <a:solidFill>
                  <a:srgbClr val="1F2937"/>
                </a:solidFill>
                <a:latin typeface="Calibri" pitchFamily="34" charset="0"/>
                <a:ea typeface="Calibri" pitchFamily="34" charset="-122"/>
                <a:cs typeface="Calibri" pitchFamily="34" charset="-120"/>
              </a:rPr>
              <a:t>, et permet de dessiner ce qu'on n'a pas vu.</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E — Pourquoi pas Markowitz</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la question qui sera posée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40</a:t>
            </a:r>
            <a:endParaRPr lang="en-US" sz="900" dirty="0"/>
          </a:p>
        </p:txBody>
      </p:sp>
      <p:sp>
        <p:nvSpPr>
          <p:cNvPr id="5" name="Shape 3"/>
          <p:cNvSpPr/>
          <p:nvPr/>
        </p:nvSpPr>
        <p:spPr>
          <a:xfrm>
            <a:off x="548640" y="1371600"/>
            <a:ext cx="11094415" cy="868680"/>
          </a:xfrm>
          <a:prstGeom prst="roundRect">
            <a:avLst>
              <a:gd name="adj" fmla="val 8421"/>
            </a:avLst>
          </a:prstGeom>
          <a:solidFill>
            <a:srgbClr val="14304F"/>
          </a:solidFill>
          <a:ln w="12700">
            <a:solidFill>
              <a:srgbClr val="14304F"/>
            </a:solidFill>
            <a:prstDash val="solid"/>
          </a:ln>
        </p:spPr>
      </p:sp>
      <p:sp>
        <p:nvSpPr>
          <p:cNvPr id="6" name="Text 4"/>
          <p:cNvSpPr txBox="1"/>
          <p:nvPr/>
        </p:nvSpPr>
        <p:spPr>
          <a:xfrm>
            <a:off x="777240" y="1508760"/>
            <a:ext cx="10637215" cy="5943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M. Lauren n'a pas dit « je veux une volatilité de 6 % ». Il a dit </a:t>
            </a:r>
            <a:pPr indent="0" marL="0">
              <a:buNone/>
            </a:pPr>
            <a:r>
              <a:rPr lang="en-US" sz="1450" b="1" dirty="0">
                <a:solidFill>
                  <a:srgbClr val="F5C969"/>
                </a:solidFill>
                <a:latin typeface="Calibri" pitchFamily="34" charset="0"/>
                <a:ea typeface="Calibri" pitchFamily="34" charset="-122"/>
                <a:cs typeface="Calibri" pitchFamily="34" charset="-120"/>
              </a:rPr>
              <a:t>« je ne veux jamais perdre plus de 15 % »</a:t>
            </a:r>
            <a:pPr indent="0" marL="0">
              <a:buNone/>
            </a:pPr>
            <a:r>
              <a:rPr lang="en-US" sz="1450" dirty="0">
                <a:solidFill>
                  <a:srgbClr val="FFFFFF"/>
                </a:solidFill>
                <a:latin typeface="Calibri" pitchFamily="34" charset="0"/>
                <a:ea typeface="Calibri" pitchFamily="34" charset="-122"/>
                <a:cs typeface="Calibri" pitchFamily="34" charset="-120"/>
              </a:rPr>
              <a:t>. Ce sont deux objets différents, et le second ne se déduit pas du premier.</a:t>
            </a:r>
            <a:endParaRPr lang="en-US" sz="1450" dirty="0"/>
          </a:p>
        </p:txBody>
      </p:sp>
      <p:sp>
        <p:nvSpPr>
          <p:cNvPr id="7" name="Shape 5"/>
          <p:cNvSpPr/>
          <p:nvPr/>
        </p:nvSpPr>
        <p:spPr>
          <a:xfrm>
            <a:off x="548640" y="2423160"/>
            <a:ext cx="5486400" cy="2377440"/>
          </a:xfrm>
          <a:prstGeom prst="roundRect">
            <a:avLst>
              <a:gd name="adj" fmla="val 3077"/>
            </a:avLst>
          </a:prstGeom>
          <a:solidFill>
            <a:srgbClr val="F2F5F9"/>
          </a:solidFill>
          <a:ln w="12700">
            <a:solidFill>
              <a:srgbClr val="F2F5F9"/>
            </a:solidFill>
            <a:prstDash val="solid"/>
          </a:ln>
        </p:spPr>
      </p:sp>
      <p:sp>
        <p:nvSpPr>
          <p:cNvPr id="8" name="Text 6"/>
          <p:cNvSpPr txBox="1"/>
          <p:nvPr/>
        </p:nvSpPr>
        <p:spPr>
          <a:xfrm>
            <a:off x="777240" y="256032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L'expérience du paquet de cartes</a:t>
            </a:r>
            <a:endParaRPr lang="en-US" sz="1600" dirty="0"/>
          </a:p>
        </p:txBody>
      </p:sp>
      <p:sp>
        <p:nvSpPr>
          <p:cNvPr id="9" name="Text 7"/>
          <p:cNvSpPr txBox="1"/>
          <p:nvPr/>
        </p:nvSpPr>
        <p:spPr>
          <a:xfrm>
            <a:off x="777240" y="2999232"/>
            <a:ext cx="5029200" cy="1645920"/>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1F2937"/>
                </a:solidFill>
                <a:latin typeface="Calibri" pitchFamily="34" charset="0"/>
                <a:ea typeface="Calibri" pitchFamily="34" charset="-122"/>
                <a:cs typeface="Calibri" pitchFamily="34" charset="-120"/>
              </a:rPr>
              <a:t>Prends les rendements mensuels du portefeuille sur vingt ans, et </a:t>
            </a:r>
            <a:pPr indent="0" marL="0">
              <a:spcAft>
                <a:spcPts val="700"/>
              </a:spcAft>
              <a:buNone/>
            </a:pPr>
            <a:r>
              <a:rPr lang="en-US" sz="1250" b="1" dirty="0">
                <a:solidFill>
                  <a:srgbClr val="14304F"/>
                </a:solidFill>
                <a:latin typeface="Calibri" pitchFamily="34" charset="0"/>
                <a:ea typeface="Calibri" pitchFamily="34" charset="-122"/>
                <a:cs typeface="Calibri" pitchFamily="34" charset="-120"/>
              </a:rPr>
              <a:t>mélange les mois au hasard</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volatilité ne bouge pas d'un iota</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elle ne regarde que la dispersion des rendements</a:t>
            </a:r>
            <a:endParaRPr lang="en-US" sz="1250" dirty="0"/>
          </a:p>
          <a:p>
            <a:pPr marL="203200" indent="-203200">
              <a:spcAft>
                <a:spcPts val="700"/>
              </a:spcAft>
              <a:buSzPct val="100000"/>
              <a:buChar char="•"/>
            </a:pPr>
            <a:r>
              <a:rPr lang="en-US" sz="1250" b="1" dirty="0">
                <a:solidFill>
                  <a:srgbClr val="14304F"/>
                </a:solidFill>
                <a:latin typeface="Calibri" pitchFamily="34" charset="0"/>
                <a:ea typeface="Calibri" pitchFamily="34" charset="-122"/>
                <a:cs typeface="Calibri" pitchFamily="34" charset="-120"/>
              </a:rPr>
              <a:t>La pire baisse change du tout au tout</a:t>
            </a:r>
            <a:pPr indent="0" marL="0">
              <a:spcAft>
                <a:spcPts val="700"/>
              </a:spcAft>
              <a:buNone/>
            </a:pPr>
            <a:r>
              <a:rPr lang="en-US" sz="1250" dirty="0">
                <a:solidFill>
                  <a:srgbClr val="1F2937"/>
                </a:solidFill>
                <a:latin typeface="Calibri" pitchFamily="34" charset="0"/>
                <a:ea typeface="Calibri" pitchFamily="34" charset="-122"/>
                <a:cs typeface="Calibri" pitchFamily="34" charset="-120"/>
              </a:rPr>
              <a:t> : mauvais mois groupés, on creuse 40 % ; éparpillés, jamais plus de 10 %</a:t>
            </a:r>
            <a:endParaRPr lang="en-US" sz="1250" dirty="0"/>
          </a:p>
        </p:txBody>
      </p:sp>
      <p:sp>
        <p:nvSpPr>
          <p:cNvPr id="10" name="Shape 8"/>
          <p:cNvSpPr/>
          <p:nvPr/>
        </p:nvSpPr>
        <p:spPr>
          <a:xfrm>
            <a:off x="6245352" y="2423160"/>
            <a:ext cx="5394960" cy="2377440"/>
          </a:xfrm>
          <a:prstGeom prst="roundRect">
            <a:avLst>
              <a:gd name="adj" fmla="val 3077"/>
            </a:avLst>
          </a:prstGeom>
          <a:solidFill>
            <a:srgbClr val="F2F5F9"/>
          </a:solidFill>
          <a:ln w="12700">
            <a:solidFill>
              <a:srgbClr val="F2F5F9"/>
            </a:solidFill>
            <a:prstDash val="solid"/>
          </a:ln>
        </p:spPr>
      </p:sp>
      <p:sp>
        <p:nvSpPr>
          <p:cNvPr id="11" name="Text 9"/>
          <p:cNvSpPr txBox="1"/>
          <p:nvPr/>
        </p:nvSpPr>
        <p:spPr>
          <a:xfrm>
            <a:off x="6473952" y="256032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Ce qu'on en tire</a:t>
            </a:r>
            <a:endParaRPr lang="en-US" sz="1600" dirty="0"/>
          </a:p>
        </p:txBody>
      </p:sp>
      <p:sp>
        <p:nvSpPr>
          <p:cNvPr id="12" name="Text 10"/>
          <p:cNvSpPr txBox="1"/>
          <p:nvPr/>
        </p:nvSpPr>
        <p:spPr>
          <a:xfrm>
            <a:off x="6473952" y="2999232"/>
            <a:ext cx="4937760" cy="164592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La volatilité ignore l'ordre. La pire baisse ne dépend que de l'ordre.</a:t>
            </a:r>
            <a:pPr indent="0" marL="0">
              <a:spcAft>
                <a:spcPts val="600"/>
              </a:spcAft>
              <a:buNone/>
            </a:pP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Il n'existe donc aucune formule reliant la matrice de covariance à la perte maximale — sauf en supposant les rendements indépendants et gaussiens, ce qui est faux précisément dans les crises, c'est-à-dire là où ça compte.</a:t>
            </a:r>
            <a:endParaRPr lang="en-US" sz="1250" dirty="0"/>
          </a:p>
          <a:p>
            <a:pPr indent="0" marL="0">
              <a:spcAft>
                <a:spcPts val="600"/>
              </a:spcAft>
              <a:buNone/>
            </a:pPr>
            <a:endParaRPr lang="en-US" sz="1250" dirty="0"/>
          </a:p>
          <a:p>
            <a:pPr indent="0" marL="0">
              <a:spcAft>
                <a:spcPts val="600"/>
              </a:spcAft>
              <a:buNone/>
            </a:pPr>
            <a:r>
              <a:rPr lang="en-US" sz="1250" dirty="0">
                <a:solidFill>
                  <a:srgbClr val="1F2937"/>
                </a:solidFill>
                <a:latin typeface="Calibri" pitchFamily="34" charset="0"/>
                <a:ea typeface="Calibri" pitchFamily="34" charset="-122"/>
                <a:cs typeface="Calibri" pitchFamily="34" charset="-120"/>
              </a:rPr>
              <a:t>On mesure donc directement sur le chemin : chaque répartition candidate est rejouée jour par jour, rééquilibrée chaque mois.</a:t>
            </a:r>
            <a:endParaRPr lang="en-US" sz="1250" dirty="0"/>
          </a:p>
        </p:txBody>
      </p:sp>
      <p:sp>
        <p:nvSpPr>
          <p:cNvPr id="13" name="Shape 11"/>
          <p:cNvSpPr/>
          <p:nvPr/>
        </p:nvSpPr>
        <p:spPr>
          <a:xfrm>
            <a:off x="548640" y="4983480"/>
            <a:ext cx="5486400" cy="1280160"/>
          </a:xfrm>
          <a:prstGeom prst="roundRect">
            <a:avLst>
              <a:gd name="adj" fmla="val 5714"/>
            </a:avLst>
          </a:prstGeom>
          <a:solidFill>
            <a:srgbClr val="F2F5F9"/>
          </a:solidFill>
          <a:ln w="12700">
            <a:solidFill>
              <a:srgbClr val="F2F5F9"/>
            </a:solidFill>
            <a:prstDash val="solid"/>
          </a:ln>
        </p:spPr>
      </p:sp>
      <p:sp>
        <p:nvSpPr>
          <p:cNvPr id="14" name="Text 12"/>
          <p:cNvSpPr txBox="1"/>
          <p:nvPr/>
        </p:nvSpPr>
        <p:spPr>
          <a:xfrm>
            <a:off x="777240" y="5120640"/>
            <a:ext cx="502920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Le prix, et il est assumé.</a:t>
            </a:r>
            <a:pPr indent="0" marL="0">
              <a:buNone/>
            </a:pPr>
            <a:r>
              <a:rPr lang="en-US" sz="1250" dirty="0">
                <a:solidFill>
                  <a:srgbClr val="1F2937"/>
                </a:solidFill>
                <a:latin typeface="Calibri" pitchFamily="34" charset="0"/>
                <a:ea typeface="Calibri" pitchFamily="34" charset="-122"/>
                <a:cs typeface="Calibri" pitchFamily="34" charset="-120"/>
              </a:rPr>
              <a:t> La contrainte est évaluée sur </a:t>
            </a:r>
            <a:pPr indent="0" marL="0">
              <a:buNone/>
            </a:pPr>
            <a:r>
              <a:rPr lang="en-US" sz="1250" b="1" dirty="0">
                <a:solidFill>
                  <a:srgbClr val="1F2937"/>
                </a:solidFill>
                <a:latin typeface="Calibri" pitchFamily="34" charset="0"/>
                <a:ea typeface="Calibri" pitchFamily="34" charset="-122"/>
                <a:cs typeface="Calibri" pitchFamily="34" charset="-120"/>
              </a:rPr>
              <a:t>une seule trajectoire</a:t>
            </a:r>
            <a:pPr indent="0" marL="0">
              <a:buNone/>
            </a:pPr>
            <a:r>
              <a:rPr lang="en-US" sz="1250" dirty="0">
                <a:solidFill>
                  <a:srgbClr val="1F2937"/>
                </a:solidFill>
                <a:latin typeface="Calibri" pitchFamily="34" charset="0"/>
                <a:ea typeface="Calibri" pitchFamily="34" charset="-122"/>
                <a:cs typeface="Calibri" pitchFamily="34" charset="-120"/>
              </a:rPr>
              <a:t>, celle qui a eu lieu. C'est du surapprentissage au sens plein — d'où le résultat brut rejeté, puis les règles chiffrées une par une.</a:t>
            </a:r>
            <a:endParaRPr lang="en-US" sz="1250" dirty="0"/>
          </a:p>
        </p:txBody>
      </p:sp>
      <p:sp>
        <p:nvSpPr>
          <p:cNvPr id="15" name="Shape 13"/>
          <p:cNvSpPr/>
          <p:nvPr/>
        </p:nvSpPr>
        <p:spPr>
          <a:xfrm>
            <a:off x="6245352" y="4983480"/>
            <a:ext cx="5394960" cy="1280160"/>
          </a:xfrm>
          <a:prstGeom prst="roundRect">
            <a:avLst>
              <a:gd name="adj" fmla="val 5714"/>
            </a:avLst>
          </a:prstGeom>
          <a:solidFill>
            <a:srgbClr val="F2F5F9"/>
          </a:solidFill>
          <a:ln w="12700">
            <a:solidFill>
              <a:srgbClr val="F2F5F9"/>
            </a:solidFill>
            <a:prstDash val="solid"/>
          </a:ln>
        </p:spPr>
      </p:sp>
      <p:sp>
        <p:nvSpPr>
          <p:cNvPr id="16" name="Text 14"/>
          <p:cNvSpPr txBox="1"/>
          <p:nvPr/>
        </p:nvSpPr>
        <p:spPr>
          <a:xfrm>
            <a:off x="6473952" y="5120640"/>
            <a:ext cx="4937760" cy="10058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Et Black-Litterman ?</a:t>
            </a:r>
            <a:pPr indent="0" marL="0">
              <a:buNone/>
            </a:pPr>
            <a:r>
              <a:rPr lang="en-US" sz="1250" dirty="0">
                <a:solidFill>
                  <a:srgbClr val="1F2937"/>
                </a:solidFill>
                <a:latin typeface="Calibri" pitchFamily="34" charset="0"/>
                <a:ea typeface="Calibri" pitchFamily="34" charset="-122"/>
                <a:cs typeface="Calibri" pitchFamily="34" charset="-120"/>
              </a:rPr>
              <a:t> Écarté pour une autre raison : les opinions sont </a:t>
            </a:r>
            <a:pPr indent="0" marL="0">
              <a:buNone/>
            </a:pPr>
            <a:r>
              <a:rPr lang="en-US" sz="1250" b="1" dirty="0">
                <a:solidFill>
                  <a:srgbClr val="1F2937"/>
                </a:solidFill>
                <a:latin typeface="Calibri" pitchFamily="34" charset="0"/>
                <a:ea typeface="Calibri" pitchFamily="34" charset="-122"/>
                <a:cs typeface="Calibri" pitchFamily="34" charset="-120"/>
              </a:rPr>
              <a:t>déjà</a:t>
            </a:r>
            <a:pPr indent="0" marL="0">
              <a:buNone/>
            </a:pPr>
            <a:r>
              <a:rPr lang="en-US" sz="1250" dirty="0">
                <a:solidFill>
                  <a:srgbClr val="1F2937"/>
                </a:solidFill>
                <a:latin typeface="Calibri" pitchFamily="34" charset="0"/>
                <a:ea typeface="Calibri" pitchFamily="34" charset="-122"/>
                <a:cs typeface="Calibri" pitchFamily="34" charset="-120"/>
              </a:rPr>
              <a:t> dans les rendements espérés, qui viennent des valorisations. Les réinjecter reviendrait à les compter deux fois.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F — Ce que « duration » veut dire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d'où viennent les chiffres de sensibilité du dossier</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41</a:t>
            </a:r>
            <a:endParaRPr lang="en-US" sz="900" dirty="0"/>
          </a:p>
        </p:txBody>
      </p:sp>
      <p:sp>
        <p:nvSpPr>
          <p:cNvPr id="5" name="Shape 3"/>
          <p:cNvSpPr/>
          <p:nvPr/>
        </p:nvSpPr>
        <p:spPr>
          <a:xfrm>
            <a:off x="548640" y="1371600"/>
            <a:ext cx="3657600" cy="2194560"/>
          </a:xfrm>
          <a:prstGeom prst="roundRect">
            <a:avLst>
              <a:gd name="adj" fmla="val 3333"/>
            </a:avLst>
          </a:prstGeom>
          <a:solidFill>
            <a:srgbClr val="F2F5F9"/>
          </a:solidFill>
          <a:ln w="12700">
            <a:solidFill>
              <a:srgbClr val="F2F5F9"/>
            </a:solidFill>
            <a:prstDash val="solid"/>
          </a:ln>
        </p:spPr>
      </p:sp>
      <p:sp>
        <p:nvSpPr>
          <p:cNvPr id="6" name="Text 4"/>
          <p:cNvSpPr txBox="1"/>
          <p:nvPr/>
        </p:nvSpPr>
        <p:spPr>
          <a:xfrm>
            <a:off x="7498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duration</a:t>
            </a:r>
            <a:endParaRPr lang="en-US" sz="1550" dirty="0"/>
          </a:p>
        </p:txBody>
      </p:sp>
      <p:sp>
        <p:nvSpPr>
          <p:cNvPr id="7" name="Text 5"/>
          <p:cNvSpPr txBox="1"/>
          <p:nvPr/>
        </p:nvSpPr>
        <p:spPr>
          <a:xfrm>
            <a:off x="749808" y="1901952"/>
            <a:ext cx="3255264" cy="155448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délai moyen de récupération de mon argent.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Une obligation à 10 ans ne me rend pas tout dans 10 ans : elle verse des coupons avant. Avec de gros coupons, sa duration tombe vers 8 ans. Un zéro-coupon à 10 ans a une duration de 10 ans pile, puisque tout arrive à la fin.</a:t>
            </a:r>
            <a:endParaRPr lang="en-US" sz="1280" dirty="0"/>
          </a:p>
        </p:txBody>
      </p:sp>
      <p:sp>
        <p:nvSpPr>
          <p:cNvPr id="8" name="Shape 6"/>
          <p:cNvSpPr/>
          <p:nvPr/>
        </p:nvSpPr>
        <p:spPr>
          <a:xfrm>
            <a:off x="4434840" y="1371600"/>
            <a:ext cx="3657600" cy="2194560"/>
          </a:xfrm>
          <a:prstGeom prst="roundRect">
            <a:avLst>
              <a:gd name="adj" fmla="val 3333"/>
            </a:avLst>
          </a:prstGeom>
          <a:solidFill>
            <a:srgbClr val="F2F5F9"/>
          </a:solidFill>
          <a:ln w="12700">
            <a:solidFill>
              <a:srgbClr val="F2F5F9"/>
            </a:solidFill>
            <a:prstDash val="solid"/>
          </a:ln>
        </p:spPr>
      </p:sp>
      <p:sp>
        <p:nvSpPr>
          <p:cNvPr id="9" name="Text 7"/>
          <p:cNvSpPr txBox="1"/>
          <p:nvPr/>
        </p:nvSpPr>
        <p:spPr>
          <a:xfrm>
            <a:off x="46360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sensibilité</a:t>
            </a:r>
            <a:endParaRPr lang="en-US" sz="1550" dirty="0"/>
          </a:p>
        </p:txBody>
      </p:sp>
      <p:sp>
        <p:nvSpPr>
          <p:cNvPr id="10" name="Text 8"/>
          <p:cNvSpPr txBox="1"/>
          <p:nvPr/>
        </p:nvSpPr>
        <p:spPr>
          <a:xfrm>
            <a:off x="46360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duration, corrigée d'un petit facteur, et sa lecture est directe :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si tous les taux montent d'un point, le prix baisse d'environ autant de pour cent.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L'intuition : si je détiens du 3 % et que le marché paie 4 %, personne ne veut du mien à son prix — il baisse jusqu'à redevenir compétitif.</a:t>
            </a:r>
            <a:endParaRPr lang="en-US" sz="1280" dirty="0"/>
          </a:p>
        </p:txBody>
      </p:sp>
      <p:sp>
        <p:nvSpPr>
          <p:cNvPr id="11" name="Shape 9"/>
          <p:cNvSpPr/>
          <p:nvPr/>
        </p:nvSpPr>
        <p:spPr>
          <a:xfrm>
            <a:off x="8321040" y="1371600"/>
            <a:ext cx="3657600" cy="2194560"/>
          </a:xfrm>
          <a:prstGeom prst="roundRect">
            <a:avLst>
              <a:gd name="adj" fmla="val 3333"/>
            </a:avLst>
          </a:prstGeom>
          <a:solidFill>
            <a:srgbClr val="F2F5F9"/>
          </a:solidFill>
          <a:ln w="12700">
            <a:solidFill>
              <a:srgbClr val="F2F5F9"/>
            </a:solidFill>
            <a:prstDash val="solid"/>
          </a:ln>
        </p:spPr>
      </p:sp>
      <p:sp>
        <p:nvSpPr>
          <p:cNvPr id="12" name="Text 10"/>
          <p:cNvSpPr txBox="1"/>
          <p:nvPr/>
        </p:nvSpPr>
        <p:spPr>
          <a:xfrm>
            <a:off x="8522208" y="1481328"/>
            <a:ext cx="3255264" cy="365760"/>
          </a:xfrm>
          <a:prstGeom prst="rect">
            <a:avLst/>
          </a:prstGeom>
          <a:noFill/>
          <a:ln/>
        </p:spPr>
        <p:txBody>
          <a:bodyPr wrap="square" lIns="0" tIns="0" rIns="0" bIns="0" rtlCol="0" anchor="ctr"/>
          <a:lstStyle/>
          <a:p>
            <a:pPr indent="0" marL="0">
              <a:buNone/>
            </a:pPr>
            <a:r>
              <a:rPr lang="en-US" sz="1550" b="1" dirty="0">
                <a:solidFill>
                  <a:srgbClr val="14304F"/>
                </a:solidFill>
                <a:latin typeface="Cambria" pitchFamily="34" charset="0"/>
                <a:ea typeface="Cambria" pitchFamily="34" charset="-122"/>
                <a:cs typeface="Cambria" pitchFamily="34" charset="-120"/>
              </a:rPr>
              <a:t>La convexité</a:t>
            </a:r>
            <a:endParaRPr lang="en-US" sz="1550" dirty="0"/>
          </a:p>
        </p:txBody>
      </p:sp>
      <p:sp>
        <p:nvSpPr>
          <p:cNvPr id="13" name="Text 11"/>
          <p:cNvSpPr txBox="1"/>
          <p:nvPr/>
        </p:nvSpPr>
        <p:spPr>
          <a:xfrm>
            <a:off x="8522208" y="1901952"/>
            <a:ext cx="3255264" cy="1554480"/>
          </a:xfrm>
          <a:prstGeom prst="rect">
            <a:avLst/>
          </a:prstGeom>
          <a:noFill/>
          <a:ln/>
        </p:spPr>
        <p:txBody>
          <a:bodyPr wrap="square" lIns="0" tIns="0" rIns="0" bIns="0" rtlCol="0" anchor="t"/>
          <a:lstStyle/>
          <a:p>
            <a:pPr indent="0" marL="0">
              <a:spcAft>
                <a:spcPts val="600"/>
              </a:spcAft>
              <a:buNone/>
            </a:pPr>
            <a:r>
              <a:rPr lang="en-US" sz="1280" dirty="0">
                <a:solidFill>
                  <a:srgbClr val="1F2937"/>
                </a:solidFill>
                <a:latin typeface="Calibri" pitchFamily="34" charset="0"/>
                <a:ea typeface="Calibri" pitchFamily="34" charset="-122"/>
                <a:cs typeface="Calibri" pitchFamily="34" charset="-120"/>
              </a:rPr>
              <a:t>La relation taux-prix n'est pas une droite, elle est courbée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dans le bon sens pour le détenteur</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quand les taux montent on perd un peu moins que prévu, quand ils baissent on gagne un peu plus. Positive pour toute obligation classique — c'est un actif gratuit.</a:t>
            </a:r>
            <a:endParaRPr lang="en-US" sz="1280" dirty="0"/>
          </a:p>
        </p:txBody>
      </p:sp>
      <p:sp>
        <p:nvSpPr>
          <p:cNvPr id="14" name="Shape 12"/>
          <p:cNvSpPr/>
          <p:nvPr/>
        </p:nvSpPr>
        <p:spPr>
          <a:xfrm>
            <a:off x="548640" y="3749040"/>
            <a:ext cx="11094415" cy="914400"/>
          </a:xfrm>
          <a:prstGeom prst="roundRect">
            <a:avLst>
              <a:gd name="adj" fmla="val 8000"/>
            </a:avLst>
          </a:prstGeom>
          <a:solidFill>
            <a:srgbClr val="14304F"/>
          </a:solidFill>
          <a:ln w="12700">
            <a:solidFill>
              <a:srgbClr val="14304F"/>
            </a:solidFill>
            <a:prstDash val="solid"/>
          </a:ln>
        </p:spPr>
      </p:sp>
      <p:sp>
        <p:nvSpPr>
          <p:cNvPr id="15" name="Text 13"/>
          <p:cNvSpPr txBox="1"/>
          <p:nvPr/>
        </p:nvSpPr>
        <p:spPr>
          <a:xfrm>
            <a:off x="777240" y="3886200"/>
            <a:ext cx="10637215" cy="640080"/>
          </a:xfrm>
          <a:prstGeom prst="rect">
            <a:avLst/>
          </a:prstGeom>
          <a:noFill/>
          <a:ln/>
        </p:spPr>
        <p:txBody>
          <a:bodyPr wrap="square" lIns="0" tIns="0" rIns="0" bIns="0" rtlCol="0" anchor="ctr"/>
          <a:lstStyle/>
          <a:p>
            <a:pPr indent="0" marL="0">
              <a:buNone/>
            </a:pPr>
            <a:r>
              <a:rPr lang="en-US" sz="1350" b="1" dirty="0">
                <a:solidFill>
                  <a:srgbClr val="F5C969"/>
                </a:solidFill>
                <a:latin typeface="Calibri" pitchFamily="34" charset="0"/>
                <a:ea typeface="Calibri" pitchFamily="34" charset="-122"/>
                <a:cs typeface="Calibri" pitchFamily="34" charset="-120"/>
              </a:rPr>
              <a:t>Ce que fait le code, et c'est mieux que l'approximation.</a:t>
            </a:r>
            <a:pPr indent="0" marL="0">
              <a:buNone/>
            </a:pPr>
            <a:r>
              <a:rPr lang="en-US" sz="1350" dirty="0">
                <a:solidFill>
                  <a:srgbClr val="FFFFFF"/>
                </a:solidFill>
                <a:latin typeface="Calibri" pitchFamily="34" charset="0"/>
                <a:ea typeface="Calibri" pitchFamily="34" charset="-122"/>
                <a:cs typeface="Calibri" pitchFamily="34" charset="-120"/>
              </a:rPr>
              <a:t> Au lieu d'estimer la perte par « sensibilité plus convexité », il </a:t>
            </a:r>
            <a:pPr indent="0" marL="0">
              <a:buNone/>
            </a:pPr>
            <a:r>
              <a:rPr lang="en-US" sz="1350" b="1" dirty="0">
                <a:solidFill>
                  <a:srgbClr val="F5C969"/>
                </a:solidFill>
                <a:latin typeface="Calibri" pitchFamily="34" charset="0"/>
                <a:ea typeface="Calibri" pitchFamily="34" charset="-122"/>
                <a:cs typeface="Calibri" pitchFamily="34" charset="-120"/>
              </a:rPr>
              <a:t>revalorise réellement</a:t>
            </a:r>
            <a:pPr indent="0" marL="0">
              <a:buNone/>
            </a:pPr>
            <a:r>
              <a:rPr lang="en-US" sz="1350" dirty="0">
                <a:solidFill>
                  <a:srgbClr val="FFFFFF"/>
                </a:solidFill>
                <a:latin typeface="Calibri" pitchFamily="34" charset="0"/>
                <a:ea typeface="Calibri" pitchFamily="34" charset="-122"/>
                <a:cs typeface="Calibri" pitchFamily="34" charset="-120"/>
              </a:rPr>
              <a:t> l'obligation avec la courbe décalée d'un point. Exact au lieu d'approché : l'échelle 2-10 ans perd </a:t>
            </a:r>
            <a:pPr indent="0" marL="0">
              <a:buNone/>
            </a:pPr>
            <a:r>
              <a:rPr lang="en-US" sz="1350" b="1" dirty="0">
                <a:solidFill>
                  <a:srgbClr val="F5C969"/>
                </a:solidFill>
                <a:latin typeface="Calibri" pitchFamily="34" charset="0"/>
                <a:ea typeface="Calibri" pitchFamily="34" charset="-122"/>
                <a:cs typeface="Calibri" pitchFamily="34" charset="-120"/>
              </a:rPr>
              <a:t>4,7 %</a:t>
            </a:r>
            <a:pPr indent="0" marL="0">
              <a:buNone/>
            </a:pPr>
            <a:r>
              <a:rPr lang="en-US" sz="1350" dirty="0">
                <a:solidFill>
                  <a:srgbClr val="FFFFFF"/>
                </a:solidFill>
                <a:latin typeface="Calibri" pitchFamily="34" charset="0"/>
                <a:ea typeface="Calibri" pitchFamily="34" charset="-122"/>
                <a:cs typeface="Calibri" pitchFamily="34" charset="-120"/>
              </a:rPr>
              <a:t>, le fonds de crédit (durée 1,4 an) bien moins.</a:t>
            </a:r>
            <a:endParaRPr lang="en-US" sz="1350" dirty="0"/>
          </a:p>
        </p:txBody>
      </p:sp>
      <p:sp>
        <p:nvSpPr>
          <p:cNvPr id="16" name="Shape 14"/>
          <p:cNvSpPr/>
          <p:nvPr/>
        </p:nvSpPr>
        <p:spPr>
          <a:xfrm>
            <a:off x="548640" y="4892040"/>
            <a:ext cx="11094415" cy="1280160"/>
          </a:xfrm>
          <a:prstGeom prst="roundRect">
            <a:avLst>
              <a:gd name="adj" fmla="val 5714"/>
            </a:avLst>
          </a:prstGeom>
          <a:solidFill>
            <a:srgbClr val="F2F5F9"/>
          </a:solidFill>
          <a:ln w="12700">
            <a:solidFill>
              <a:srgbClr val="F2F5F9"/>
            </a:solidFill>
            <a:prstDash val="solid"/>
          </a:ln>
        </p:spPr>
      </p:sp>
      <p:sp>
        <p:nvSpPr>
          <p:cNvPr id="17" name="Text 15"/>
          <p:cNvSpPr txBox="1"/>
          <p:nvPr/>
        </p:nvSpPr>
        <p:spPr>
          <a:xfrm>
            <a:off x="777240" y="5010912"/>
            <a:ext cx="7315200" cy="32004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D'où vient le rendement d'une année, si la courbe ne bouge pas</a:t>
            </a:r>
            <a:endParaRPr lang="en-US" sz="1500" dirty="0"/>
          </a:p>
        </p:txBody>
      </p:sp>
      <p:sp>
        <p:nvSpPr>
          <p:cNvPr id="18" name="Text 16"/>
          <p:cNvSpPr txBox="1"/>
          <p:nvPr/>
        </p:nvSpPr>
        <p:spPr>
          <a:xfrm>
            <a:off x="777240" y="5376672"/>
            <a:ext cx="10607040" cy="731520"/>
          </a:xfrm>
          <a:prstGeom prst="rect">
            <a:avLst/>
          </a:prstGeom>
          <a:noFill/>
          <a:ln/>
        </p:spPr>
        <p:txBody>
          <a:bodyPr wrap="square" lIns="0" tIns="0" rIns="0" bIns="0" rtlCol="0" anchor="t"/>
          <a:lstStyle/>
          <a:p>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portage</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j'encaisse le coupon, c'est évident. </a:t>
            </a:r>
            <a:pPr indent="0" marL="0">
              <a:spcAft>
                <a:spcPts val="600"/>
              </a:spcAft>
              <a:buNone/>
            </a:pPr>
            <a:r>
              <a:rPr lang="en-US" sz="1280" b="1" dirty="0">
                <a:solidFill>
                  <a:srgbClr val="14304F"/>
                </a:solidFill>
                <a:latin typeface="Calibri" pitchFamily="34" charset="0"/>
                <a:ea typeface="Calibri" pitchFamily="34" charset="-122"/>
                <a:cs typeface="Calibri" pitchFamily="34" charset="-120"/>
              </a:rPr>
              <a:t>Le glissement</a:t>
            </a:r>
            <a:pPr indent="0" marL="0">
              <a:spcAft>
                <a:spcPts val="600"/>
              </a:spcAft>
              <a:buNone/>
            </a:pPr>
            <a:r>
              <a:rPr lang="en-US" sz="1280" dirty="0">
                <a:solidFill>
                  <a:srgbClr val="1F2937"/>
                </a:solidFill>
                <a:latin typeface="Calibri" pitchFamily="34" charset="0"/>
                <a:ea typeface="Calibri" pitchFamily="34" charset="-122"/>
                <a:cs typeface="Calibri" pitchFamily="34" charset="-120"/>
              </a:rPr>
              <a:t> : mon obligation à 10 ans devient une obligation à 9 ans, et sur une courbe montante le taux à 9 ans est plus bas — donc elle est valorisée plus cher. J'ai gagné sans que rien ne bouge, juste parce que le temps a passé.</a:t>
            </a:r>
            <a:endParaRPr lang="en-US" sz="12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G — Comment le calcul cherche sa réponse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complète l'annexe E, qui dit pourquoi pas Markowitz</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42</a:t>
            </a:r>
            <a:endParaRPr lang="en-US" sz="900" dirty="0"/>
          </a:p>
        </p:txBody>
      </p:sp>
      <p:sp>
        <p:nvSpPr>
          <p:cNvPr id="5" name="Shape 3"/>
          <p:cNvSpPr/>
          <p:nvPr/>
        </p:nvSpPr>
        <p:spPr>
          <a:xfrm>
            <a:off x="548640" y="1371600"/>
            <a:ext cx="11094415" cy="822960"/>
          </a:xfrm>
          <a:prstGeom prst="roundRect">
            <a:avLst>
              <a:gd name="adj" fmla="val 8889"/>
            </a:avLst>
          </a:prstGeom>
          <a:solidFill>
            <a:srgbClr val="14304F"/>
          </a:solidFill>
          <a:ln w="12700">
            <a:solidFill>
              <a:srgbClr val="14304F"/>
            </a:solidFill>
            <a:prstDash val="solid"/>
          </a:ln>
        </p:spPr>
      </p:sp>
      <p:sp>
        <p:nvSpPr>
          <p:cNvPr id="6" name="Text 4"/>
          <p:cNvSpPr txBox="1"/>
          <p:nvPr/>
        </p:nvSpPr>
        <p:spPr>
          <a:xfrm>
            <a:off x="777240" y="1508760"/>
            <a:ext cx="10637215" cy="548640"/>
          </a:xfrm>
          <a:prstGeom prst="rect">
            <a:avLst/>
          </a:prstGeom>
          <a:noFill/>
          <a:ln/>
        </p:spPr>
        <p:txBody>
          <a:bodyPr wrap="square" lIns="0" tIns="0" rIns="0" bIns="0" rtlCol="0" anchor="ctr"/>
          <a:lstStyle/>
          <a:p>
            <a:pPr indent="0" marL="0">
              <a:buNone/>
            </a:pPr>
            <a:r>
              <a:rPr lang="en-US" sz="1450" b="1" dirty="0">
                <a:solidFill>
                  <a:srgbClr val="F5C969"/>
                </a:solidFill>
                <a:latin typeface="Calibri" pitchFamily="34" charset="0"/>
                <a:ea typeface="Calibri" pitchFamily="34" charset="-122"/>
                <a:cs typeface="Calibri" pitchFamily="34" charset="-120"/>
              </a:rPr>
              <a:t>La question, en une phrase</a:t>
            </a:r>
            <a:pPr indent="0" marL="0">
              <a:buNone/>
            </a:pPr>
            <a:r>
              <a:rPr lang="en-US" sz="1450" dirty="0">
                <a:solidFill>
                  <a:srgbClr val="FFFFFF"/>
                </a:solidFill>
                <a:latin typeface="Calibri" pitchFamily="34" charset="0"/>
                <a:ea typeface="Calibri" pitchFamily="34" charset="-122"/>
                <a:cs typeface="Calibri" pitchFamily="34" charset="-120"/>
              </a:rPr>
              <a:t> : parmi tous les partages possibles des 100 M€, lequel rapporte le plus sans jamais avoir perdu plus que la limite ?</a:t>
            </a:r>
            <a:endParaRPr lang="en-US" sz="1450" dirty="0"/>
          </a:p>
        </p:txBody>
      </p:sp>
      <p:sp>
        <p:nvSpPr>
          <p:cNvPr id="7" name="Shape 5"/>
          <p:cNvSpPr/>
          <p:nvPr/>
        </p:nvSpPr>
        <p:spPr>
          <a:xfrm>
            <a:off x="548640" y="2377440"/>
            <a:ext cx="11094415" cy="914400"/>
          </a:xfrm>
          <a:prstGeom prst="roundRect">
            <a:avLst>
              <a:gd name="adj" fmla="val 8000"/>
            </a:avLst>
          </a:prstGeom>
          <a:solidFill>
            <a:srgbClr val="F2F5F9"/>
          </a:solidFill>
          <a:ln w="12700">
            <a:solidFill>
              <a:srgbClr val="F2F5F9"/>
            </a:solidFill>
            <a:prstDash val="solid"/>
          </a:ln>
        </p:spPr>
      </p:sp>
      <p:sp>
        <p:nvSpPr>
          <p:cNvPr id="8" name="Text 6"/>
          <p:cNvSpPr txBox="1"/>
          <p:nvPr/>
        </p:nvSpPr>
        <p:spPr>
          <a:xfrm>
            <a:off x="777240" y="2487168"/>
            <a:ext cx="2743200" cy="685800"/>
          </a:xfrm>
          <a:prstGeom prst="rect">
            <a:avLst/>
          </a:prstGeom>
          <a:noFill/>
          <a:ln/>
        </p:spPr>
        <p:txBody>
          <a:bodyPr wrap="square" lIns="0" tIns="0" rIns="0" bIns="0" rtlCol="0" anchor="ctr"/>
          <a:lstStyle/>
          <a:p>
            <a:pPr indent="0" marL="0">
              <a:buNone/>
            </a:pPr>
            <a:r>
              <a:rPr lang="en-US" sz="1400" b="1" dirty="0">
                <a:solidFill>
                  <a:srgbClr val="14304F"/>
                </a:solidFill>
                <a:latin typeface="Cambria" pitchFamily="34" charset="0"/>
                <a:ea typeface="Cambria" pitchFamily="34" charset="-122"/>
                <a:cs typeface="Cambria" pitchFamily="34" charset="-120"/>
              </a:rPr>
              <a:t>Ce qu'on maximise</a:t>
            </a:r>
            <a:endParaRPr lang="en-US" sz="1400" dirty="0"/>
          </a:p>
        </p:txBody>
      </p:sp>
      <p:sp>
        <p:nvSpPr>
          <p:cNvPr id="9" name="Text 7"/>
          <p:cNvSpPr txBox="1"/>
          <p:nvPr/>
        </p:nvSpPr>
        <p:spPr>
          <a:xfrm>
            <a:off x="3566160" y="2487168"/>
            <a:ext cx="7802575" cy="713232"/>
          </a:xfrm>
          <a:prstGeom prst="rect">
            <a:avLst/>
          </a:prstGeom>
          <a:noFill/>
          <a:ln/>
        </p:spPr>
        <p:txBody>
          <a:bodyPr wrap="square" lIns="0" tIns="0" rIns="0" bIns="0" rtlCol="0" anchor="t"/>
          <a:lstStyle/>
          <a:p>
            <a:pPr indent="0" marL="0">
              <a:spcAft>
                <a:spcPts val="600"/>
              </a:spcAft>
              <a:buNone/>
            </a:pPr>
            <a:r>
              <a:rPr lang="en-US" sz="1200" dirty="0">
                <a:solidFill>
                  <a:srgbClr val="1F2937"/>
                </a:solidFill>
                <a:latin typeface="Calibri" pitchFamily="34" charset="0"/>
                <a:ea typeface="Calibri" pitchFamily="34" charset="-122"/>
                <a:cs typeface="Calibri" pitchFamily="34" charset="-120"/>
              </a:rPr>
              <a:t>Le rendement espéré du portefeuille : la moyenne des rendements de chaque support, pondérée par son poids</a:t>
            </a:r>
            <a:endParaRPr lang="en-US" sz="1200" dirty="0"/>
          </a:p>
        </p:txBody>
      </p:sp>
      <p:sp>
        <p:nvSpPr>
          <p:cNvPr id="10" name="Shape 8"/>
          <p:cNvSpPr/>
          <p:nvPr/>
        </p:nvSpPr>
        <p:spPr>
          <a:xfrm>
            <a:off x="548640" y="3401568"/>
            <a:ext cx="11094415" cy="914400"/>
          </a:xfrm>
          <a:prstGeom prst="roundRect">
            <a:avLst>
              <a:gd name="adj" fmla="val 8000"/>
            </a:avLst>
          </a:prstGeom>
          <a:solidFill>
            <a:srgbClr val="F2F5F9"/>
          </a:solidFill>
          <a:ln w="12700">
            <a:solidFill>
              <a:srgbClr val="F2F5F9"/>
            </a:solidFill>
            <a:prstDash val="solid"/>
          </a:ln>
        </p:spPr>
      </p:sp>
      <p:sp>
        <p:nvSpPr>
          <p:cNvPr id="11" name="Text 9"/>
          <p:cNvSpPr txBox="1"/>
          <p:nvPr/>
        </p:nvSpPr>
        <p:spPr>
          <a:xfrm>
            <a:off x="777240" y="3511296"/>
            <a:ext cx="2743200" cy="685800"/>
          </a:xfrm>
          <a:prstGeom prst="rect">
            <a:avLst/>
          </a:prstGeom>
          <a:noFill/>
          <a:ln/>
        </p:spPr>
        <p:txBody>
          <a:bodyPr wrap="square" lIns="0" tIns="0" rIns="0" bIns="0" rtlCol="0" anchor="ctr"/>
          <a:lstStyle/>
          <a:p>
            <a:pPr indent="0" marL="0">
              <a:buNone/>
            </a:pPr>
            <a:r>
              <a:rPr lang="en-US" sz="1400" b="1" dirty="0">
                <a:solidFill>
                  <a:srgbClr val="14304F"/>
                </a:solidFill>
                <a:latin typeface="Cambria" pitchFamily="34" charset="0"/>
                <a:ea typeface="Cambria" pitchFamily="34" charset="-122"/>
                <a:cs typeface="Cambria" pitchFamily="34" charset="-120"/>
              </a:rPr>
              <a:t>Ce qu'on s'interdit</a:t>
            </a:r>
            <a:endParaRPr lang="en-US" sz="1400" dirty="0"/>
          </a:p>
        </p:txBody>
      </p:sp>
      <p:sp>
        <p:nvSpPr>
          <p:cNvPr id="12" name="Text 10"/>
          <p:cNvSpPr txBox="1"/>
          <p:nvPr/>
        </p:nvSpPr>
        <p:spPr>
          <a:xfrm>
            <a:off x="3566160" y="3511296"/>
            <a:ext cx="7802575" cy="713232"/>
          </a:xfrm>
          <a:prstGeom prst="rect">
            <a:avLst/>
          </a:prstGeom>
          <a:noFill/>
          <a:ln/>
        </p:spPr>
        <p:txBody>
          <a:bodyPr wrap="square" lIns="0" tIns="0" rIns="0" bIns="0" rtlCol="0" anchor="t"/>
          <a:lstStyle/>
          <a:p>
            <a:pPr indent="0" marL="0">
              <a:spcAft>
                <a:spcPts val="600"/>
              </a:spcAft>
              <a:buNone/>
            </a:pPr>
            <a:r>
              <a:rPr lang="en-US" sz="1200" dirty="0">
                <a:solidFill>
                  <a:srgbClr val="1F2937"/>
                </a:solidFill>
                <a:latin typeface="Calibri" pitchFamily="34" charset="0"/>
                <a:ea typeface="Calibri" pitchFamily="34" charset="-122"/>
                <a:cs typeface="Calibri" pitchFamily="34" charset="-120"/>
              </a:rPr>
              <a:t>Pour CHAQUE partage essayé, on rejoue les vingt ans : 100 M€ placés selon ces poids en octobre 2006, </a:t>
            </a:r>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remis à ces mêmes poids chaque mois</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valeur suivie semaine après semaine. La plus forte baisse depuis un sommet doit rester sous 14 %</a:t>
            </a:r>
            <a:endParaRPr lang="en-US" sz="1200" dirty="0"/>
          </a:p>
        </p:txBody>
      </p:sp>
      <p:sp>
        <p:nvSpPr>
          <p:cNvPr id="13" name="Shape 11"/>
          <p:cNvSpPr/>
          <p:nvPr/>
        </p:nvSpPr>
        <p:spPr>
          <a:xfrm>
            <a:off x="548640" y="4425696"/>
            <a:ext cx="11094415" cy="914400"/>
          </a:xfrm>
          <a:prstGeom prst="roundRect">
            <a:avLst>
              <a:gd name="adj" fmla="val 8000"/>
            </a:avLst>
          </a:prstGeom>
          <a:solidFill>
            <a:srgbClr val="F2F5F9"/>
          </a:solidFill>
          <a:ln w="12700">
            <a:solidFill>
              <a:srgbClr val="F2F5F9"/>
            </a:solidFill>
            <a:prstDash val="solid"/>
          </a:ln>
        </p:spPr>
      </p:sp>
      <p:sp>
        <p:nvSpPr>
          <p:cNvPr id="14" name="Text 12"/>
          <p:cNvSpPr txBox="1"/>
          <p:nvPr/>
        </p:nvSpPr>
        <p:spPr>
          <a:xfrm>
            <a:off x="777240" y="4535424"/>
            <a:ext cx="2743200" cy="685800"/>
          </a:xfrm>
          <a:prstGeom prst="rect">
            <a:avLst/>
          </a:prstGeom>
          <a:noFill/>
          <a:ln/>
        </p:spPr>
        <p:txBody>
          <a:bodyPr wrap="square" lIns="0" tIns="0" rIns="0" bIns="0" rtlCol="0" anchor="ctr"/>
          <a:lstStyle/>
          <a:p>
            <a:pPr indent="0" marL="0">
              <a:buNone/>
            </a:pPr>
            <a:r>
              <a:rPr lang="en-US" sz="1400" b="1" dirty="0">
                <a:solidFill>
                  <a:srgbClr val="14304F"/>
                </a:solidFill>
                <a:latin typeface="Cambria" pitchFamily="34" charset="0"/>
                <a:ea typeface="Cambria" pitchFamily="34" charset="-122"/>
                <a:cs typeface="Cambria" pitchFamily="34" charset="-120"/>
              </a:rPr>
              <a:t>Ce qui borne les poids</a:t>
            </a:r>
            <a:endParaRPr lang="en-US" sz="1400" dirty="0"/>
          </a:p>
        </p:txBody>
      </p:sp>
      <p:sp>
        <p:nvSpPr>
          <p:cNvPr id="15" name="Text 13"/>
          <p:cNvSpPr txBox="1"/>
          <p:nvPr/>
        </p:nvSpPr>
        <p:spPr>
          <a:xfrm>
            <a:off x="3566160" y="4535424"/>
            <a:ext cx="7802575" cy="713232"/>
          </a:xfrm>
          <a:prstGeom prst="rect">
            <a:avLst/>
          </a:prstGeom>
          <a:noFill/>
          <a:ln/>
        </p:spPr>
        <p:txBody>
          <a:bodyPr wrap="square" lIns="0" tIns="0" rIns="0" bIns="0" rtlCol="0" anchor="t"/>
          <a:lstStyle/>
          <a:p>
            <a:pPr indent="0" marL="0">
              <a:spcAft>
                <a:spcPts val="600"/>
              </a:spcAft>
              <a:buNone/>
            </a:pPr>
            <a:r>
              <a:rPr lang="en-US" sz="1200" dirty="0">
                <a:solidFill>
                  <a:srgbClr val="1F2937"/>
                </a:solidFill>
                <a:latin typeface="Calibri" pitchFamily="34" charset="0"/>
                <a:ea typeface="Calibri" pitchFamily="34" charset="-122"/>
                <a:cs typeface="Calibri" pitchFamily="34" charset="-120"/>
              </a:rPr>
              <a:t>Positifs, somme de 100 %, plancher de 10 % en AAA, clé actions 40/35/10/15, et les plafonds par support</a:t>
            </a:r>
            <a:endParaRPr lang="en-US" sz="1200" dirty="0"/>
          </a:p>
        </p:txBody>
      </p:sp>
      <p:sp>
        <p:nvSpPr>
          <p:cNvPr id="16" name="Shape 14"/>
          <p:cNvSpPr/>
          <p:nvPr/>
        </p:nvSpPr>
        <p:spPr>
          <a:xfrm>
            <a:off x="548640" y="5486400"/>
            <a:ext cx="11094415" cy="777240"/>
          </a:xfrm>
          <a:prstGeom prst="roundRect">
            <a:avLst>
              <a:gd name="adj" fmla="val 9412"/>
            </a:avLst>
          </a:prstGeom>
          <a:solidFill>
            <a:srgbClr val="F2F5F9"/>
          </a:solidFill>
          <a:ln w="12700">
            <a:solidFill>
              <a:srgbClr val="F2F5F9"/>
            </a:solidFill>
            <a:prstDash val="solid"/>
          </a:ln>
        </p:spPr>
      </p:sp>
      <p:sp>
        <p:nvSpPr>
          <p:cNvPr id="17" name="Text 15"/>
          <p:cNvSpPr txBox="1"/>
          <p:nvPr/>
        </p:nvSpPr>
        <p:spPr>
          <a:xfrm>
            <a:off x="777240" y="5623560"/>
            <a:ext cx="10637215" cy="5029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Pas de formule, donc on cherche.</a:t>
            </a:r>
            <a:pPr indent="0" marL="0">
              <a:buNone/>
            </a:pPr>
            <a:r>
              <a:rPr lang="en-US" sz="1250" dirty="0">
                <a:solidFill>
                  <a:srgbClr val="1F2937"/>
                </a:solidFill>
                <a:latin typeface="Calibri" pitchFamily="34" charset="0"/>
                <a:ea typeface="Calibri" pitchFamily="34" charset="-122"/>
                <a:cs typeface="Calibri" pitchFamily="34" charset="-120"/>
              </a:rPr>
              <a:t> La pire baisse est un minimum sur vingt ans de dates : déplacer un poids d'un dixième de point fait basculer la date qui la donne, et la contrainte saute au lieu de varier. Un solveur sous contraintes est relancé depuis </a:t>
            </a:r>
            <a:pPr indent="0" marL="0">
              <a:buNone/>
            </a:pPr>
            <a:r>
              <a:rPr lang="en-US" sz="1250" b="1" dirty="0">
                <a:solidFill>
                  <a:srgbClr val="1F2937"/>
                </a:solidFill>
                <a:latin typeface="Calibri" pitchFamily="34" charset="0"/>
                <a:ea typeface="Calibri" pitchFamily="34" charset="-122"/>
                <a:cs typeface="Calibri" pitchFamily="34" charset="-120"/>
              </a:rPr>
              <a:t>seize départs</a:t>
            </a:r>
            <a:pPr indent="0" marL="0">
              <a:buNone/>
            </a:pPr>
            <a:r>
              <a:rPr lang="en-US" sz="1250" dirty="0">
                <a:solidFill>
                  <a:srgbClr val="1F2937"/>
                </a:solidFill>
                <a:latin typeface="Calibri" pitchFamily="34" charset="0"/>
                <a:ea typeface="Calibri" pitchFamily="34" charset="-122"/>
                <a:cs typeface="Calibri" pitchFamily="34" charset="-120"/>
              </a:rPr>
              <a:t>, on garde le meilleur résultat admissible.</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H — Pourquoi seulement 3,3 % d'or</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un poids que personne n'a choisi</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43</a:t>
            </a:r>
            <a:endParaRPr lang="en-US" sz="900" dirty="0"/>
          </a:p>
        </p:txBody>
      </p:sp>
      <p:sp>
        <p:nvSpPr>
          <p:cNvPr id="5" name="Shape 3"/>
          <p:cNvSpPr/>
          <p:nvPr/>
        </p:nvSpPr>
        <p:spPr>
          <a:xfrm>
            <a:off x="548640" y="1371600"/>
            <a:ext cx="11094415" cy="822960"/>
          </a:xfrm>
          <a:prstGeom prst="roundRect">
            <a:avLst>
              <a:gd name="adj" fmla="val 8889"/>
            </a:avLst>
          </a:prstGeom>
          <a:solidFill>
            <a:srgbClr val="14304F"/>
          </a:solidFill>
          <a:ln w="12700">
            <a:solidFill>
              <a:srgbClr val="14304F"/>
            </a:solidFill>
            <a:prstDash val="solid"/>
          </a:ln>
        </p:spPr>
      </p:sp>
      <p:sp>
        <p:nvSpPr>
          <p:cNvPr id="6" name="Text 4"/>
          <p:cNvSpPr txBox="1"/>
          <p:nvPr/>
        </p:nvSpPr>
        <p:spPr>
          <a:xfrm>
            <a:off x="777240" y="1508760"/>
            <a:ext cx="10637215" cy="548640"/>
          </a:xfrm>
          <a:prstGeom prst="rect">
            <a:avLst/>
          </a:prstGeom>
          <a:noFill/>
          <a:ln/>
        </p:spPr>
        <p:txBody>
          <a:bodyPr wrap="square" lIns="0" tIns="0" rIns="0" bIns="0" rtlCol="0" anchor="ctr"/>
          <a:lstStyle/>
          <a:p>
            <a:pPr indent="0" marL="0">
              <a:buNone/>
            </a:pPr>
            <a:r>
              <a:rPr lang="en-US" sz="1450" b="1" dirty="0">
                <a:solidFill>
                  <a:srgbClr val="F5C969"/>
                </a:solidFill>
                <a:latin typeface="Calibri" pitchFamily="34" charset="0"/>
                <a:ea typeface="Calibri" pitchFamily="34" charset="-122"/>
                <a:cs typeface="Calibri" pitchFamily="34" charset="-120"/>
              </a:rPr>
              <a:t>Personne n'a choisi ce chiffre : c'est un résidu de calcul.</a:t>
            </a:r>
            <a:pPr indent="0" marL="0">
              <a:buNone/>
            </a:pPr>
            <a:r>
              <a:rPr lang="en-US" sz="1450" dirty="0">
                <a:solidFill>
                  <a:srgbClr val="FFFFFF"/>
                </a:solidFill>
                <a:latin typeface="Calibri" pitchFamily="34" charset="0"/>
                <a:ea typeface="Calibri" pitchFamily="34" charset="-122"/>
                <a:cs typeface="Calibri" pitchFamily="34" charset="-120"/>
              </a:rPr>
              <a:t> Le plafond autorise 10 % et le calcul n'en prend que 3,3 % — </a:t>
            </a:r>
            <a:pPr indent="0" marL="0">
              <a:buNone/>
            </a:pPr>
            <a:r>
              <a:rPr lang="en-US" sz="1450" b="1" dirty="0">
                <a:solidFill>
                  <a:srgbClr val="F5C969"/>
                </a:solidFill>
                <a:latin typeface="Calibri" pitchFamily="34" charset="0"/>
                <a:ea typeface="Calibri" pitchFamily="34" charset="-122"/>
                <a:cs typeface="Calibri" pitchFamily="34" charset="-120"/>
              </a:rPr>
              <a:t>le plafond n'est donc pas la contrainte qui mord.</a:t>
            </a:r>
            <a:endParaRPr lang="en-US" sz="14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5669280" cy="914400"/>
        </p:xfrm>
        <a:graphic>
          <a:graphicData uri="http://schemas.openxmlformats.org/drawingml/2006/table">
            <a:tbl>
              <a:tblPr/>
              <a:tblGrid>
                <a:gridCol w="1280160"/>
                <a:gridCol w="1463040"/>
                <a:gridCol w="1554480"/>
                <a:gridCol w="1371600"/>
              </a:tblGrid>
              <a:tr h="31089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Crise</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L'or</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La poche d'actions</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Emprunts d'État</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10896">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2008</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22,2 %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−39,3 %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15,5 %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2011</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25,6 %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5,1 %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8,4 %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10896">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2020</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11,2 %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−7,1 %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−0,1 %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0,3 %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−8,2 %</a:t>
                      </a:r>
                      <a:endParaRPr lang="en-US" sz="11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8" name="Text 5"/>
          <p:cNvSpPr txBox="1"/>
          <p:nvPr/>
        </p:nvSpPr>
        <p:spPr>
          <a:xfrm>
            <a:off x="548640" y="4251960"/>
            <a:ext cx="5669280" cy="685800"/>
          </a:xfrm>
          <a:prstGeom prst="rect">
            <a:avLst/>
          </a:prstGeom>
          <a:noFill/>
          <a:ln/>
        </p:spPr>
        <p:txBody>
          <a:bodyPr wrap="square" lIns="0" tIns="0" rIns="0" bIns="0" rtlCol="0" anchor="t"/>
          <a:lstStyle/>
          <a:p>
            <a:pPr indent="0" marL="0">
              <a:spcAft>
                <a:spcPts val="600"/>
              </a:spcAft>
              <a:buNone/>
            </a:pPr>
            <a:r>
              <a:rPr lang="en-US" sz="1150" dirty="0">
                <a:solidFill>
                  <a:srgbClr val="1F2937"/>
                </a:solidFill>
                <a:latin typeface="Calibri" pitchFamily="34" charset="0"/>
                <a:ea typeface="Calibri" pitchFamily="34" charset="-122"/>
                <a:cs typeface="Calibri" pitchFamily="34" charset="-120"/>
              </a:rPr>
              <a:t>Performance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sur</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la fenêtre de crise, en euros. L'or est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le seul support du portefeuille à finir positif sur les quatre</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a:t>
            </a:r>
            <a:endParaRPr lang="en-US" sz="1150" dirty="0"/>
          </a:p>
        </p:txBody>
      </p:sp>
      <p:sp>
        <p:nvSpPr>
          <p:cNvPr id="9" name="Shape 6"/>
          <p:cNvSpPr/>
          <p:nvPr/>
        </p:nvSpPr>
        <p:spPr>
          <a:xfrm>
            <a:off x="6355080" y="2377440"/>
            <a:ext cx="5287975" cy="2560320"/>
          </a:xfrm>
          <a:prstGeom prst="roundRect">
            <a:avLst>
              <a:gd name="adj" fmla="val 2857"/>
            </a:avLst>
          </a:prstGeom>
          <a:solidFill>
            <a:srgbClr val="F2F5F9"/>
          </a:solidFill>
          <a:ln w="12700">
            <a:solidFill>
              <a:srgbClr val="F2F5F9"/>
            </a:solidFill>
            <a:prstDash val="solid"/>
          </a:ln>
        </p:spPr>
      </p:sp>
      <p:sp>
        <p:nvSpPr>
          <p:cNvPr id="10" name="Text 7"/>
          <p:cNvSpPr txBox="1"/>
          <p:nvPr/>
        </p:nvSpPr>
        <p:spPr>
          <a:xfrm>
            <a:off x="6583680" y="2487168"/>
            <a:ext cx="4937760" cy="347472"/>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Ce que le calcul arbitre</a:t>
            </a:r>
            <a:endParaRPr lang="en-US" sz="1500" dirty="0"/>
          </a:p>
        </p:txBody>
      </p:sp>
      <p:sp>
        <p:nvSpPr>
          <p:cNvPr id="11" name="Text 8"/>
          <p:cNvSpPr txBox="1"/>
          <p:nvPr/>
        </p:nvSpPr>
        <p:spPr>
          <a:xfrm>
            <a:off x="6583680" y="2880360"/>
            <a:ext cx="4830775" cy="1920240"/>
          </a:xfrm>
          <a:prstGeom prst="rect">
            <a:avLst/>
          </a:prstGeom>
          <a:noFill/>
          <a:ln/>
        </p:spPr>
        <p:txBody>
          <a:bodyPr wrap="square" lIns="0" tIns="0" rIns="0" bIns="0" rtlCol="0" anchor="t"/>
          <a:lstStyle/>
          <a:p>
            <a:pPr indent="0" marL="0">
              <a:spcAft>
                <a:spcPts val="600"/>
              </a:spcAft>
              <a:buNone/>
            </a:pPr>
            <a:r>
              <a:rPr lang="en-US" sz="1200" dirty="0">
                <a:solidFill>
                  <a:srgbClr val="1F2937"/>
                </a:solidFill>
                <a:latin typeface="Calibri" pitchFamily="34" charset="0"/>
                <a:ea typeface="Calibri" pitchFamily="34" charset="-122"/>
                <a:cs typeface="Calibri" pitchFamily="34" charset="-120"/>
              </a:rPr>
              <a:t>L'or a le </a:t>
            </a:r>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rendement espéré le plus faible du modèle</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4,00 %, à peine au-dessus des 3,63 % des emprunts d'État à 2-10 ans.</a:t>
            </a:r>
            <a:endParaRPr lang="en-US" sz="1200" dirty="0"/>
          </a:p>
          <a:p>
            <a:pPr indent="0" marL="0">
              <a:spcAft>
                <a:spcPts val="600"/>
              </a:spcAft>
              <a:buNone/>
            </a:pPr>
            <a:endParaRPr lang="en-US" sz="1200" dirty="0"/>
          </a:p>
          <a:p>
            <a:pPr indent="0" marL="0">
              <a:spcAft>
                <a:spcPts val="600"/>
              </a:spcAft>
              <a:buNone/>
            </a:pPr>
            <a:r>
              <a:rPr lang="en-US" sz="1200" dirty="0">
                <a:solidFill>
                  <a:srgbClr val="1F2937"/>
                </a:solidFill>
                <a:latin typeface="Calibri" pitchFamily="34" charset="0"/>
                <a:ea typeface="Calibri" pitchFamily="34" charset="-122"/>
                <a:cs typeface="Calibri" pitchFamily="34" charset="-120"/>
              </a:rPr>
              <a:t>On ne le détient donc pas pour ce qu'il rapporte mais pour sa tenue en crise : c'est de la protection </a:t>
            </a:r>
            <a:endParaRPr lang="en-US" sz="1200" dirty="0"/>
          </a:p>
          <a:p>
            <a:pPr indent="0" marL="0">
              <a:spcAft>
                <a:spcPts val="600"/>
              </a:spcAft>
              <a:buNone/>
            </a:pPr>
            <a:r>
              <a:rPr lang="en-US" sz="1200" b="1" dirty="0">
                <a:solidFill>
                  <a:srgbClr val="14304F"/>
                </a:solidFill>
                <a:latin typeface="Calibri" pitchFamily="34" charset="0"/>
                <a:ea typeface="Calibri" pitchFamily="34" charset="-122"/>
                <a:cs typeface="Calibri" pitchFamily="34" charset="-120"/>
              </a:rPr>
              <a:t>achetée avec du rendement</a:t>
            </a:r>
            <a:pPr indent="0" marL="0">
              <a:spcAft>
                <a:spcPts val="600"/>
              </a:spcAft>
              <a:buNone/>
            </a:pPr>
            <a:r>
              <a:rPr lang="en-US" sz="1200" dirty="0">
                <a:solidFill>
                  <a:srgbClr val="1F2937"/>
                </a:solidFill>
                <a:latin typeface="Calibri" pitchFamily="34" charset="0"/>
                <a:ea typeface="Calibri" pitchFamily="34" charset="-122"/>
                <a:cs typeface="Calibri" pitchFamily="34" charset="-120"/>
              </a:rPr>
              <a:t>. Le calcul en prend juste ce qu'il faut pour que la poche d'actions atteigne 30,41 % sous la limite. Au-delà, chaque euro d'or coûte du rendement sans acheter assez de protection pour financer une action de plus.</a:t>
            </a:r>
            <a:endParaRPr lang="en-US" sz="1200" dirty="0"/>
          </a:p>
        </p:txBody>
      </p:sp>
      <p:sp>
        <p:nvSpPr>
          <p:cNvPr id="12" name="Shape 9"/>
          <p:cNvSpPr/>
          <p:nvPr/>
        </p:nvSpPr>
        <p:spPr>
          <a:xfrm>
            <a:off x="548640" y="5120640"/>
            <a:ext cx="11094415" cy="1005840"/>
          </a:xfrm>
          <a:prstGeom prst="roundRect">
            <a:avLst>
              <a:gd name="adj" fmla="val 7273"/>
            </a:avLst>
          </a:prstGeom>
          <a:solidFill>
            <a:srgbClr val="F2F5F9"/>
          </a:solidFill>
          <a:ln w="12700">
            <a:solidFill>
              <a:srgbClr val="F2F5F9"/>
            </a:solidFill>
            <a:prstDash val="solid"/>
          </a:ln>
        </p:spPr>
      </p:sp>
      <p:sp>
        <p:nvSpPr>
          <p:cNvPr id="13" name="Text 10"/>
          <p:cNvSpPr txBox="1"/>
          <p:nvPr/>
        </p:nvSpPr>
        <p:spPr>
          <a:xfrm>
            <a:off x="777240" y="5257800"/>
            <a:ext cx="10637215" cy="7315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Attention à ne pas confondre avec la table des pires baisses</a:t>
            </a:r>
            <a:pPr indent="0" marL="0">
              <a:buNone/>
            </a:pPr>
            <a:r>
              <a:rPr lang="en-US" sz="1250" dirty="0">
                <a:solidFill>
                  <a:srgbClr val="1F2937"/>
                </a:solidFill>
                <a:latin typeface="Calibri" pitchFamily="34" charset="0"/>
                <a:ea typeface="Calibri" pitchFamily="34" charset="-122"/>
                <a:cs typeface="Calibri" pitchFamily="34" charset="-120"/>
              </a:rPr>
              <a:t>, où l'or affiche −25,7 % en 2008 : les deux sont vrais et ne mesurent pas la même chose. Il a bien reculé de 25,7 % </a:t>
            </a:r>
            <a:pPr indent="0" marL="0">
              <a:buNone/>
            </a:pPr>
            <a:r>
              <a:rPr lang="en-US" sz="1250" b="1" dirty="0">
                <a:solidFill>
                  <a:srgbClr val="1F2937"/>
                </a:solidFill>
                <a:latin typeface="Calibri" pitchFamily="34" charset="0"/>
                <a:ea typeface="Calibri" pitchFamily="34" charset="-122"/>
                <a:cs typeface="Calibri" pitchFamily="34" charset="-120"/>
              </a:rPr>
              <a:t>à l'intérieur</a:t>
            </a:r>
            <a:pPr indent="0" marL="0">
              <a:buNone/>
            </a:pPr>
            <a:r>
              <a:rPr lang="en-US" sz="1250" dirty="0">
                <a:solidFill>
                  <a:srgbClr val="1F2937"/>
                </a:solidFill>
                <a:latin typeface="Calibri" pitchFamily="34" charset="0"/>
                <a:ea typeface="Calibri" pitchFamily="34" charset="-122"/>
                <a:cs typeface="Calibri" pitchFamily="34" charset="-120"/>
              </a:rPr>
              <a:t> de la fenêtre avant de la finir en hausse. Résultat stable sur huit tirages.</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I — Où agit la lecture macro, et où elle n'agit pas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un portefeuille, un pari</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44</a:t>
            </a:r>
            <a:endParaRPr lang="en-US" sz="900" dirty="0"/>
          </a:p>
        </p:txBody>
      </p:sp>
      <p:sp>
        <p:nvSpPr>
          <p:cNvPr id="5" name="Shape 3"/>
          <p:cNvSpPr/>
          <p:nvPr/>
        </p:nvSpPr>
        <p:spPr>
          <a:xfrm>
            <a:off x="548640" y="1371600"/>
            <a:ext cx="11094415" cy="822960"/>
          </a:xfrm>
          <a:prstGeom prst="roundRect">
            <a:avLst>
              <a:gd name="adj" fmla="val 8889"/>
            </a:avLst>
          </a:prstGeom>
          <a:solidFill>
            <a:srgbClr val="14304F"/>
          </a:solidFill>
          <a:ln w="12700">
            <a:solidFill>
              <a:srgbClr val="14304F"/>
            </a:solidFill>
            <a:prstDash val="solid"/>
          </a:ln>
        </p:spPr>
      </p:sp>
      <p:sp>
        <p:nvSpPr>
          <p:cNvPr id="6" name="Text 4"/>
          <p:cNvSpPr txBox="1"/>
          <p:nvPr/>
        </p:nvSpPr>
        <p:spPr>
          <a:xfrm>
            <a:off x="777240" y="1508760"/>
            <a:ext cx="10637215" cy="548640"/>
          </a:xfrm>
          <a:prstGeom prst="rect">
            <a:avLst/>
          </a:prstGeom>
          <a:noFill/>
          <a:ln/>
        </p:spPr>
        <p:txBody>
          <a:bodyPr wrap="square" lIns="0" tIns="0" rIns="0" bIns="0" rtlCol="0" anchor="ctr"/>
          <a:lstStyle/>
          <a:p>
            <a:pPr indent="0" marL="0">
              <a:buNone/>
            </a:pPr>
            <a:r>
              <a:rPr lang="en-US" sz="1450" b="1" dirty="0">
                <a:solidFill>
                  <a:srgbClr val="F5C969"/>
                </a:solidFill>
                <a:latin typeface="Calibri" pitchFamily="34" charset="0"/>
                <a:ea typeface="Calibri" pitchFamily="34" charset="-122"/>
                <a:cs typeface="Calibri" pitchFamily="34" charset="-120"/>
              </a:rPr>
              <a:t>La lecture macro ne choisit aucun poids.</a:t>
            </a:r>
            <a:pPr indent="0" marL="0">
              <a:buNone/>
            </a:pPr>
            <a:r>
              <a:rPr lang="en-US" sz="1450" dirty="0">
                <a:solidFill>
                  <a:srgbClr val="FFFFFF"/>
                </a:solidFill>
                <a:latin typeface="Calibri" pitchFamily="34" charset="0"/>
                <a:ea typeface="Calibri" pitchFamily="34" charset="-122"/>
                <a:cs typeface="Calibri" pitchFamily="34" charset="-120"/>
              </a:rPr>
              <a:t> Elle fixe les rendements espérés de chaque classe, et c'est le calcul de l'étape 4 qui les convertit en poids sous la limite de perte.</a:t>
            </a:r>
            <a:endParaRPr lang="en-US" sz="14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094415" cy="914400"/>
        </p:xfrm>
        <a:graphic>
          <a:graphicData uri="http://schemas.openxmlformats.org/drawingml/2006/table">
            <a:tbl>
              <a:tblPr/>
              <a:tblGrid>
                <a:gridCol w="2926080"/>
                <a:gridCol w="1737360"/>
                <a:gridCol w="6400800"/>
              </a:tblGrid>
              <a:tr h="47548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Décision</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La macro tranche ?</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Par quel canal</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Combien d'actions au total</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OUI</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Par les rendements espérés des quatre zones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Quelle zone d'actions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NON</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La clé 40 / 35 / 10 / 15 est fixée d'avance, pour que la vue de zone ne devienne pas un pari</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Quels secteurs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NON</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La note de l'étape 3 compare chaque société à son propre secteur : elle est aveugle aux secteurs par construction</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Combien d'indexées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OUI</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L'inflation de l'énoncé les porte à 5,43 %, le meilleur rendement obligataire : le calcul sature leur plafond de 15 %</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Combien de crédit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NON</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Zéro, mais par une mesure de MARCHÉ de l'étape 3 : 3,39 % défauts déduits, sous les 3,63 % des États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8" name="Shape 5"/>
          <p:cNvSpPr/>
          <p:nvPr/>
        </p:nvSpPr>
        <p:spPr>
          <a:xfrm>
            <a:off x="548640" y="5486400"/>
            <a:ext cx="11094415" cy="822960"/>
          </a:xfrm>
          <a:prstGeom prst="roundRect">
            <a:avLst>
              <a:gd name="adj" fmla="val 8889"/>
            </a:avLst>
          </a:prstGeom>
          <a:solidFill>
            <a:srgbClr val="F2F5F9"/>
          </a:solidFill>
          <a:ln w="12700">
            <a:solidFill>
              <a:srgbClr val="F2F5F9"/>
            </a:solidFill>
            <a:prstDash val="solid"/>
          </a:ln>
        </p:spPr>
      </p:sp>
      <p:sp>
        <p:nvSpPr>
          <p:cNvPr id="9" name="Text 6"/>
          <p:cNvSpPr txBox="1"/>
          <p:nvPr/>
        </p:nvSpPr>
        <p:spPr>
          <a:xfrm>
            <a:off x="777240" y="5623560"/>
            <a:ext cx="10637215" cy="54864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Et la contrainte qui commande n'est pas macro.</a:t>
            </a:r>
            <a:pPr indent="0" marL="0">
              <a:buNone/>
            </a:pPr>
            <a:r>
              <a:rPr lang="en-US" sz="1250" dirty="0">
                <a:solidFill>
                  <a:srgbClr val="1F2937"/>
                </a:solidFill>
                <a:latin typeface="Calibri" pitchFamily="34" charset="0"/>
                <a:ea typeface="Calibri" pitchFamily="34" charset="-122"/>
                <a:cs typeface="Calibri" pitchFamily="34" charset="-120"/>
              </a:rPr>
              <a:t> Sur dix bornes, deux mordent — le plancher de 10 % en AAA et le plafond de 15 % sur les indexées. Ce qui borne vraiment le portefeuille, c'est la </a:t>
            </a:r>
            <a:pPr indent="0" marL="0">
              <a:buNone/>
            </a:pPr>
            <a:r>
              <a:rPr lang="en-US" sz="1250" b="1" dirty="0">
                <a:solidFill>
                  <a:srgbClr val="1F2937"/>
                </a:solidFill>
                <a:latin typeface="Calibri" pitchFamily="34" charset="0"/>
                <a:ea typeface="Calibri" pitchFamily="34" charset="-122"/>
                <a:cs typeface="Calibri" pitchFamily="34" charset="-120"/>
              </a:rPr>
              <a:t>limite de perte</a:t>
            </a:r>
            <a:pPr indent="0" marL="0">
              <a:buNone/>
            </a:pPr>
            <a:r>
              <a:rPr lang="en-US" sz="1250" dirty="0">
                <a:solidFill>
                  <a:srgbClr val="1F2937"/>
                </a:solidFill>
                <a:latin typeface="Calibri" pitchFamily="34" charset="0"/>
                <a:ea typeface="Calibri" pitchFamily="34" charset="-122"/>
                <a:cs typeface="Calibri" pitchFamily="34" charset="-120"/>
              </a:rPr>
              <a:t>, atteinte à −14,00 %.</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J — Les 30 présélectionnés, un par un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premier étage : ce que les sociétés SONT · note = écart à la moyenne du secteur (+1 = nettement meilleure)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45</a:t>
            </a:r>
            <a:endParaRPr lang="en-US" sz="900" dirty="0"/>
          </a:p>
        </p:txBody>
      </p:sp>
      <p:sp>
        <p:nvSpPr>
          <p:cNvPr id="5" name="Text 3"/>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ASML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Technologie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K — Les supports bougent-ils ensemble ?</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corrélation des variations hebdomadaires : 100 = ils font la même chose, 0 = indépendants, négatif = l'un monte quand l'autre baisse</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46</a:t>
            </a:r>
            <a:endParaRPr lang="en-US" sz="900" dirty="0"/>
          </a:p>
        </p:txBody>
      </p:sp>
      <p:sp>
        <p:nvSpPr>
          <p:cNvPr id="5" name="Text 3"/>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octobre 2006 - septembre 2026 · crises : les quatre fenêtres datées · bitcoin écarté (cotations depuis 2014 seulement)</a:t>
            </a:r>
            <a:endParaRPr lang="en-US" sz="850" dirty="0"/>
          </a:p>
        </p:txBody>
      </p:sp>
      <p:sp>
        <p:nvSpPr>
          <p:cNvPr id="6" name="Text 4"/>
          <p:cNvSpPr txBox="1"/>
          <p:nvPr/>
        </p:nvSpPr>
        <p:spPr>
          <a:xfrm>
            <a:off x="548640"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Hors crise</a:t>
            </a:r>
            <a:pPr indent="0" marL="0">
              <a:buNone/>
            </a:pPr>
            <a:r>
              <a:rPr lang="en-US" sz="1100" dirty="0">
                <a:solidFill>
                  <a:srgbClr val="6B7280"/>
                </a:solidFill>
                <a:latin typeface="Calibri" pitchFamily="34" charset="0"/>
                <a:ea typeface="Calibri" pitchFamily="34" charset="-122"/>
                <a:cs typeface="Calibri" pitchFamily="34" charset="-120"/>
              </a:rPr>
              <a:t>   737 semaines</a:t>
            </a:r>
            <a:endParaRPr lang="en-US" sz="13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EBE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2D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C7C"/>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CB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B7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967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D2C4"/>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F7E5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CD2"/>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C2A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FD6"/>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F9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DE3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CAD8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4E8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245352" y="1389888"/>
            <a:ext cx="5394960" cy="274320"/>
          </a:xfrm>
          <a:prstGeom prst="rect">
            <a:avLst/>
          </a:prstGeom>
          <a:noFill/>
          <a:ln/>
        </p:spPr>
        <p:txBody>
          <a:bodyPr wrap="square" lIns="0" tIns="0" rIns="0" bIns="0" rtlCol="0" anchor="ctr"/>
          <a:lstStyle/>
          <a:p>
            <a:pPr indent="0" marL="0">
              <a:buNone/>
            </a:pPr>
            <a:r>
              <a:rPr lang="en-US" sz="1350" b="1" dirty="0">
                <a:solidFill>
                  <a:srgbClr val="14304F"/>
                </a:solidFill>
                <a:latin typeface="Calibri" pitchFamily="34" charset="0"/>
                <a:ea typeface="Calibri" pitchFamily="34" charset="-122"/>
                <a:cs typeface="Calibri" pitchFamily="34" charset="-120"/>
              </a:rPr>
              <a:t>En crise</a:t>
            </a:r>
            <a:pPr indent="0" marL="0">
              <a:buNone/>
            </a:pPr>
            <a:r>
              <a:rPr lang="en-US" sz="1100" dirty="0">
                <a:solidFill>
                  <a:srgbClr val="6B7280"/>
                </a:solidFill>
                <a:latin typeface="Calibri" pitchFamily="34" charset="0"/>
                <a:ea typeface="Calibri" pitchFamily="34" charset="-122"/>
                <a:cs typeface="Calibri" pitchFamily="34" charset="-120"/>
              </a:rPr>
              <a:t>   300 semaines</a:t>
            </a:r>
            <a:endParaRPr lang="en-US" sz="1350" dirty="0"/>
          </a:p>
        </p:txBody>
      </p:sp>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1691640"/>
          <a:ext cx="5394960" cy="914400"/>
        </p:xfrm>
        <a:graphic>
          <a:graphicData uri="http://schemas.openxmlformats.org/drawingml/2006/table">
            <a:tbl>
              <a:tblPr/>
              <a:tblGrid>
                <a:gridCol w="1554480"/>
                <a:gridCol w="548640"/>
                <a:gridCol w="548640"/>
                <a:gridCol w="548640"/>
                <a:gridCol w="548640"/>
                <a:gridCol w="548640"/>
                <a:gridCol w="548640"/>
                <a:gridCol w="548640"/>
              </a:tblGrid>
              <a:tr h="365760">
                <a:tc>
                  <a:txBody>
                    <a:bodyPr/>
                    <a:lstStyle/>
                    <a:p>
                      <a:pP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Act.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2-10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Créd.</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Idx.</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Mat.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Poche actions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Échelle AAA</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BED1E9"/>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États 2-10 ans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F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E794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Crédit court</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58</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906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45B"/>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Obligations indexées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7C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43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AA8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C6F3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62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8963"/>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Or</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6DF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D5C9"/>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0EAE5"/>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1D8"/>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r>
              <a:tr h="365760">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Matières premières</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59E"/>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1DCEA"/>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D8E1EB"/>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BECEC"/>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1E4DD"/>
                    </a:solidFill>
                  </a:tcPr>
                </a:tc>
                <a:tc>
                  <a:txBody>
                    <a:bodyPr/>
                    <a:lstStyle/>
                    <a:p>
                      <a:pPr algn="r" indent="0" marL="0">
                        <a:buNone/>
                      </a:pPr>
                      <a:r>
                        <a:rPr lang="en-US" sz="1050" dirty="0">
                          <a:solidFill>
                            <a:srgbClr val="1F2937"/>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3BCA6"/>
                    </a:solidFill>
                  </a:tcPr>
                </a:tc>
                <a:tc>
                  <a:txBody>
                    <a:bodyPr/>
                    <a:lstStyle/>
                    <a:p>
                      <a:pPr algn="r" indent="0" marL="0">
                        <a:buNone/>
                      </a:pPr>
                      <a:endParaRPr lang="en-US" sz="10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4864608"/>
            <a:ext cx="11094415" cy="1417320"/>
          </a:xfrm>
          <a:prstGeom prst="roundRect">
            <a:avLst>
              <a:gd name="adj" fmla="val 5161"/>
            </a:avLst>
          </a:prstGeom>
          <a:solidFill>
            <a:srgbClr val="F2F5F9"/>
          </a:solidFill>
          <a:ln w="12700">
            <a:solidFill>
              <a:srgbClr val="F2F5F9"/>
            </a:solidFill>
            <a:prstDash val="solid"/>
          </a:ln>
        </p:spPr>
      </p:sp>
      <p:sp>
        <p:nvSpPr>
          <p:cNvPr id="11" name="Text 7"/>
          <p:cNvSpPr txBox="1"/>
          <p:nvPr/>
        </p:nvSpPr>
        <p:spPr>
          <a:xfrm>
            <a:off x="777240" y="4983480"/>
            <a:ext cx="52578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L'échelle AAA</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passe de −3 à −21 face aux actions,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l'or</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de +12 à −11 : les deux amortisseurs se déclenchent au bon moment</a:t>
            </a:r>
            <a:endParaRPr lang="en-US" sz="1300" dirty="0"/>
          </a:p>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Les matières premières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restent à +36 : elles diversifient peu, d'où leur place réduite</a:t>
            </a:r>
            <a:endParaRPr lang="en-US" sz="1300" dirty="0"/>
          </a:p>
        </p:txBody>
      </p:sp>
      <p:sp>
        <p:nvSpPr>
          <p:cNvPr id="12" name="Text 8"/>
          <p:cNvSpPr txBox="1"/>
          <p:nvPr/>
        </p:nvSpPr>
        <p:spPr>
          <a:xfrm>
            <a:off x="6355080" y="4983480"/>
            <a:ext cx="5029200" cy="1234440"/>
          </a:xfrm>
          <a:prstGeom prst="rect">
            <a:avLst/>
          </a:prstGeom>
          <a:noFill/>
          <a:ln/>
        </p:spPr>
        <p:txBody>
          <a:bodyPr wrap="square" lIns="0" tIns="0" rIns="0" bIns="0" rtlCol="0" anchor="t"/>
          <a:lstStyle/>
          <a:p>
            <a:pPr marL="203200" indent="-203200">
              <a:spcAft>
                <a:spcPts val="700"/>
              </a:spcAft>
              <a:buSzPct val="100000"/>
              <a:buChar char="•"/>
            </a:pPr>
            <a:r>
              <a:rPr lang="en-US" sz="1300" b="1" dirty="0">
                <a:solidFill>
                  <a:srgbClr val="14304F"/>
                </a:solidFill>
                <a:latin typeface="Calibri" pitchFamily="34" charset="0"/>
                <a:ea typeface="Calibri" pitchFamily="34" charset="-122"/>
                <a:cs typeface="Calibri" pitchFamily="34" charset="-120"/>
              </a:rPr>
              <a:t>Le revers</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entre eux, crédit court et indexées passent de +36 à +62, États courts et longs de +51 à +71</a:t>
            </a:r>
            <a:endParaRPr lang="en-US" sz="1300" dirty="0"/>
          </a:p>
          <a:p>
            <a:pPr marL="203200" indent="-203200">
              <a:spcAft>
                <a:spcPts val="700"/>
              </a:spcAft>
              <a:buSzPct val="100000"/>
              <a:buChar char="•"/>
            </a:pPr>
            <a:r>
              <a:rPr lang="en-US" sz="1300" dirty="0">
                <a:solidFill>
                  <a:srgbClr val="1F2937"/>
                </a:solidFill>
                <a:latin typeface="Calibri" pitchFamily="34" charset="0"/>
                <a:ea typeface="Calibri" pitchFamily="34" charset="-122"/>
                <a:cs typeface="Calibri" pitchFamily="34" charset="-120"/>
              </a:rPr>
              <a:t>Le coussin </a:t>
            </a:r>
            <a:pPr indent="0" marL="0">
              <a:spcAft>
                <a:spcPts val="700"/>
              </a:spcAft>
              <a:buNone/>
            </a:pPr>
            <a:r>
              <a:rPr lang="en-US" sz="1300" b="1" dirty="0">
                <a:solidFill>
                  <a:srgbClr val="14304F"/>
                </a:solidFill>
                <a:latin typeface="Calibri" pitchFamily="34" charset="0"/>
                <a:ea typeface="Calibri" pitchFamily="34" charset="-122"/>
                <a:cs typeface="Calibri" pitchFamily="34" charset="-120"/>
              </a:rPr>
              <a:t>se resserre sur lui-même</a:t>
            </a:r>
            <a:pPr indent="0" marL="0">
              <a:spcAft>
                <a:spcPts val="700"/>
              </a:spcAft>
              <a:buNone/>
            </a:pPr>
            <a:r>
              <a:rPr lang="en-US" sz="1300" dirty="0">
                <a:solidFill>
                  <a:srgbClr val="1F2937"/>
                </a:solidFill>
                <a:latin typeface="Calibri" pitchFamily="34" charset="0"/>
                <a:ea typeface="Calibri" pitchFamily="34" charset="-122"/>
                <a:cs typeface="Calibri" pitchFamily="34" charset="-120"/>
              </a:rPr>
              <a:t> : d'où le refus de le concentrer sur une seule maturité</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L — Le crédit court, et pourquoi il finit à zéro</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 · fonds retenu : QDVL, obligations d'entreprises bien notées, durée 1,4 an</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47</a:t>
            </a:r>
            <a:endParaRPr lang="en-US" sz="900" dirty="0"/>
          </a:p>
        </p:txBody>
      </p:sp>
      <p:sp>
        <p:nvSpPr>
          <p:cNvPr id="5" name="Text 3"/>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6" name="Text 4"/>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7" name="Text 5"/>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8" name="Text 6"/>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9" name="Text 7"/>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10" name="Text 8"/>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11" name="Text 9"/>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12"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14" name="Text 11"/>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2026-09-25T15:48:10Z</dcterms:created>
  <dcterms:modified xsi:type="dcterms:W3CDTF">2026-09-25T15:48:10Z</dcterms:modified>
</cp:coreProperties>
</file>